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1A30"/>
                </a:solidFill>
                <a:latin typeface="Arial"/>
              </a:defRPr>
            </a:pPr>
            <a:r>
              <a:rPr sz="1200" b="0" i="0" u="none" strike="noStrike">
                <a:solidFill>
                  <a:srgbClr val="0A1A30"/>
                </a:solidFill>
                <a:latin typeface="Arial"/>
              </a:rPr>
              <a:t>Total sales by year (R millions)</a:t>
            </a:r>
          </a:p>
        </c:rich>
      </c:tx>
      <c:layout/>
      <c:overlay val="0"/>
    </c:title>
    <c:autoTitleDeleted val="0"/>
    <c:plotArea>
      <c:layout/>
      <c:barChart>
        <c:barDir val="col"/>
        <c:grouping val="clustered"/>
        <c:varyColors val="0"/>
        <c:ser>
          <c:idx val="0"/>
          <c:order val="0"/>
          <c:tx>
            <c:strRef>
              <c:f>Sheet1!$B$1</c:f>
              <c:strCache>
                <c:ptCount val="1"/>
                <c:pt idx="0">
                  <c:v>Total Sales (R m)</c:v>
                </c:pt>
              </c:strCache>
            </c:strRef>
          </c:tx>
          <c:spPr>
            <a:solidFill>
              <a:srgbClr val="0A1A30"/>
            </a:solidFill>
            <a:effectLst/>
          </c:spPr>
          <c:invertIfNegative val="0"/>
          <c:dLbls>
            <c:numFmt formatCode="&quot;R&quot;#,##0.0&quot;m&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2013 *</c:v>
                  </c:pt>
                  <c:pt idx="1">
                    <c:v>2014</c:v>
                  </c:pt>
                  <c:pt idx="2">
                    <c:v>2015</c:v>
                  </c:pt>
                  <c:pt idx="3">
                    <c:v>2016 *</c:v>
                  </c:pt>
                </c:lvl>
              </c:multiLvlStrCache>
            </c:multiLvlStrRef>
          </c:cat>
          <c:val>
            <c:numRef>
              <c:f>Sheet1!$B$2:$B$5</c:f>
              <c:numCache>
                <c:formatCode>General</c:formatCode>
                <c:ptCount val="4"/>
                <c:pt idx="0">
                  <c:v>0.5242834524337122</c:v>
                </c:pt>
                <c:pt idx="1">
                  <c:v>75.41497571170058</c:v>
                </c:pt>
                <c:pt idx="2">
                  <c:v>64.01759338722324</c:v>
                </c:pt>
                <c:pt idx="3">
                  <c:v>46.95297570512552</c:v>
                </c:pt>
              </c:numCache>
            </c:numRef>
          </c:val>
        </c:ser>
        <c:dLbls>
          <c:numFmt formatCode="&quot;R&quot;#,##0.0&quot;m&quot;"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(R m)</c:v>
                </c:pt>
              </c:strCache>
            </c:strRef>
          </c:tx>
          <c:spPr>
            <a:solidFill>
              <a:srgbClr val="1D3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4.008180488840236</c:v>
                </c:pt>
                <c:pt idx="1">
                  <c:v>5.780487175321026</c:v>
                </c:pt>
                <c:pt idx="2">
                  <c:v>8.279517176128456</c:v>
                </c:pt>
                <c:pt idx="3">
                  <c:v>6.435743273855592</c:v>
                </c:pt>
                <c:pt idx="4">
                  <c:v>7.694906153692677</c:v>
                </c:pt>
                <c:pt idx="5">
                  <c:v>6.456943646636305</c:v>
                </c:pt>
                <c:pt idx="6">
                  <c:v>4.933710800709218</c:v>
                </c:pt>
                <c:pt idx="7">
                  <c:v>10.010378287757813</c:v>
                </c:pt>
                <c:pt idx="8">
                  <c:v>7.643452685659893</c:v>
                </c:pt>
                <c:pt idx="9">
                  <c:v>5.9246833811629624</c:v>
                </c:pt>
                <c:pt idx="10">
                  <c:v>2.6313533431126546</c:v>
                </c:pt>
                <c:pt idx="11">
                  <c:v>5.615619298823732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a:lstStyle/>
          <a:p>
            <a:pPr>
              <a:defRPr sz="7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(R m)</c:v>
                </c:pt>
              </c:strCache>
            </c:strRef>
          </c:tx>
          <c:spPr>
            <a:solidFill>
              <a:srgbClr val="1D3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3.696191507908707</c:v>
                </c:pt>
                <c:pt idx="1">
                  <c:v>4.901504893129805</c:v>
                </c:pt>
                <c:pt idx="2">
                  <c:v>5.269353152692444</c:v>
                </c:pt>
                <c:pt idx="3">
                  <c:v>5.963993967762948</c:v>
                </c:pt>
                <c:pt idx="4">
                  <c:v>8.384367241152919</c:v>
                </c:pt>
                <c:pt idx="5">
                  <c:v>5.332108323363539</c:v>
                </c:pt>
                <c:pt idx="6">
                  <c:v>3.677692394056122</c:v>
                </c:pt>
                <c:pt idx="7">
                  <c:v>3.934668408063</c:v>
                </c:pt>
                <c:pt idx="8">
                  <c:v>4.6698998586166764</c:v>
                </c:pt>
                <c:pt idx="9">
                  <c:v>4.828975079501431</c:v>
                </c:pt>
                <c:pt idx="10">
                  <c:v>6.53814888332874</c:v>
                </c:pt>
                <c:pt idx="11">
                  <c:v>6.820689677646913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a:lstStyle/>
          <a:p>
            <a:pPr>
              <a:defRPr sz="7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(R m)</c:v>
                </c:pt>
              </c:strCache>
            </c:strRef>
          </c:tx>
          <c:spPr>
            <a:solidFill>
              <a:srgbClr val="1D9E7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Jan</c:v>
                  </c:pt>
                  <c:pt idx="1">
                    <c:v>Feb</c:v>
                  </c:pt>
                  <c:pt idx="2">
                    <c:v>Mar</c:v>
                  </c:pt>
                  <c:pt idx="3">
                    <c:v>Apr</c:v>
                  </c:pt>
                  <c:pt idx="4">
                    <c:v>May</c:v>
                  </c:pt>
                  <c:pt idx="5">
                    <c:v>Jun</c:v>
                  </c:pt>
                  <c:pt idx="6">
                    <c:v>Jul</c:v>
                  </c:pt>
                  <c:pt idx="7">
                    <c:v>Aug</c:v>
                  </c:pt>
                  <c:pt idx="8">
                    <c:v>Sep</c:v>
                  </c:pt>
                  <c:pt idx="9">
                    <c:v>Oct</c:v>
                  </c:pt>
                  <c:pt idx="10">
                    <c:v>Nov</c:v>
                  </c:pt>
                </c:lvl>
              </c:multiLvlStrCache>
            </c:multiLvlStrRef>
          </c:cat>
          <c:val>
            <c:numRef>
              <c:f>Sheet1!$B$2:$B$12</c:f>
              <c:numCache>
                <c:formatCode>General</c:formatCode>
                <c:ptCount val="11"/>
                <c:pt idx="0">
                  <c:v>5.403090509257577</c:v>
                </c:pt>
                <c:pt idx="1">
                  <c:v>4.891882308155997</c:v>
                </c:pt>
                <c:pt idx="2">
                  <c:v>2.9518560057578997</c:v>
                </c:pt>
                <c:pt idx="3">
                  <c:v>6.6568801761649485</c:v>
                </c:pt>
                <c:pt idx="4">
                  <c:v>5.170231854900407</c:v>
                </c:pt>
                <c:pt idx="5">
                  <c:v>6.771134938274202</c:v>
                </c:pt>
                <c:pt idx="6">
                  <c:v>3.3248254316159764</c:v>
                </c:pt>
                <c:pt idx="7">
                  <c:v>4.343329413820499</c:v>
                </c:pt>
                <c:pt idx="8">
                  <c:v>3.259542501741512</c:v>
                </c:pt>
                <c:pt idx="9">
                  <c:v>2.329172702770171</c:v>
                </c:pt>
                <c:pt idx="10">
                  <c:v>1.851029862666324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a:lstStyle/>
          <a:p>
            <a:pPr>
              <a:defRPr sz="7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A1A30"/>
                </a:solidFill>
                <a:latin typeface="Arial"/>
              </a:defRPr>
            </a:pPr>
            <a:r>
              <a:rPr sz="1100" b="0" i="0" u="none" strike="noStrike">
                <a:solidFill>
                  <a:srgbClr val="0A1A30"/>
                </a:solidFill>
                <a:latin typeface="Arial"/>
              </a:rPr>
              <a:t>Monthly sales (R millions)</a:t>
            </a:r>
          </a:p>
        </c:rich>
      </c:tx>
      <c:layout/>
      <c:overlay val="0"/>
    </c:title>
    <c:autoTitleDeleted val="0"/>
    <c:plotArea>
      <c:layout/>
      <c:lineChart>
        <c:varyColors val="0"/>
        <c:ser>
          <c:idx val="0"/>
          <c:order val="0"/>
          <c:tx>
            <c:strRef>
              <c:f>Sheet1!$B$1</c:f>
              <c:strCache>
                <c:ptCount val="1"/>
                <c:pt idx="0">
                  <c:v>Sales (R, monthly)</c:v>
                </c:pt>
              </c:strCache>
            </c:strRef>
          </c:tx>
          <c:spPr>
            <a:solidFill>
              <a:srgbClr val="0A1A30"/>
            </a:solidFill>
            <a:ln w="25400" cap="flat">
              <a:solidFill>
                <a:srgbClr val="0A1A3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1A30"/>
              </a:solidFill>
              <a:ln w="9525" cap="flat">
                <a:solidFill>
                  <a:srgbClr val="0A1A30"/>
                </a:solidFill>
                <a:prstDash val="solid"/>
                <a:round/>
              </a:ln>
              <a:effectLst/>
            </c:spPr>
          </c:marker>
          <c:cat>
            <c:multiLvlStrRef>
              <c:f>Sheet1!$A$2:$A$37</c:f>
              <c:multiLvlStrCache>
                <c:ptCount val="36"/>
                <c:lvl>
                  <c:pt idx="0">
                    <c:v>2013-12</c:v>
                  </c:pt>
                  <c:pt idx="1">
                    <c:v>2014-01</c:v>
                  </c:pt>
                  <c:pt idx="2">
                    <c:v>2014-02</c:v>
                  </c:pt>
                  <c:pt idx="3">
                    <c:v>2014-03</c:v>
                  </c:pt>
                  <c:pt idx="4">
                    <c:v>2014-04</c:v>
                  </c:pt>
                  <c:pt idx="5">
                    <c:v>2014-05</c:v>
                  </c:pt>
                  <c:pt idx="6">
                    <c:v>2014-06</c:v>
                  </c:pt>
                  <c:pt idx="7">
                    <c:v>2014-07</c:v>
                  </c:pt>
                  <c:pt idx="8">
                    <c:v>2014-08</c:v>
                  </c:pt>
                  <c:pt idx="9">
                    <c:v>2014-09</c:v>
                  </c:pt>
                  <c:pt idx="10">
                    <c:v>2014-10</c:v>
                  </c:pt>
                  <c:pt idx="11">
                    <c:v>2014-11</c:v>
                  </c:pt>
                  <c:pt idx="12">
                    <c:v>2014-12</c:v>
                  </c:pt>
                  <c:pt idx="13">
                    <c:v>2015-01</c:v>
                  </c:pt>
                  <c:pt idx="14">
                    <c:v>2015-02</c:v>
                  </c:pt>
                  <c:pt idx="15">
                    <c:v>2015-03</c:v>
                  </c:pt>
                  <c:pt idx="16">
                    <c:v>2015-04</c:v>
                  </c:pt>
                  <c:pt idx="17">
                    <c:v>2015-05</c:v>
                  </c:pt>
                  <c:pt idx="18">
                    <c:v>2015-06</c:v>
                  </c:pt>
                  <c:pt idx="19">
                    <c:v>2015-07</c:v>
                  </c:pt>
                  <c:pt idx="20">
                    <c:v>2015-08</c:v>
                  </c:pt>
                  <c:pt idx="21">
                    <c:v>2015-09</c:v>
                  </c:pt>
                  <c:pt idx="22">
                    <c:v>2015-10</c:v>
                  </c:pt>
                  <c:pt idx="23">
                    <c:v>2015-11</c:v>
                  </c:pt>
                  <c:pt idx="24">
                    <c:v>2015-12</c:v>
                  </c:pt>
                  <c:pt idx="25">
                    <c:v>2016-01</c:v>
                  </c:pt>
                  <c:pt idx="26">
                    <c:v>2016-02</c:v>
                  </c:pt>
                  <c:pt idx="27">
                    <c:v>2016-03</c:v>
                  </c:pt>
                  <c:pt idx="28">
                    <c:v>2016-04</c:v>
                  </c:pt>
                  <c:pt idx="29">
                    <c:v>2016-05</c:v>
                  </c:pt>
                  <c:pt idx="30">
                    <c:v>2016-06</c:v>
                  </c:pt>
                  <c:pt idx="31">
                    <c:v>2016-07</c:v>
                  </c:pt>
                  <c:pt idx="32">
                    <c:v>2016-08</c:v>
                  </c:pt>
                  <c:pt idx="33">
                    <c:v>2016-09</c:v>
                  </c:pt>
                  <c:pt idx="34">
                    <c:v>2016-10</c:v>
                  </c:pt>
                  <c:pt idx="35">
                    <c:v>2016-11</c:v>
                  </c:pt>
                </c:lvl>
              </c:multiLvlStrCache>
            </c:multiLvlStrRef>
          </c:cat>
          <c:val>
            <c:numRef>
              <c:f>Sheet1!$B$2:$B$37</c:f>
              <c:numCache>
                <c:formatCode>General</c:formatCode>
                <c:ptCount val="36"/>
                <c:pt idx="0">
                  <c:v>0.5242834524337122</c:v>
                </c:pt>
                <c:pt idx="1">
                  <c:v>4.008180488840236</c:v>
                </c:pt>
                <c:pt idx="2">
                  <c:v>5.780487175321026</c:v>
                </c:pt>
                <c:pt idx="3">
                  <c:v>8.279517176128456</c:v>
                </c:pt>
                <c:pt idx="4">
                  <c:v>6.435743273855592</c:v>
                </c:pt>
                <c:pt idx="5">
                  <c:v>7.694906153692677</c:v>
                </c:pt>
                <c:pt idx="6">
                  <c:v>6.456943646636305</c:v>
                </c:pt>
                <c:pt idx="7">
                  <c:v>4.933710800709218</c:v>
                </c:pt>
                <c:pt idx="8">
                  <c:v>10.010378287757813</c:v>
                </c:pt>
                <c:pt idx="9">
                  <c:v>7.643452685659893</c:v>
                </c:pt>
                <c:pt idx="10">
                  <c:v>5.9246833811629624</c:v>
                </c:pt>
                <c:pt idx="11">
                  <c:v>2.6313533431126546</c:v>
                </c:pt>
                <c:pt idx="12">
                  <c:v>5.615619298823732</c:v>
                </c:pt>
                <c:pt idx="13">
                  <c:v>3.696191507908707</c:v>
                </c:pt>
                <c:pt idx="14">
                  <c:v>4.901504893129805</c:v>
                </c:pt>
                <c:pt idx="15">
                  <c:v>5.269353152692444</c:v>
                </c:pt>
                <c:pt idx="16">
                  <c:v>5.963993967762948</c:v>
                </c:pt>
                <c:pt idx="17">
                  <c:v>8.384367241152919</c:v>
                </c:pt>
                <c:pt idx="18">
                  <c:v>5.332108323363539</c:v>
                </c:pt>
                <c:pt idx="19">
                  <c:v>3.677692394056122</c:v>
                </c:pt>
                <c:pt idx="20">
                  <c:v>3.934668408063</c:v>
                </c:pt>
                <c:pt idx="21">
                  <c:v>4.6698998586166764</c:v>
                </c:pt>
                <c:pt idx="22">
                  <c:v>4.828975079501431</c:v>
                </c:pt>
                <c:pt idx="23">
                  <c:v>6.53814888332874</c:v>
                </c:pt>
                <c:pt idx="24">
                  <c:v>6.820689677646913</c:v>
                </c:pt>
                <c:pt idx="25">
                  <c:v>5.403090509257577</c:v>
                </c:pt>
                <c:pt idx="26">
                  <c:v>4.891882308155997</c:v>
                </c:pt>
                <c:pt idx="27">
                  <c:v>2.9518560057578997</c:v>
                </c:pt>
                <c:pt idx="28">
                  <c:v>6.6568801761649485</c:v>
                </c:pt>
                <c:pt idx="29">
                  <c:v>5.170231854900407</c:v>
                </c:pt>
                <c:pt idx="30">
                  <c:v>6.771134938274202</c:v>
                </c:pt>
                <c:pt idx="31">
                  <c:v>3.3248254316159764</c:v>
                </c:pt>
                <c:pt idx="32">
                  <c:v>4.343329413820499</c:v>
                </c:pt>
                <c:pt idx="33">
                  <c:v>3.259542501741512</c:v>
                </c:pt>
                <c:pt idx="34">
                  <c:v>2.329172702770171</c:v>
                </c:pt>
                <c:pt idx="35">
                  <c:v>1.851029862666324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65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A1A30"/>
                </a:solidFill>
                <a:latin typeface="Arial"/>
              </a:defRPr>
            </a:pPr>
            <a:r>
              <a:rPr sz="1100" b="0" i="0" u="none" strike="noStrike">
                <a:solidFill>
                  <a:srgbClr val="0A1A30"/>
                </a:solidFill>
                <a:latin typeface="Arial"/>
              </a:rPr>
              <a:t>Monthly gross profit margin (%)</a:t>
            </a:r>
          </a:p>
        </c:rich>
      </c:tx>
      <c:layout/>
      <c:overlay val="0"/>
    </c:title>
    <c:autoTitleDeleted val="0"/>
    <c:plotArea>
      <c:layout/>
      <c:lineChart>
        <c:varyColors val="0"/>
        <c:ser>
          <c:idx val="0"/>
          <c:order val="0"/>
          <c:tx>
            <c:strRef>
              <c:f>Sheet1!$B$1</c:f>
              <c:strCache>
                <c:ptCount val="1"/>
                <c:pt idx="0">
                  <c:v>Gross profit margin (%)</c:v>
                </c:pt>
              </c:strCache>
            </c:strRef>
          </c:tx>
          <c:spPr>
            <a:solidFill>
              <a:srgbClr val="9C3B2E"/>
            </a:solidFill>
            <a:ln w="25400" cap="flat">
              <a:solidFill>
                <a:srgbClr val="9C3B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C3B2E"/>
              </a:solidFill>
              <a:ln w="9525" cap="flat">
                <a:solidFill>
                  <a:srgbClr val="9C3B2E"/>
                </a:solidFill>
                <a:prstDash val="solid"/>
                <a:round/>
              </a:ln>
              <a:effectLst/>
            </c:spPr>
          </c:marker>
          <c:cat>
            <c:multiLvlStrRef>
              <c:f>Sheet1!$A$2:$A$37</c:f>
              <c:multiLvlStrCache>
                <c:ptCount val="36"/>
                <c:lvl>
                  <c:pt idx="0">
                    <c:v>2013-12</c:v>
                  </c:pt>
                  <c:pt idx="1">
                    <c:v>2014-01</c:v>
                  </c:pt>
                  <c:pt idx="2">
                    <c:v>2014-02</c:v>
                  </c:pt>
                  <c:pt idx="3">
                    <c:v>2014-03</c:v>
                  </c:pt>
                  <c:pt idx="4">
                    <c:v>2014-04</c:v>
                  </c:pt>
                  <c:pt idx="5">
                    <c:v>2014-05</c:v>
                  </c:pt>
                  <c:pt idx="6">
                    <c:v>2014-06</c:v>
                  </c:pt>
                  <c:pt idx="7">
                    <c:v>2014-07</c:v>
                  </c:pt>
                  <c:pt idx="8">
                    <c:v>2014-08</c:v>
                  </c:pt>
                  <c:pt idx="9">
                    <c:v>2014-09</c:v>
                  </c:pt>
                  <c:pt idx="10">
                    <c:v>2014-10</c:v>
                  </c:pt>
                  <c:pt idx="11">
                    <c:v>2014-11</c:v>
                  </c:pt>
                  <c:pt idx="12">
                    <c:v>2014-12</c:v>
                  </c:pt>
                  <c:pt idx="13">
                    <c:v>2015-01</c:v>
                  </c:pt>
                  <c:pt idx="14">
                    <c:v>2015-02</c:v>
                  </c:pt>
                  <c:pt idx="15">
                    <c:v>2015-03</c:v>
                  </c:pt>
                  <c:pt idx="16">
                    <c:v>2015-04</c:v>
                  </c:pt>
                  <c:pt idx="17">
                    <c:v>2015-05</c:v>
                  </c:pt>
                  <c:pt idx="18">
                    <c:v>2015-06</c:v>
                  </c:pt>
                  <c:pt idx="19">
                    <c:v>2015-07</c:v>
                  </c:pt>
                  <c:pt idx="20">
                    <c:v>2015-08</c:v>
                  </c:pt>
                  <c:pt idx="21">
                    <c:v>2015-09</c:v>
                  </c:pt>
                  <c:pt idx="22">
                    <c:v>2015-10</c:v>
                  </c:pt>
                  <c:pt idx="23">
                    <c:v>2015-11</c:v>
                  </c:pt>
                  <c:pt idx="24">
                    <c:v>2015-12</c:v>
                  </c:pt>
                  <c:pt idx="25">
                    <c:v>2016-01</c:v>
                  </c:pt>
                  <c:pt idx="26">
                    <c:v>2016-02</c:v>
                  </c:pt>
                  <c:pt idx="27">
                    <c:v>2016-03</c:v>
                  </c:pt>
                  <c:pt idx="28">
                    <c:v>2016-04</c:v>
                  </c:pt>
                  <c:pt idx="29">
                    <c:v>2016-05</c:v>
                  </c:pt>
                  <c:pt idx="30">
                    <c:v>2016-06</c:v>
                  </c:pt>
                  <c:pt idx="31">
                    <c:v>2016-07</c:v>
                  </c:pt>
                  <c:pt idx="32">
                    <c:v>2016-08</c:v>
                  </c:pt>
                  <c:pt idx="33">
                    <c:v>2016-09</c:v>
                  </c:pt>
                  <c:pt idx="34">
                    <c:v>2016-10</c:v>
                  </c:pt>
                  <c:pt idx="35">
                    <c:v>2016-11</c:v>
                  </c:pt>
                </c:lvl>
              </c:multiLvlStrCache>
            </c:multiLvlStrRef>
          </c:cat>
          <c:val>
            <c:numRef>
              <c:f>Sheet1!$B$2:$B$37</c:f>
              <c:numCache>
                <c:formatCode>General</c:formatCode>
                <c:ptCount val="36"/>
                <c:pt idx="0">
                  <c:v>-2.476784011294323</c:v>
                </c:pt>
                <c:pt idx="1">
                  <c:v>1.0110119152097043</c:v>
                </c:pt>
                <c:pt idx="2">
                  <c:v>-1.5519653266133566</c:v>
                </c:pt>
                <c:pt idx="3">
                  <c:v>-0.3228562372311377</c:v>
                </c:pt>
                <c:pt idx="4">
                  <c:v>-0.0612837444428378</c:v>
                </c:pt>
                <c:pt idx="5">
                  <c:v>-3.295210047859816</c:v>
                </c:pt>
                <c:pt idx="6">
                  <c:v>-1.7892063811415242</c:v>
                </c:pt>
                <c:pt idx="7">
                  <c:v>0.4108219840500725</c:v>
                </c:pt>
                <c:pt idx="8">
                  <c:v>-4.311980687693633</c:v>
                </c:pt>
                <c:pt idx="9">
                  <c:v>-3.874999816258695</c:v>
                </c:pt>
                <c:pt idx="10">
                  <c:v>1.4312271314446023</c:v>
                </c:pt>
                <c:pt idx="11">
                  <c:v>5.9540100503364055</c:v>
                </c:pt>
                <c:pt idx="12">
                  <c:v>-4.354275584970718</c:v>
                </c:pt>
                <c:pt idx="13">
                  <c:v>-3.2799074447769665</c:v>
                </c:pt>
                <c:pt idx="14">
                  <c:v>-4.153070953894804</c:v>
                </c:pt>
                <c:pt idx="15">
                  <c:v>-3.840022706717213</c:v>
                </c:pt>
                <c:pt idx="16">
                  <c:v>-2.442422832198344</c:v>
                </c:pt>
                <c:pt idx="17">
                  <c:v>-6.678641141713291</c:v>
                </c:pt>
                <c:pt idx="18">
                  <c:v>-1.2062539324948085</c:v>
                </c:pt>
                <c:pt idx="19">
                  <c:v>-3.422862483373053</c:v>
                </c:pt>
                <c:pt idx="20">
                  <c:v>-5.000585101054979</c:v>
                </c:pt>
                <c:pt idx="21">
                  <c:v>-2.55091390473344</c:v>
                </c:pt>
                <c:pt idx="22">
                  <c:v>-2.6707501712065027</c:v>
                </c:pt>
                <c:pt idx="23">
                  <c:v>-8.115611136324574</c:v>
                </c:pt>
                <c:pt idx="24">
                  <c:v>-3.817429234740204</c:v>
                </c:pt>
                <c:pt idx="25">
                  <c:v>-1.345149299365837</c:v>
                </c:pt>
                <c:pt idx="26">
                  <c:v>3.510395798720447</c:v>
                </c:pt>
                <c:pt idx="27">
                  <c:v>2.184731364624265</c:v>
                </c:pt>
                <c:pt idx="28">
                  <c:v>-6.320095071246025</c:v>
                </c:pt>
                <c:pt idx="29">
                  <c:v>3.086333698029351</c:v>
                </c:pt>
                <c:pt idx="30">
                  <c:v>-4.558700102585708</c:v>
                </c:pt>
                <c:pt idx="31">
                  <c:v>9.992358065853406</c:v>
                </c:pt>
                <c:pt idx="32">
                  <c:v>0.8830539968316259</c:v>
                </c:pt>
                <c:pt idx="33">
                  <c:v>6.523433234191746</c:v>
                </c:pt>
                <c:pt idx="34">
                  <c:v>9.94410827537008</c:v>
                </c:pt>
                <c:pt idx="35">
                  <c:v>6.880045851895505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65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A1A30"/>
                </a:solidFill>
                <a:latin typeface="Arial"/>
              </a:defRPr>
            </a:pPr>
            <a:r>
              <a:rPr sz="1050" b="0" i="0" u="none" strike="noStrike">
                <a:solidFill>
                  <a:srgbClr val="0A1A30"/>
                </a:solidFill>
                <a:latin typeface="Arial"/>
              </a:rPr>
              <a:t>Sales by quarter, all years (R m)</a:t>
            </a:r>
          </a:p>
        </c:rich>
      </c:tx>
      <c:layout/>
      <c:overlay val="0"/>
    </c:title>
    <c:autoTitleDeleted val="0"/>
    <c:plotArea>
      <c:layout/>
      <c:barChart>
        <c:barDir val="col"/>
        <c:grouping val="clustered"/>
        <c:varyColors val="0"/>
        <c:ser>
          <c:idx val="0"/>
          <c:order val="0"/>
          <c:tx>
            <c:strRef>
              <c:f>Sheet1!$B$1</c:f>
              <c:strCache>
                <c:ptCount val="1"/>
                <c:pt idx="0">
                  <c:v>Sales (R m)</c:v>
                </c:pt>
              </c:strCache>
            </c:strRef>
          </c:tx>
          <c:spPr>
            <a:solidFill>
              <a:srgbClr val="1D3A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45.18206321719215</c:v>
                </c:pt>
                <c:pt idx="1">
                  <c:v>58.86630957580354</c:v>
                </c:pt>
                <c:pt idx="2">
                  <c:v>45.79749978204071</c:v>
                </c:pt>
                <c:pt idx="3">
                  <c:v>37.06395568144664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0A1A30"/>
                </a:solidFill>
                <a:latin typeface="Arial"/>
              </a:defRPr>
            </a:pPr>
            <a:r>
              <a:rPr sz="1050" b="0" i="0" u="none" strike="noStrike">
                <a:solidFill>
                  <a:srgbClr val="0A1A30"/>
                </a:solidFill>
                <a:latin typeface="Arial"/>
              </a:rPr>
              <a:t>GP margin by quarter, all years (%)</a:t>
            </a:r>
          </a:p>
        </c:rich>
      </c:tx>
      <c:layout/>
      <c:overlay val="0"/>
    </c:title>
    <c:autoTitleDeleted val="0"/>
    <c:plotArea>
      <c:layout/>
      <c:barChart>
        <c:barDir val="col"/>
        <c:grouping val="clustered"/>
        <c:varyColors val="0"/>
        <c:ser>
          <c:idx val="0"/>
          <c:order val="0"/>
          <c:tx>
            <c:strRef>
              <c:f>Sheet1!$B$1</c:f>
              <c:strCache>
                <c:ptCount val="1"/>
                <c:pt idx="0">
                  <c:v>GP margin (%)</c:v>
                </c:pt>
              </c:strCache>
            </c:strRef>
          </c:tx>
          <c:spPr>
            <a:solidFill>
              <a:srgbClr val="9C3B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-2.677798279070607</c:v>
                </c:pt>
                <c:pt idx="1">
                  <c:v>-4.573405813008299</c:v>
                </c:pt>
                <c:pt idx="2">
                  <c:v>-4.2543379072033085</c:v>
                </c:pt>
                <c:pt idx="3">
                  <c:v>-3.4152346603390416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1A30"/>
                </a:solidFill>
                <a:latin typeface="Arial"/>
              </a:defRPr>
            </a:pPr>
            <a:r>
              <a:rPr sz="1200" b="0" i="0" u="none" strike="noStrike">
                <a:solidFill>
                  <a:srgbClr val="0A1A30"/>
                </a:solidFill>
                <a:latin typeface="Arial"/>
              </a:rPr>
              <a:t>Monthly average selling price (R / unit)</a:t>
            </a:r>
          </a:p>
        </c:rich>
      </c:tx>
      <c:layout/>
      <c:overlay val="0"/>
    </c:title>
    <c:autoTitleDeleted val="0"/>
    <c:plotArea>
      <c:layout/>
      <c:lineChart>
        <c:varyColors val="0"/>
        <c:ser>
          <c:idx val="0"/>
          <c:order val="0"/>
          <c:tx>
            <c:strRef>
              <c:f>Sheet1!$B$1</c:f>
              <c:strCache>
                <c:ptCount val="1"/>
                <c:pt idx="0">
                  <c:v>Avg selling price (R)</c:v>
                </c:pt>
              </c:strCache>
            </c:strRef>
          </c:tx>
          <c:spPr>
            <a:solidFill>
              <a:srgbClr val="1D9E75"/>
            </a:solidFill>
            <a:ln w="28575" cap="flat">
              <a:solidFill>
                <a:srgbClr val="1D9E7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1D9E75"/>
              </a:solidFill>
              <a:ln w="9525" cap="flat">
                <a:solidFill>
                  <a:srgbClr val="1D9E75"/>
                </a:solidFill>
                <a:prstDash val="solid"/>
                <a:round/>
              </a:ln>
              <a:effectLst/>
            </c:spPr>
          </c:marker>
          <c:cat>
            <c:multiLvlStrRef>
              <c:f>Sheet1!$A$2:$A$37</c:f>
              <c:multiLvlStrCache>
                <c:ptCount val="36"/>
                <c:lvl>
                  <c:pt idx="0">
                    <c:v>2013-12</c:v>
                  </c:pt>
                  <c:pt idx="1">
                    <c:v>2014-01</c:v>
                  </c:pt>
                  <c:pt idx="2">
                    <c:v>2014-02</c:v>
                  </c:pt>
                  <c:pt idx="3">
                    <c:v>2014-03</c:v>
                  </c:pt>
                  <c:pt idx="4">
                    <c:v>2014-04</c:v>
                  </c:pt>
                  <c:pt idx="5">
                    <c:v>2014-05</c:v>
                  </c:pt>
                  <c:pt idx="6">
                    <c:v>2014-06</c:v>
                  </c:pt>
                  <c:pt idx="7">
                    <c:v>2014-07</c:v>
                  </c:pt>
                  <c:pt idx="8">
                    <c:v>2014-08</c:v>
                  </c:pt>
                  <c:pt idx="9">
                    <c:v>2014-09</c:v>
                  </c:pt>
                  <c:pt idx="10">
                    <c:v>2014-10</c:v>
                  </c:pt>
                  <c:pt idx="11">
                    <c:v>2014-11</c:v>
                  </c:pt>
                  <c:pt idx="12">
                    <c:v>2014-12</c:v>
                  </c:pt>
                  <c:pt idx="13">
                    <c:v>2015-01</c:v>
                  </c:pt>
                  <c:pt idx="14">
                    <c:v>2015-02</c:v>
                  </c:pt>
                  <c:pt idx="15">
                    <c:v>2015-03</c:v>
                  </c:pt>
                  <c:pt idx="16">
                    <c:v>2015-04</c:v>
                  </c:pt>
                  <c:pt idx="17">
                    <c:v>2015-05</c:v>
                  </c:pt>
                  <c:pt idx="18">
                    <c:v>2015-06</c:v>
                  </c:pt>
                  <c:pt idx="19">
                    <c:v>2015-07</c:v>
                  </c:pt>
                  <c:pt idx="20">
                    <c:v>2015-08</c:v>
                  </c:pt>
                  <c:pt idx="21">
                    <c:v>2015-09</c:v>
                  </c:pt>
                  <c:pt idx="22">
                    <c:v>2015-10</c:v>
                  </c:pt>
                  <c:pt idx="23">
                    <c:v>2015-11</c:v>
                  </c:pt>
                  <c:pt idx="24">
                    <c:v>2015-12</c:v>
                  </c:pt>
                  <c:pt idx="25">
                    <c:v>2016-01</c:v>
                  </c:pt>
                  <c:pt idx="26">
                    <c:v>2016-02</c:v>
                  </c:pt>
                  <c:pt idx="27">
                    <c:v>2016-03</c:v>
                  </c:pt>
                  <c:pt idx="28">
                    <c:v>2016-04</c:v>
                  </c:pt>
                  <c:pt idx="29">
                    <c:v>2016-05</c:v>
                  </c:pt>
                  <c:pt idx="30">
                    <c:v>2016-06</c:v>
                  </c:pt>
                  <c:pt idx="31">
                    <c:v>2016-07</c:v>
                  </c:pt>
                  <c:pt idx="32">
                    <c:v>2016-08</c:v>
                  </c:pt>
                  <c:pt idx="33">
                    <c:v>2016-09</c:v>
                  </c:pt>
                  <c:pt idx="34">
                    <c:v>2016-10</c:v>
                  </c:pt>
                  <c:pt idx="35">
                    <c:v>2016-11</c:v>
                  </c:pt>
                </c:lvl>
              </c:multiLvlStrCache>
            </c:multiLvlStrRef>
          </c:cat>
          <c:val>
            <c:numRef>
              <c:f>Sheet1!$B$2:$B$37</c:f>
              <c:numCache>
                <c:formatCode>General</c:formatCode>
                <c:ptCount val="36"/>
                <c:pt idx="0">
                  <c:v>32.604266000036375</c:v>
                </c:pt>
                <c:pt idx="1">
                  <c:v>33.739263852809124</c:v>
                </c:pt>
                <c:pt idx="2">
                  <c:v>32.76645218868212</c:v>
                </c:pt>
                <c:pt idx="3">
                  <c:v>33.2804783824384</c:v>
                </c:pt>
                <c:pt idx="4">
                  <c:v>34.06217825656665</c:v>
                </c:pt>
                <c:pt idx="5">
                  <c:v>33.11419167393773</c:v>
                </c:pt>
                <c:pt idx="6">
                  <c:v>32.94387888957688</c:v>
                </c:pt>
                <c:pt idx="7">
                  <c:v>34.20125448464426</c:v>
                </c:pt>
                <c:pt idx="8">
                  <c:v>32.49568110345931</c:v>
                </c:pt>
                <c:pt idx="9">
                  <c:v>33.28536160572276</c:v>
                </c:pt>
                <c:pt idx="10">
                  <c:v>35.905736155850995</c:v>
                </c:pt>
                <c:pt idx="11">
                  <c:v>39.25775540628736</c:v>
                </c:pt>
                <c:pt idx="12">
                  <c:v>39.69577106617232</c:v>
                </c:pt>
                <c:pt idx="13">
                  <c:v>40.67389891699871</c:v>
                </c:pt>
                <c:pt idx="14">
                  <c:v>38.9226372999452</c:v>
                </c:pt>
                <c:pt idx="15">
                  <c:v>39.51403876814737</c:v>
                </c:pt>
                <c:pt idx="16">
                  <c:v>39.97730399206304</c:v>
                </c:pt>
                <c:pt idx="17">
                  <c:v>38.12340953142525</c:v>
                </c:pt>
                <c:pt idx="18">
                  <c:v>40.03743419430695</c:v>
                </c:pt>
                <c:pt idx="19">
                  <c:v>38.73543745007596</c:v>
                </c:pt>
                <c:pt idx="20">
                  <c:v>37.57536080493748</c:v>
                </c:pt>
                <c:pt idx="21">
                  <c:v>36.45485316651661</c:v>
                </c:pt>
                <c:pt idx="22">
                  <c:v>37.39980644037392</c:v>
                </c:pt>
                <c:pt idx="23">
                  <c:v>35.609828655836154</c:v>
                </c:pt>
                <c:pt idx="24">
                  <c:v>36.923677254832256</c:v>
                </c:pt>
                <c:pt idx="25">
                  <c:v>37.60274005470525</c:v>
                </c:pt>
                <c:pt idx="26">
                  <c:v>38.49059010465596</c:v>
                </c:pt>
                <c:pt idx="27">
                  <c:v>40.34410003699941</c:v>
                </c:pt>
                <c:pt idx="28">
                  <c:v>35.56462125276878</c:v>
                </c:pt>
                <c:pt idx="29">
                  <c:v>38.03988233429387</c:v>
                </c:pt>
                <c:pt idx="30">
                  <c:v>34.82788470857735</c:v>
                </c:pt>
                <c:pt idx="31">
                  <c:v>40.384470302216606</c:v>
                </c:pt>
                <c:pt idx="32">
                  <c:v>36.878843964685</c:v>
                </c:pt>
                <c:pt idx="33">
                  <c:v>38.8925871692311</c:v>
                </c:pt>
                <c:pt idx="34">
                  <c:v>41.627310905502846</c:v>
                </c:pt>
                <c:pt idx="35">
                  <c:v>42.97849922918764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R / unit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A30"/>
                </a:solidFill>
                <a:latin typeface="Arial"/>
              </a:defRPr>
            </a:pPr>
            <a:r>
              <a:rPr sz="1150" b="0" i="0" u="none" strike="noStrike">
                <a:solidFill>
                  <a:srgbClr val="0A1A30"/>
                </a:solidFill>
                <a:latin typeface="Arial"/>
              </a:rPr>
              <a:t>Selling price: 7-day vs 30-day rolling average (R)</a:t>
            </a:r>
          </a:p>
        </c:rich>
      </c:tx>
      <c:layout/>
      <c:overlay val="0"/>
    </c:title>
    <c:autoTitleDeleted val="0"/>
    <c:plotArea>
      <c:layout/>
      <c:lineChart>
        <c:varyColors val="0"/>
        <c:ser>
          <c:idx val="0"/>
          <c:order val="0"/>
          <c:tx>
            <c:strRef>
              <c:f>Sheet1!$B$1</c:f>
              <c:strCache>
                <c:ptCount val="1"/>
                <c:pt idx="0">
                  <c:v>7-day avg selling price</c:v>
                </c:pt>
              </c:strCache>
            </c:strRef>
          </c:tx>
          <c:spPr>
            <a:solidFill>
              <a:srgbClr val="1D9E75"/>
            </a:solidFill>
            <a:ln w="19050" cap="flat">
              <a:solidFill>
                <a:srgbClr val="1D9E7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D9E75"/>
              </a:solidFill>
              <a:ln w="9525" cap="flat">
                <a:solidFill>
                  <a:srgbClr val="1D9E75"/>
                </a:solidFill>
                <a:prstDash val="solid"/>
                <a:round/>
              </a:ln>
              <a:effectLst/>
            </c:spPr>
          </c:marker>
          <c:cat>
            <c:multiLvlStrRef>
              <c:f>Sheet1!$A$2:$A$212</c:f>
              <c:multiLvlStrCache>
                <c:ptCount val="211"/>
                <c:lvl>
                  <c:pt idx="0">
                    <c:v>2013-12-30</c:v>
                  </c:pt>
                  <c:pt idx="1">
                    <c:v>2014-01-04</c:v>
                  </c:pt>
                  <c:pt idx="2">
                    <c:v>2014-01-09</c:v>
                  </c:pt>
                  <c:pt idx="3">
                    <c:v>2014-01-14</c:v>
                  </c:pt>
                  <c:pt idx="4">
                    <c:v>2014-01-19</c:v>
                  </c:pt>
                  <c:pt idx="5">
                    <c:v>2014-01-24</c:v>
                  </c:pt>
                  <c:pt idx="6">
                    <c:v>2014-01-29</c:v>
                  </c:pt>
                  <c:pt idx="7">
                    <c:v>2014-02-03</c:v>
                  </c:pt>
                  <c:pt idx="8">
                    <c:v>2014-02-08</c:v>
                  </c:pt>
                  <c:pt idx="9">
                    <c:v>2014-02-13</c:v>
                  </c:pt>
                  <c:pt idx="10">
                    <c:v>2014-02-18</c:v>
                  </c:pt>
                  <c:pt idx="11">
                    <c:v>2014-02-23</c:v>
                  </c:pt>
                  <c:pt idx="12">
                    <c:v>2014-02-28</c:v>
                  </c:pt>
                  <c:pt idx="13">
                    <c:v>2014-03-05</c:v>
                  </c:pt>
                  <c:pt idx="14">
                    <c:v>2014-03-10</c:v>
                  </c:pt>
                  <c:pt idx="15">
                    <c:v>2014-03-15</c:v>
                  </c:pt>
                  <c:pt idx="16">
                    <c:v>2014-03-20</c:v>
                  </c:pt>
                  <c:pt idx="17">
                    <c:v>2014-03-25</c:v>
                  </c:pt>
                  <c:pt idx="18">
                    <c:v>2014-03-30</c:v>
                  </c:pt>
                  <c:pt idx="19">
                    <c:v>2014-04-04</c:v>
                  </c:pt>
                  <c:pt idx="20">
                    <c:v>2014-04-09</c:v>
                  </c:pt>
                  <c:pt idx="21">
                    <c:v>2014-04-14</c:v>
                  </c:pt>
                  <c:pt idx="22">
                    <c:v>2014-04-19</c:v>
                  </c:pt>
                  <c:pt idx="23">
                    <c:v>2014-04-24</c:v>
                  </c:pt>
                  <c:pt idx="24">
                    <c:v>2014-04-29</c:v>
                  </c:pt>
                  <c:pt idx="25">
                    <c:v>2014-05-04</c:v>
                  </c:pt>
                  <c:pt idx="26">
                    <c:v>2014-05-09</c:v>
                  </c:pt>
                  <c:pt idx="27">
                    <c:v>2014-05-14</c:v>
                  </c:pt>
                  <c:pt idx="28">
                    <c:v>2014-05-19</c:v>
                  </c:pt>
                  <c:pt idx="29">
                    <c:v>2014-05-24</c:v>
                  </c:pt>
                  <c:pt idx="30">
                    <c:v>2014-05-29</c:v>
                  </c:pt>
                  <c:pt idx="31">
                    <c:v>2014-06-03</c:v>
                  </c:pt>
                  <c:pt idx="32">
                    <c:v>2014-06-08</c:v>
                  </c:pt>
                  <c:pt idx="33">
                    <c:v>2014-06-13</c:v>
                  </c:pt>
                  <c:pt idx="34">
                    <c:v>2014-06-18</c:v>
                  </c:pt>
                  <c:pt idx="35">
                    <c:v>2014-06-23</c:v>
                  </c:pt>
                  <c:pt idx="36">
                    <c:v>2014-06-28</c:v>
                  </c:pt>
                  <c:pt idx="37">
                    <c:v>2014-07-03</c:v>
                  </c:pt>
                  <c:pt idx="38">
                    <c:v>2014-07-08</c:v>
                  </c:pt>
                  <c:pt idx="39">
                    <c:v>2014-07-13</c:v>
                  </c:pt>
                  <c:pt idx="40">
                    <c:v>2014-07-18</c:v>
                  </c:pt>
                  <c:pt idx="41">
                    <c:v>2014-07-23</c:v>
                  </c:pt>
                  <c:pt idx="42">
                    <c:v>2014-07-28</c:v>
                  </c:pt>
                  <c:pt idx="43">
                    <c:v>2014-08-02</c:v>
                  </c:pt>
                  <c:pt idx="44">
                    <c:v>2014-08-07</c:v>
                  </c:pt>
                  <c:pt idx="45">
                    <c:v>2014-08-12</c:v>
                  </c:pt>
                  <c:pt idx="46">
                    <c:v>2014-08-17</c:v>
                  </c:pt>
                  <c:pt idx="47">
                    <c:v>2014-08-22</c:v>
                  </c:pt>
                  <c:pt idx="48">
                    <c:v>2014-08-27</c:v>
                  </c:pt>
                  <c:pt idx="49">
                    <c:v>2014-09-01</c:v>
                  </c:pt>
                  <c:pt idx="50">
                    <c:v>2014-09-06</c:v>
                  </c:pt>
                  <c:pt idx="51">
                    <c:v>2014-09-11</c:v>
                  </c:pt>
                  <c:pt idx="52">
                    <c:v>2014-09-16</c:v>
                  </c:pt>
                  <c:pt idx="53">
                    <c:v>2014-09-21</c:v>
                  </c:pt>
                  <c:pt idx="54">
                    <c:v>2014-09-26</c:v>
                  </c:pt>
                  <c:pt idx="55">
                    <c:v>2014-10-01</c:v>
                  </c:pt>
                  <c:pt idx="56">
                    <c:v>2014-10-06</c:v>
                  </c:pt>
                  <c:pt idx="57">
                    <c:v>2014-10-11</c:v>
                  </c:pt>
                  <c:pt idx="58">
                    <c:v>2014-10-16</c:v>
                  </c:pt>
                  <c:pt idx="59">
                    <c:v>2014-10-21</c:v>
                  </c:pt>
                  <c:pt idx="60">
                    <c:v>2014-10-26</c:v>
                  </c:pt>
                  <c:pt idx="61">
                    <c:v>2014-10-31</c:v>
                  </c:pt>
                  <c:pt idx="62">
                    <c:v>2014-11-05</c:v>
                  </c:pt>
                  <c:pt idx="63">
                    <c:v>2014-11-10</c:v>
                  </c:pt>
                  <c:pt idx="64">
                    <c:v>2014-11-15</c:v>
                  </c:pt>
                  <c:pt idx="65">
                    <c:v>2014-11-20</c:v>
                  </c:pt>
                  <c:pt idx="66">
                    <c:v>2014-11-25</c:v>
                  </c:pt>
                  <c:pt idx="67">
                    <c:v>2014-11-30</c:v>
                  </c:pt>
                  <c:pt idx="68">
                    <c:v>2014-12-05</c:v>
                  </c:pt>
                  <c:pt idx="69">
                    <c:v>2014-12-10</c:v>
                  </c:pt>
                  <c:pt idx="70">
                    <c:v>2014-12-15</c:v>
                  </c:pt>
                  <c:pt idx="71">
                    <c:v>2014-12-20</c:v>
                  </c:pt>
                  <c:pt idx="72">
                    <c:v>2014-12-25</c:v>
                  </c:pt>
                  <c:pt idx="73">
                    <c:v>2014-12-30</c:v>
                  </c:pt>
                  <c:pt idx="74">
                    <c:v>2015-01-04</c:v>
                  </c:pt>
                  <c:pt idx="75">
                    <c:v>2015-01-09</c:v>
                  </c:pt>
                  <c:pt idx="76">
                    <c:v>2015-01-14</c:v>
                  </c:pt>
                  <c:pt idx="77">
                    <c:v>2015-01-19</c:v>
                  </c:pt>
                  <c:pt idx="78">
                    <c:v>2015-01-24</c:v>
                  </c:pt>
                  <c:pt idx="79">
                    <c:v>2015-01-29</c:v>
                  </c:pt>
                  <c:pt idx="80">
                    <c:v>2015-02-03</c:v>
                  </c:pt>
                  <c:pt idx="81">
                    <c:v>2015-02-08</c:v>
                  </c:pt>
                  <c:pt idx="82">
                    <c:v>2015-02-13</c:v>
                  </c:pt>
                  <c:pt idx="83">
                    <c:v>2015-02-18</c:v>
                  </c:pt>
                  <c:pt idx="84">
                    <c:v>2015-02-23</c:v>
                  </c:pt>
                  <c:pt idx="85">
                    <c:v>2015-02-28</c:v>
                  </c:pt>
                  <c:pt idx="86">
                    <c:v>2015-03-05</c:v>
                  </c:pt>
                  <c:pt idx="87">
                    <c:v>2015-03-10</c:v>
                  </c:pt>
                  <c:pt idx="88">
                    <c:v>2015-03-15</c:v>
                  </c:pt>
                  <c:pt idx="89">
                    <c:v>2015-03-20</c:v>
                  </c:pt>
                  <c:pt idx="90">
                    <c:v>2015-03-25</c:v>
                  </c:pt>
                  <c:pt idx="91">
                    <c:v>2015-03-30</c:v>
                  </c:pt>
                  <c:pt idx="92">
                    <c:v>2015-04-04</c:v>
                  </c:pt>
                  <c:pt idx="93">
                    <c:v>2015-04-09</c:v>
                  </c:pt>
                  <c:pt idx="94">
                    <c:v>2015-04-14</c:v>
                  </c:pt>
                  <c:pt idx="95">
                    <c:v>2015-04-19</c:v>
                  </c:pt>
                  <c:pt idx="96">
                    <c:v>2015-04-24</c:v>
                  </c:pt>
                  <c:pt idx="97">
                    <c:v>2015-04-29</c:v>
                  </c:pt>
                  <c:pt idx="98">
                    <c:v>2015-05-04</c:v>
                  </c:pt>
                  <c:pt idx="99">
                    <c:v>2015-05-09</c:v>
                  </c:pt>
                  <c:pt idx="100">
                    <c:v>2015-05-14</c:v>
                  </c:pt>
                  <c:pt idx="101">
                    <c:v>2015-05-19</c:v>
                  </c:pt>
                  <c:pt idx="102">
                    <c:v>2015-05-24</c:v>
                  </c:pt>
                  <c:pt idx="103">
                    <c:v>2015-05-29</c:v>
                  </c:pt>
                  <c:pt idx="104">
                    <c:v>2015-06-03</c:v>
                  </c:pt>
                  <c:pt idx="105">
                    <c:v>2015-06-08</c:v>
                  </c:pt>
                  <c:pt idx="106">
                    <c:v>2015-06-13</c:v>
                  </c:pt>
                  <c:pt idx="107">
                    <c:v>2015-06-18</c:v>
                  </c:pt>
                  <c:pt idx="108">
                    <c:v>2015-06-23</c:v>
                  </c:pt>
                  <c:pt idx="109">
                    <c:v>2015-06-28</c:v>
                  </c:pt>
                  <c:pt idx="110">
                    <c:v>2015-07-03</c:v>
                  </c:pt>
                  <c:pt idx="111">
                    <c:v>2015-07-08</c:v>
                  </c:pt>
                  <c:pt idx="112">
                    <c:v>2015-07-13</c:v>
                  </c:pt>
                  <c:pt idx="113">
                    <c:v>2015-07-18</c:v>
                  </c:pt>
                  <c:pt idx="114">
                    <c:v>2015-07-23</c:v>
                  </c:pt>
                  <c:pt idx="115">
                    <c:v>2015-07-28</c:v>
                  </c:pt>
                  <c:pt idx="116">
                    <c:v>2015-08-02</c:v>
                  </c:pt>
                  <c:pt idx="117">
                    <c:v>2015-08-07</c:v>
                  </c:pt>
                  <c:pt idx="118">
                    <c:v>2015-08-12</c:v>
                  </c:pt>
                  <c:pt idx="119">
                    <c:v>2015-08-17</c:v>
                  </c:pt>
                  <c:pt idx="120">
                    <c:v>2015-08-22</c:v>
                  </c:pt>
                  <c:pt idx="121">
                    <c:v>2015-08-27</c:v>
                  </c:pt>
                  <c:pt idx="122">
                    <c:v>2015-09-01</c:v>
                  </c:pt>
                  <c:pt idx="123">
                    <c:v>2015-09-06</c:v>
                  </c:pt>
                  <c:pt idx="124">
                    <c:v>2015-09-11</c:v>
                  </c:pt>
                  <c:pt idx="125">
                    <c:v>2015-09-16</c:v>
                  </c:pt>
                  <c:pt idx="126">
                    <c:v>2015-09-21</c:v>
                  </c:pt>
                  <c:pt idx="127">
                    <c:v>2015-09-26</c:v>
                  </c:pt>
                  <c:pt idx="128">
                    <c:v>2015-10-01</c:v>
                  </c:pt>
                  <c:pt idx="129">
                    <c:v>2015-10-06</c:v>
                  </c:pt>
                  <c:pt idx="130">
                    <c:v>2015-10-11</c:v>
                  </c:pt>
                  <c:pt idx="131">
                    <c:v>2015-10-16</c:v>
                  </c:pt>
                  <c:pt idx="132">
                    <c:v>2015-10-21</c:v>
                  </c:pt>
                  <c:pt idx="133">
                    <c:v>2015-10-26</c:v>
                  </c:pt>
                  <c:pt idx="134">
                    <c:v>2015-10-31</c:v>
                  </c:pt>
                  <c:pt idx="135">
                    <c:v>2015-11-05</c:v>
                  </c:pt>
                  <c:pt idx="136">
                    <c:v>2015-11-10</c:v>
                  </c:pt>
                  <c:pt idx="137">
                    <c:v>2015-11-15</c:v>
                  </c:pt>
                  <c:pt idx="138">
                    <c:v>2015-11-20</c:v>
                  </c:pt>
                  <c:pt idx="139">
                    <c:v>2015-11-25</c:v>
                  </c:pt>
                  <c:pt idx="140">
                    <c:v>2015-11-30</c:v>
                  </c:pt>
                  <c:pt idx="141">
                    <c:v>2015-12-05</c:v>
                  </c:pt>
                  <c:pt idx="142">
                    <c:v>2015-12-10</c:v>
                  </c:pt>
                  <c:pt idx="143">
                    <c:v>2015-12-15</c:v>
                  </c:pt>
                  <c:pt idx="144">
                    <c:v>2015-12-20</c:v>
                  </c:pt>
                  <c:pt idx="145">
                    <c:v>2015-12-25</c:v>
                  </c:pt>
                  <c:pt idx="146">
                    <c:v>2015-12-30</c:v>
                  </c:pt>
                  <c:pt idx="147">
                    <c:v>2016-01-04</c:v>
                  </c:pt>
                  <c:pt idx="148">
                    <c:v>2016-01-09</c:v>
                  </c:pt>
                  <c:pt idx="149">
                    <c:v>2016-01-14</c:v>
                  </c:pt>
                  <c:pt idx="150">
                    <c:v>2016-01-19</c:v>
                  </c:pt>
                  <c:pt idx="151">
                    <c:v>2016-01-24</c:v>
                  </c:pt>
                  <c:pt idx="152">
                    <c:v>2016-01-29</c:v>
                  </c:pt>
                  <c:pt idx="153">
                    <c:v>2016-02-03</c:v>
                  </c:pt>
                  <c:pt idx="154">
                    <c:v>2016-02-08</c:v>
                  </c:pt>
                  <c:pt idx="155">
                    <c:v>2016-02-13</c:v>
                  </c:pt>
                  <c:pt idx="156">
                    <c:v>2016-02-18</c:v>
                  </c:pt>
                  <c:pt idx="157">
                    <c:v>2016-02-23</c:v>
                  </c:pt>
                  <c:pt idx="158">
                    <c:v>2016-02-28</c:v>
                  </c:pt>
                  <c:pt idx="159">
                    <c:v>2016-03-04</c:v>
                  </c:pt>
                  <c:pt idx="160">
                    <c:v>2016-03-09</c:v>
                  </c:pt>
                  <c:pt idx="161">
                    <c:v>2016-03-14</c:v>
                  </c:pt>
                  <c:pt idx="162">
                    <c:v>2016-03-19</c:v>
                  </c:pt>
                  <c:pt idx="163">
                    <c:v>2016-03-24</c:v>
                  </c:pt>
                  <c:pt idx="164">
                    <c:v>2016-03-29</c:v>
                  </c:pt>
                  <c:pt idx="165">
                    <c:v>2016-04-03</c:v>
                  </c:pt>
                  <c:pt idx="166">
                    <c:v>2016-04-08</c:v>
                  </c:pt>
                  <c:pt idx="167">
                    <c:v>2016-04-13</c:v>
                  </c:pt>
                  <c:pt idx="168">
                    <c:v>2016-04-18</c:v>
                  </c:pt>
                  <c:pt idx="169">
                    <c:v>2016-04-23</c:v>
                  </c:pt>
                  <c:pt idx="170">
                    <c:v>2016-04-28</c:v>
                  </c:pt>
                  <c:pt idx="171">
                    <c:v>2016-05-03</c:v>
                  </c:pt>
                  <c:pt idx="172">
                    <c:v>2016-05-08</c:v>
                  </c:pt>
                  <c:pt idx="173">
                    <c:v>2016-05-13</c:v>
                  </c:pt>
                  <c:pt idx="174">
                    <c:v>2016-05-18</c:v>
                  </c:pt>
                  <c:pt idx="175">
                    <c:v>2016-05-23</c:v>
                  </c:pt>
                  <c:pt idx="176">
                    <c:v>2016-05-28</c:v>
                  </c:pt>
                  <c:pt idx="177">
                    <c:v>2016-06-02</c:v>
                  </c:pt>
                  <c:pt idx="178">
                    <c:v>2016-06-07</c:v>
                  </c:pt>
                  <c:pt idx="179">
                    <c:v>2016-06-12</c:v>
                  </c:pt>
                  <c:pt idx="180">
                    <c:v>2016-06-17</c:v>
                  </c:pt>
                  <c:pt idx="181">
                    <c:v>2016-06-22</c:v>
                  </c:pt>
                  <c:pt idx="182">
                    <c:v>2016-06-27</c:v>
                  </c:pt>
                  <c:pt idx="183">
                    <c:v>2016-07-02</c:v>
                  </c:pt>
                  <c:pt idx="184">
                    <c:v>2016-07-07</c:v>
                  </c:pt>
                  <c:pt idx="185">
                    <c:v>2016-07-12</c:v>
                  </c:pt>
                  <c:pt idx="186">
                    <c:v>2016-07-17</c:v>
                  </c:pt>
                  <c:pt idx="187">
                    <c:v>2016-07-22</c:v>
                  </c:pt>
                  <c:pt idx="188">
                    <c:v>2016-07-27</c:v>
                  </c:pt>
                  <c:pt idx="189">
                    <c:v>2016-08-01</c:v>
                  </c:pt>
                  <c:pt idx="190">
                    <c:v>2016-08-06</c:v>
                  </c:pt>
                  <c:pt idx="191">
                    <c:v>2016-08-11</c:v>
                  </c:pt>
                  <c:pt idx="192">
                    <c:v>2016-08-16</c:v>
                  </c:pt>
                  <c:pt idx="193">
                    <c:v>2016-08-21</c:v>
                  </c:pt>
                  <c:pt idx="194">
                    <c:v>2016-08-26</c:v>
                  </c:pt>
                  <c:pt idx="195">
                    <c:v>2016-08-31</c:v>
                  </c:pt>
                  <c:pt idx="196">
                    <c:v>2016-09-05</c:v>
                  </c:pt>
                  <c:pt idx="197">
                    <c:v>2016-09-10</c:v>
                  </c:pt>
                  <c:pt idx="198">
                    <c:v>2016-09-15</c:v>
                  </c:pt>
                  <c:pt idx="199">
                    <c:v>2016-09-20</c:v>
                  </c:pt>
                  <c:pt idx="200">
                    <c:v>2016-09-25</c:v>
                  </c:pt>
                  <c:pt idx="201">
                    <c:v>2016-09-30</c:v>
                  </c:pt>
                  <c:pt idx="202">
                    <c:v>2016-10-05</c:v>
                  </c:pt>
                  <c:pt idx="203">
                    <c:v>2016-10-10</c:v>
                  </c:pt>
                  <c:pt idx="204">
                    <c:v>2016-10-15</c:v>
                  </c:pt>
                  <c:pt idx="205">
                    <c:v>2016-10-20</c:v>
                  </c:pt>
                  <c:pt idx="206">
                    <c:v>2016-10-25</c:v>
                  </c:pt>
                  <c:pt idx="207">
                    <c:v>2016-10-30</c:v>
                  </c:pt>
                  <c:pt idx="208">
                    <c:v>2016-11-04</c:v>
                  </c:pt>
                  <c:pt idx="209">
                    <c:v>2016-11-09</c:v>
                  </c:pt>
                  <c:pt idx="210">
                    <c:v>2016-11-14</c:v>
                  </c:pt>
                </c:lvl>
              </c:multiLvlStrCache>
            </c:multiLvlStrRef>
          </c:cat>
          <c:val>
            <c:numRef>
              <c:f>Sheet1!$B$2:$B$212</c:f>
              <c:numCache>
                <c:formatCode>General</c:formatCode>
                <c:ptCount val="211"/>
                <c:pt idx="0">
                  <c:v>32.801811611209395</c:v>
                </c:pt>
                <c:pt idx="1">
                  <c:v>32.47867133969955</c:v>
                </c:pt>
                <c:pt idx="2">
                  <c:v>32.90064795051611</c:v>
                </c:pt>
                <c:pt idx="3">
                  <c:v>34.10621265812995</c:v>
                </c:pt>
                <c:pt idx="4">
                  <c:v>34.112767970852495</c:v>
                </c:pt>
                <c:pt idx="5">
                  <c:v>34.10693784088363</c:v>
                </c:pt>
                <c:pt idx="6">
                  <c:v>34.169836263264166</c:v>
                </c:pt>
                <c:pt idx="7">
                  <c:v>34.16583839993591</c:v>
                </c:pt>
                <c:pt idx="8">
                  <c:v>33.385393118428375</c:v>
                </c:pt>
                <c:pt idx="9">
                  <c:v>32.465961980455475</c:v>
                </c:pt>
                <c:pt idx="10">
                  <c:v>32.69640502634967</c:v>
                </c:pt>
                <c:pt idx="11">
                  <c:v>32.81814884857603</c:v>
                </c:pt>
                <c:pt idx="12">
                  <c:v>32.0394368058538</c:v>
                </c:pt>
                <c:pt idx="13">
                  <c:v>31.74449863208587</c:v>
                </c:pt>
                <c:pt idx="14">
                  <c:v>32.08121257376041</c:v>
                </c:pt>
                <c:pt idx="15">
                  <c:v>32.39033070724132</c:v>
                </c:pt>
                <c:pt idx="16">
                  <c:v>33.59128322329955</c:v>
                </c:pt>
                <c:pt idx="17">
                  <c:v>34.899400858579384</c:v>
                </c:pt>
                <c:pt idx="18">
                  <c:v>34.164394007503894</c:v>
                </c:pt>
                <c:pt idx="19">
                  <c:v>34.12063134302955</c:v>
                </c:pt>
                <c:pt idx="20">
                  <c:v>34.50609659666065</c:v>
                </c:pt>
                <c:pt idx="21">
                  <c:v>33.81933692494693</c:v>
                </c:pt>
                <c:pt idx="22">
                  <c:v>33.33473739204892</c:v>
                </c:pt>
                <c:pt idx="23">
                  <c:v>33.822558342397706</c:v>
                </c:pt>
                <c:pt idx="24">
                  <c:v>34.799078016334406</c:v>
                </c:pt>
                <c:pt idx="25">
                  <c:v>35.18612334598754</c:v>
                </c:pt>
                <c:pt idx="26">
                  <c:v>34.93326010204474</c:v>
                </c:pt>
                <c:pt idx="27">
                  <c:v>32.91298290091982</c:v>
                </c:pt>
                <c:pt idx="28">
                  <c:v>32.25735349374184</c:v>
                </c:pt>
                <c:pt idx="29">
                  <c:v>32.44531940332156</c:v>
                </c:pt>
                <c:pt idx="30">
                  <c:v>32.2299807488248</c:v>
                </c:pt>
                <c:pt idx="31">
                  <c:v>32.147496636574026</c:v>
                </c:pt>
                <c:pt idx="32">
                  <c:v>32.07794446008024</c:v>
                </c:pt>
                <c:pt idx="33">
                  <c:v>32.159895853707965</c:v>
                </c:pt>
                <c:pt idx="34">
                  <c:v>32.08930762211617</c:v>
                </c:pt>
                <c:pt idx="35">
                  <c:v>32.738720880503806</c:v>
                </c:pt>
                <c:pt idx="36">
                  <c:v>34.60850981746537</c:v>
                </c:pt>
                <c:pt idx="37">
                  <c:v>35.036588046795295</c:v>
                </c:pt>
                <c:pt idx="38">
                  <c:v>35.04018486828984</c:v>
                </c:pt>
                <c:pt idx="39">
                  <c:v>35.03723067389668</c:v>
                </c:pt>
                <c:pt idx="40">
                  <c:v>34.66611391920962</c:v>
                </c:pt>
                <c:pt idx="41">
                  <c:v>34.296267119830304</c:v>
                </c:pt>
                <c:pt idx="42">
                  <c:v>33.18611765312245</c:v>
                </c:pt>
                <c:pt idx="43">
                  <c:v>32.44168687313497</c:v>
                </c:pt>
                <c:pt idx="44">
                  <c:v>33.17545398421491</c:v>
                </c:pt>
                <c:pt idx="45">
                  <c:v>33.19805588437805</c:v>
                </c:pt>
                <c:pt idx="46">
                  <c:v>32.452939242041275</c:v>
                </c:pt>
                <c:pt idx="47">
                  <c:v>32.824951443155456</c:v>
                </c:pt>
                <c:pt idx="48">
                  <c:v>32.76741487337618</c:v>
                </c:pt>
                <c:pt idx="49">
                  <c:v>30.91697390160981</c:v>
                </c:pt>
                <c:pt idx="50">
                  <c:v>30.729264377041392</c:v>
                </c:pt>
                <c:pt idx="51">
                  <c:v>32.5761111362113</c:v>
                </c:pt>
                <c:pt idx="52">
                  <c:v>35.03668343134826</c:v>
                </c:pt>
                <c:pt idx="53">
                  <c:v>35.034519993284434</c:v>
                </c:pt>
                <c:pt idx="54">
                  <c:v>33.939314189411995</c:v>
                </c:pt>
                <c:pt idx="55">
                  <c:v>32.44802208426596</c:v>
                </c:pt>
                <c:pt idx="56">
                  <c:v>32.4429172504706</c:v>
                </c:pt>
                <c:pt idx="57">
                  <c:v>35.50708281305039</c:v>
                </c:pt>
                <c:pt idx="58">
                  <c:v>36.75563932799032</c:v>
                </c:pt>
                <c:pt idx="59">
                  <c:v>36.7445478502353</c:v>
                </c:pt>
                <c:pt idx="60">
                  <c:v>36.71119390171025</c:v>
                </c:pt>
                <c:pt idx="61">
                  <c:v>36.73157900877237</c:v>
                </c:pt>
                <c:pt idx="62">
                  <c:v>37.51195794899871</c:v>
                </c:pt>
                <c:pt idx="63">
                  <c:v>38.16279949270457</c:v>
                </c:pt>
                <c:pt idx="64">
                  <c:v>37.63045869778317</c:v>
                </c:pt>
                <c:pt idx="65">
                  <c:v>37.59023151989481</c:v>
                </c:pt>
                <c:pt idx="66">
                  <c:v>40.815866995654105</c:v>
                </c:pt>
                <c:pt idx="67">
                  <c:v>42.50331422399485</c:v>
                </c:pt>
                <c:pt idx="68">
                  <c:v>41.30050374879819</c:v>
                </c:pt>
                <c:pt idx="69">
                  <c:v>40.00584517107995</c:v>
                </c:pt>
                <c:pt idx="70">
                  <c:v>38.8114799988094</c:v>
                </c:pt>
                <c:pt idx="71">
                  <c:v>38.39482649421766</c:v>
                </c:pt>
                <c:pt idx="72">
                  <c:v>39.8235014651681</c:v>
                </c:pt>
                <c:pt idx="73">
                  <c:v>40.80213196556185</c:v>
                </c:pt>
                <c:pt idx="74">
                  <c:v>38.960463913320936</c:v>
                </c:pt>
                <c:pt idx="75">
                  <c:v>39.68904019393207</c:v>
                </c:pt>
                <c:pt idx="76">
                  <c:v>41.17695170052124</c:v>
                </c:pt>
                <c:pt idx="77">
                  <c:v>41.17835098316682</c:v>
                </c:pt>
                <c:pt idx="78">
                  <c:v>41.17669292129288</c:v>
                </c:pt>
                <c:pt idx="79">
                  <c:v>41.171163781700685</c:v>
                </c:pt>
                <c:pt idx="80">
                  <c:v>41.17187920618297</c:v>
                </c:pt>
                <c:pt idx="81">
                  <c:v>41.17260684075877</c:v>
                </c:pt>
                <c:pt idx="82">
                  <c:v>39.19634435902309</c:v>
                </c:pt>
                <c:pt idx="83">
                  <c:v>37.714427861438274</c:v>
                </c:pt>
                <c:pt idx="84">
                  <c:v>38.08295852127952</c:v>
                </c:pt>
                <c:pt idx="85">
                  <c:v>38.101846954097645</c:v>
                </c:pt>
                <c:pt idx="86">
                  <c:v>37.7441447613688</c:v>
                </c:pt>
                <c:pt idx="87">
                  <c:v>39.23127005741491</c:v>
                </c:pt>
                <c:pt idx="88">
                  <c:v>41.17208143302461</c:v>
                </c:pt>
                <c:pt idx="89">
                  <c:v>41.17069360877408</c:v>
                </c:pt>
                <c:pt idx="90">
                  <c:v>40.19765099386468</c:v>
                </c:pt>
                <c:pt idx="91">
                  <c:v>37.73775640318457</c:v>
                </c:pt>
                <c:pt idx="92">
                  <c:v>37.75589902849695</c:v>
                </c:pt>
                <c:pt idx="93">
                  <c:v>39.15075145792253</c:v>
                </c:pt>
                <c:pt idx="94">
                  <c:v>41.24580202269016</c:v>
                </c:pt>
                <c:pt idx="95">
                  <c:v>41.6983997452758</c:v>
                </c:pt>
                <c:pt idx="96">
                  <c:v>41.01167910395879</c:v>
                </c:pt>
                <c:pt idx="97">
                  <c:v>39.01868436031585</c:v>
                </c:pt>
                <c:pt idx="98">
                  <c:v>38.50693731632666</c:v>
                </c:pt>
                <c:pt idx="99">
                  <c:v>38.642008051768336</c:v>
                </c:pt>
                <c:pt idx="100">
                  <c:v>37.754757921883865</c:v>
                </c:pt>
                <c:pt idx="101">
                  <c:v>37.76326874630001</c:v>
                </c:pt>
                <c:pt idx="102">
                  <c:v>38.39601695822096</c:v>
                </c:pt>
                <c:pt idx="103">
                  <c:v>37.745104633267886</c:v>
                </c:pt>
                <c:pt idx="104">
                  <c:v>37.73846089001775</c:v>
                </c:pt>
                <c:pt idx="105">
                  <c:v>38.35827138420284</c:v>
                </c:pt>
                <c:pt idx="106">
                  <c:v>41.42151140272393</c:v>
                </c:pt>
                <c:pt idx="107">
                  <c:v>42.01926725156925</c:v>
                </c:pt>
                <c:pt idx="108">
                  <c:v>42.02816416369989</c:v>
                </c:pt>
                <c:pt idx="109">
                  <c:v>39.00045215711737</c:v>
                </c:pt>
                <c:pt idx="110">
                  <c:v>37.7638543425851</c:v>
                </c:pt>
                <c:pt idx="111">
                  <c:v>38.10122798016</c:v>
                </c:pt>
                <c:pt idx="112">
                  <c:v>39.235081457450086</c:v>
                </c:pt>
                <c:pt idx="113">
                  <c:v>39.07965447209328</c:v>
                </c:pt>
                <c:pt idx="114">
                  <c:v>38.91540714700709</c:v>
                </c:pt>
                <c:pt idx="115">
                  <c:v>38.69000313854344</c:v>
                </c:pt>
                <c:pt idx="116">
                  <c:v>38.7950183986226</c:v>
                </c:pt>
                <c:pt idx="117">
                  <c:v>38.88366445688797</c:v>
                </c:pt>
                <c:pt idx="118">
                  <c:v>38.672308086679486</c:v>
                </c:pt>
                <c:pt idx="119">
                  <c:v>38.20016855942482</c:v>
                </c:pt>
                <c:pt idx="120">
                  <c:v>38.24419074751197</c:v>
                </c:pt>
                <c:pt idx="121">
                  <c:v>36.705130330823984</c:v>
                </c:pt>
                <c:pt idx="122">
                  <c:v>34.22341465071598</c:v>
                </c:pt>
                <c:pt idx="123">
                  <c:v>34.23595059609749</c:v>
                </c:pt>
                <c:pt idx="124">
                  <c:v>36.97675049150904</c:v>
                </c:pt>
                <c:pt idx="125">
                  <c:v>39.177905997632536</c:v>
                </c:pt>
                <c:pt idx="126">
                  <c:v>39.11252832820473</c:v>
                </c:pt>
                <c:pt idx="127">
                  <c:v>35.91591374160897</c:v>
                </c:pt>
                <c:pt idx="128">
                  <c:v>33.36591373730708</c:v>
                </c:pt>
                <c:pt idx="129">
                  <c:v>33.386504222665984</c:v>
                </c:pt>
                <c:pt idx="130">
                  <c:v>37.70179198087643</c:v>
                </c:pt>
                <c:pt idx="131">
                  <c:v>39.42889260202107</c:v>
                </c:pt>
                <c:pt idx="132">
                  <c:v>39.4267416745141</c:v>
                </c:pt>
                <c:pt idx="133">
                  <c:v>37.95046745425634</c:v>
                </c:pt>
                <c:pt idx="134">
                  <c:v>36.3646344942032</c:v>
                </c:pt>
                <c:pt idx="135">
                  <c:v>36.36097357873657</c:v>
                </c:pt>
                <c:pt idx="136">
                  <c:v>36.59884489974549</c:v>
                </c:pt>
                <c:pt idx="137">
                  <c:v>35.840198624596134</c:v>
                </c:pt>
                <c:pt idx="138">
                  <c:v>35.113411215214555</c:v>
                </c:pt>
                <c:pt idx="139">
                  <c:v>35.98137060807932</c:v>
                </c:pt>
                <c:pt idx="140">
                  <c:v>34.16501514863077</c:v>
                </c:pt>
                <c:pt idx="141">
                  <c:v>34.90552568614008</c:v>
                </c:pt>
                <c:pt idx="142">
                  <c:v>36.83848225725176</c:v>
                </c:pt>
                <c:pt idx="143">
                  <c:v>36.503295696038045</c:v>
                </c:pt>
                <c:pt idx="144">
                  <c:v>35.652747123628096</c:v>
                </c:pt>
                <c:pt idx="145">
                  <c:v>37.84007447377149</c:v>
                </c:pt>
                <c:pt idx="146">
                  <c:v>39.390504514380886</c:v>
                </c:pt>
                <c:pt idx="147">
                  <c:v>35.09285106336653</c:v>
                </c:pt>
                <c:pt idx="148">
                  <c:v>38.52020315770009</c:v>
                </c:pt>
                <c:pt idx="149">
                  <c:v>41.12960392002776</c:v>
                </c:pt>
                <c:pt idx="150">
                  <c:v>41.12380915205536</c:v>
                </c:pt>
                <c:pt idx="151">
                  <c:v>37.07880605327726</c:v>
                </c:pt>
                <c:pt idx="152">
                  <c:v>34.12986701877988</c:v>
                </c:pt>
                <c:pt idx="153">
                  <c:v>33.770383003491695</c:v>
                </c:pt>
                <c:pt idx="154">
                  <c:v>34.28329998709844</c:v>
                </c:pt>
                <c:pt idx="155">
                  <c:v>39.68056774288953</c:v>
                </c:pt>
                <c:pt idx="156">
                  <c:v>41.02156219963797</c:v>
                </c:pt>
                <c:pt idx="157">
                  <c:v>40.027876220692754</c:v>
                </c:pt>
                <c:pt idx="158">
                  <c:v>39.03440465203614</c:v>
                </c:pt>
                <c:pt idx="159">
                  <c:v>38.56024267238309</c:v>
                </c:pt>
                <c:pt idx="160">
                  <c:v>39.16012466893369</c:v>
                </c:pt>
                <c:pt idx="161">
                  <c:v>41.51297049450172</c:v>
                </c:pt>
                <c:pt idx="162">
                  <c:v>42.02603120259216</c:v>
                </c:pt>
                <c:pt idx="163">
                  <c:v>41.55258767519631</c:v>
                </c:pt>
                <c:pt idx="164">
                  <c:v>39.96877894275242</c:v>
                </c:pt>
                <c:pt idx="165">
                  <c:v>37.71762205357588</c:v>
                </c:pt>
                <c:pt idx="166">
                  <c:v>38.03579849218384</c:v>
                </c:pt>
                <c:pt idx="167">
                  <c:v>35.26218940978929</c:v>
                </c:pt>
                <c:pt idx="168">
                  <c:v>35.21192090632499</c:v>
                </c:pt>
                <c:pt idx="169">
                  <c:v>34.64528888941784</c:v>
                </c:pt>
                <c:pt idx="170">
                  <c:v>34.15672967649891</c:v>
                </c:pt>
                <c:pt idx="171">
                  <c:v>34.170638932618424</c:v>
                </c:pt>
                <c:pt idx="172">
                  <c:v>34.15845120018894</c:v>
                </c:pt>
                <c:pt idx="173">
                  <c:v>39.80489387135701</c:v>
                </c:pt>
                <c:pt idx="174">
                  <c:v>42.06278474554631</c:v>
                </c:pt>
                <c:pt idx="175">
                  <c:v>42.05877721847304</c:v>
                </c:pt>
                <c:pt idx="176">
                  <c:v>36.62280150529159</c:v>
                </c:pt>
                <c:pt idx="177">
                  <c:v>34.26976244002122</c:v>
                </c:pt>
                <c:pt idx="178">
                  <c:v>35.38342719751449</c:v>
                </c:pt>
                <c:pt idx="179">
                  <c:v>35.724735899410454</c:v>
                </c:pt>
                <c:pt idx="180">
                  <c:v>34.85699922190143</c:v>
                </c:pt>
                <c:pt idx="181">
                  <c:v>35.97615061346857</c:v>
                </c:pt>
                <c:pt idx="182">
                  <c:v>34.88574361056508</c:v>
                </c:pt>
                <c:pt idx="183">
                  <c:v>33.3815436034662</c:v>
                </c:pt>
                <c:pt idx="184">
                  <c:v>34.632182535055634</c:v>
                </c:pt>
                <c:pt idx="185">
                  <c:v>40.835256534903685</c:v>
                </c:pt>
                <c:pt idx="186">
                  <c:v>42.06077576677994</c:v>
                </c:pt>
                <c:pt idx="187">
                  <c:v>42.05858548900986</c:v>
                </c:pt>
                <c:pt idx="188">
                  <c:v>42.06190820997483</c:v>
                </c:pt>
                <c:pt idx="189">
                  <c:v>42.063013596036</c:v>
                </c:pt>
                <c:pt idx="190">
                  <c:v>42.062637090107664</c:v>
                </c:pt>
                <c:pt idx="191">
                  <c:v>39.91772493784829</c:v>
                </c:pt>
                <c:pt idx="192">
                  <c:v>34.59752152586584</c:v>
                </c:pt>
                <c:pt idx="193">
                  <c:v>34.66288712248719</c:v>
                </c:pt>
                <c:pt idx="194">
                  <c:v>35.42078276080651</c:v>
                </c:pt>
                <c:pt idx="195">
                  <c:v>34.13342432806488</c:v>
                </c:pt>
                <c:pt idx="196">
                  <c:v>34.15722140233476</c:v>
                </c:pt>
                <c:pt idx="197">
                  <c:v>38.18869714655268</c:v>
                </c:pt>
                <c:pt idx="198">
                  <c:v>40.33424236341708</c:v>
                </c:pt>
                <c:pt idx="199">
                  <c:v>40.3346471845686</c:v>
                </c:pt>
                <c:pt idx="200">
                  <c:v>40.334373913769305</c:v>
                </c:pt>
                <c:pt idx="201">
                  <c:v>38.94842031548956</c:v>
                </c:pt>
                <c:pt idx="202">
                  <c:v>38.502603905905936</c:v>
                </c:pt>
                <c:pt idx="203">
                  <c:v>40.3312008474045</c:v>
                </c:pt>
                <c:pt idx="204">
                  <c:v>41.43491449025949</c:v>
                </c:pt>
                <c:pt idx="205">
                  <c:v>42.8903193242886</c:v>
                </c:pt>
                <c:pt idx="206">
                  <c:v>42.73980763594688</c:v>
                </c:pt>
                <c:pt idx="207">
                  <c:v>42.66929010716784</c:v>
                </c:pt>
                <c:pt idx="208">
                  <c:v>42.7276766309295</c:v>
                </c:pt>
                <c:pt idx="209">
                  <c:v>42.84774177530333</c:v>
                </c:pt>
                <c:pt idx="210">
                  <c:v>42.93602528999927</c:v>
                </c:pt>
              </c:numCache>
            </c:numRef>
          </c:val>
          <c:smooth val="0"/>
        </c:ser>
        <c:ser>
          <c:idx val="1"/>
          <c:order val="1"/>
          <c:tx>
            <c:strRef>
              <c:f>Sheet1!$C$1</c:f>
              <c:strCache>
                <c:ptCount val="1"/>
                <c:pt idx="0">
                  <c:v>30-day avg selling price</c:v>
                </c:pt>
              </c:strCache>
            </c:strRef>
          </c:tx>
          <c:spPr>
            <a:solidFill>
              <a:srgbClr val="0A1A30"/>
            </a:solidFill>
            <a:ln w="19050" cap="flat">
              <a:solidFill>
                <a:srgbClr val="0A1A3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1A30"/>
              </a:solidFill>
              <a:ln w="9525" cap="flat">
                <a:solidFill>
                  <a:srgbClr val="0A1A30"/>
                </a:solidFill>
                <a:prstDash val="solid"/>
                <a:round/>
              </a:ln>
              <a:effectLst/>
            </c:spPr>
          </c:marker>
          <c:cat>
            <c:multiLvlStrRef>
              <c:f>Sheet1!$A$2:$A$212</c:f>
              <c:multiLvlStrCache>
                <c:ptCount val="211"/>
                <c:lvl>
                  <c:pt idx="0">
                    <c:v>2013-12-30</c:v>
                  </c:pt>
                  <c:pt idx="1">
                    <c:v>2014-01-04</c:v>
                  </c:pt>
                  <c:pt idx="2">
                    <c:v>2014-01-09</c:v>
                  </c:pt>
                  <c:pt idx="3">
                    <c:v>2014-01-14</c:v>
                  </c:pt>
                  <c:pt idx="4">
                    <c:v>2014-01-19</c:v>
                  </c:pt>
                  <c:pt idx="5">
                    <c:v>2014-01-24</c:v>
                  </c:pt>
                  <c:pt idx="6">
                    <c:v>2014-01-29</c:v>
                  </c:pt>
                  <c:pt idx="7">
                    <c:v>2014-02-03</c:v>
                  </c:pt>
                  <c:pt idx="8">
                    <c:v>2014-02-08</c:v>
                  </c:pt>
                  <c:pt idx="9">
                    <c:v>2014-02-13</c:v>
                  </c:pt>
                  <c:pt idx="10">
                    <c:v>2014-02-18</c:v>
                  </c:pt>
                  <c:pt idx="11">
                    <c:v>2014-02-23</c:v>
                  </c:pt>
                  <c:pt idx="12">
                    <c:v>2014-02-28</c:v>
                  </c:pt>
                  <c:pt idx="13">
                    <c:v>2014-03-05</c:v>
                  </c:pt>
                  <c:pt idx="14">
                    <c:v>2014-03-10</c:v>
                  </c:pt>
                  <c:pt idx="15">
                    <c:v>2014-03-15</c:v>
                  </c:pt>
                  <c:pt idx="16">
                    <c:v>2014-03-20</c:v>
                  </c:pt>
                  <c:pt idx="17">
                    <c:v>2014-03-25</c:v>
                  </c:pt>
                  <c:pt idx="18">
                    <c:v>2014-03-30</c:v>
                  </c:pt>
                  <c:pt idx="19">
                    <c:v>2014-04-04</c:v>
                  </c:pt>
                  <c:pt idx="20">
                    <c:v>2014-04-09</c:v>
                  </c:pt>
                  <c:pt idx="21">
                    <c:v>2014-04-14</c:v>
                  </c:pt>
                  <c:pt idx="22">
                    <c:v>2014-04-19</c:v>
                  </c:pt>
                  <c:pt idx="23">
                    <c:v>2014-04-24</c:v>
                  </c:pt>
                  <c:pt idx="24">
                    <c:v>2014-04-29</c:v>
                  </c:pt>
                  <c:pt idx="25">
                    <c:v>2014-05-04</c:v>
                  </c:pt>
                  <c:pt idx="26">
                    <c:v>2014-05-09</c:v>
                  </c:pt>
                  <c:pt idx="27">
                    <c:v>2014-05-14</c:v>
                  </c:pt>
                  <c:pt idx="28">
                    <c:v>2014-05-19</c:v>
                  </c:pt>
                  <c:pt idx="29">
                    <c:v>2014-05-24</c:v>
                  </c:pt>
                  <c:pt idx="30">
                    <c:v>2014-05-29</c:v>
                  </c:pt>
                  <c:pt idx="31">
                    <c:v>2014-06-03</c:v>
                  </c:pt>
                  <c:pt idx="32">
                    <c:v>2014-06-08</c:v>
                  </c:pt>
                  <c:pt idx="33">
                    <c:v>2014-06-13</c:v>
                  </c:pt>
                  <c:pt idx="34">
                    <c:v>2014-06-18</c:v>
                  </c:pt>
                  <c:pt idx="35">
                    <c:v>2014-06-23</c:v>
                  </c:pt>
                  <c:pt idx="36">
                    <c:v>2014-06-28</c:v>
                  </c:pt>
                  <c:pt idx="37">
                    <c:v>2014-07-03</c:v>
                  </c:pt>
                  <c:pt idx="38">
                    <c:v>2014-07-08</c:v>
                  </c:pt>
                  <c:pt idx="39">
                    <c:v>2014-07-13</c:v>
                  </c:pt>
                  <c:pt idx="40">
                    <c:v>2014-07-18</c:v>
                  </c:pt>
                  <c:pt idx="41">
                    <c:v>2014-07-23</c:v>
                  </c:pt>
                  <c:pt idx="42">
                    <c:v>2014-07-28</c:v>
                  </c:pt>
                  <c:pt idx="43">
                    <c:v>2014-08-02</c:v>
                  </c:pt>
                  <c:pt idx="44">
                    <c:v>2014-08-07</c:v>
                  </c:pt>
                  <c:pt idx="45">
                    <c:v>2014-08-12</c:v>
                  </c:pt>
                  <c:pt idx="46">
                    <c:v>2014-08-17</c:v>
                  </c:pt>
                  <c:pt idx="47">
                    <c:v>2014-08-22</c:v>
                  </c:pt>
                  <c:pt idx="48">
                    <c:v>2014-08-27</c:v>
                  </c:pt>
                  <c:pt idx="49">
                    <c:v>2014-09-01</c:v>
                  </c:pt>
                  <c:pt idx="50">
                    <c:v>2014-09-06</c:v>
                  </c:pt>
                  <c:pt idx="51">
                    <c:v>2014-09-11</c:v>
                  </c:pt>
                  <c:pt idx="52">
                    <c:v>2014-09-16</c:v>
                  </c:pt>
                  <c:pt idx="53">
                    <c:v>2014-09-21</c:v>
                  </c:pt>
                  <c:pt idx="54">
                    <c:v>2014-09-26</c:v>
                  </c:pt>
                  <c:pt idx="55">
                    <c:v>2014-10-01</c:v>
                  </c:pt>
                  <c:pt idx="56">
                    <c:v>2014-10-06</c:v>
                  </c:pt>
                  <c:pt idx="57">
                    <c:v>2014-10-11</c:v>
                  </c:pt>
                  <c:pt idx="58">
                    <c:v>2014-10-16</c:v>
                  </c:pt>
                  <c:pt idx="59">
                    <c:v>2014-10-21</c:v>
                  </c:pt>
                  <c:pt idx="60">
                    <c:v>2014-10-26</c:v>
                  </c:pt>
                  <c:pt idx="61">
                    <c:v>2014-10-31</c:v>
                  </c:pt>
                  <c:pt idx="62">
                    <c:v>2014-11-05</c:v>
                  </c:pt>
                  <c:pt idx="63">
                    <c:v>2014-11-10</c:v>
                  </c:pt>
                  <c:pt idx="64">
                    <c:v>2014-11-15</c:v>
                  </c:pt>
                  <c:pt idx="65">
                    <c:v>2014-11-20</c:v>
                  </c:pt>
                  <c:pt idx="66">
                    <c:v>2014-11-25</c:v>
                  </c:pt>
                  <c:pt idx="67">
                    <c:v>2014-11-30</c:v>
                  </c:pt>
                  <c:pt idx="68">
                    <c:v>2014-12-05</c:v>
                  </c:pt>
                  <c:pt idx="69">
                    <c:v>2014-12-10</c:v>
                  </c:pt>
                  <c:pt idx="70">
                    <c:v>2014-12-15</c:v>
                  </c:pt>
                  <c:pt idx="71">
                    <c:v>2014-12-20</c:v>
                  </c:pt>
                  <c:pt idx="72">
                    <c:v>2014-12-25</c:v>
                  </c:pt>
                  <c:pt idx="73">
                    <c:v>2014-12-30</c:v>
                  </c:pt>
                  <c:pt idx="74">
                    <c:v>2015-01-04</c:v>
                  </c:pt>
                  <c:pt idx="75">
                    <c:v>2015-01-09</c:v>
                  </c:pt>
                  <c:pt idx="76">
                    <c:v>2015-01-14</c:v>
                  </c:pt>
                  <c:pt idx="77">
                    <c:v>2015-01-19</c:v>
                  </c:pt>
                  <c:pt idx="78">
                    <c:v>2015-01-24</c:v>
                  </c:pt>
                  <c:pt idx="79">
                    <c:v>2015-01-29</c:v>
                  </c:pt>
                  <c:pt idx="80">
                    <c:v>2015-02-03</c:v>
                  </c:pt>
                  <c:pt idx="81">
                    <c:v>2015-02-08</c:v>
                  </c:pt>
                  <c:pt idx="82">
                    <c:v>2015-02-13</c:v>
                  </c:pt>
                  <c:pt idx="83">
                    <c:v>2015-02-18</c:v>
                  </c:pt>
                  <c:pt idx="84">
                    <c:v>2015-02-23</c:v>
                  </c:pt>
                  <c:pt idx="85">
                    <c:v>2015-02-28</c:v>
                  </c:pt>
                  <c:pt idx="86">
                    <c:v>2015-03-05</c:v>
                  </c:pt>
                  <c:pt idx="87">
                    <c:v>2015-03-10</c:v>
                  </c:pt>
                  <c:pt idx="88">
                    <c:v>2015-03-15</c:v>
                  </c:pt>
                  <c:pt idx="89">
                    <c:v>2015-03-20</c:v>
                  </c:pt>
                  <c:pt idx="90">
                    <c:v>2015-03-25</c:v>
                  </c:pt>
                  <c:pt idx="91">
                    <c:v>2015-03-30</c:v>
                  </c:pt>
                  <c:pt idx="92">
                    <c:v>2015-04-04</c:v>
                  </c:pt>
                  <c:pt idx="93">
                    <c:v>2015-04-09</c:v>
                  </c:pt>
                  <c:pt idx="94">
                    <c:v>2015-04-14</c:v>
                  </c:pt>
                  <c:pt idx="95">
                    <c:v>2015-04-19</c:v>
                  </c:pt>
                  <c:pt idx="96">
                    <c:v>2015-04-24</c:v>
                  </c:pt>
                  <c:pt idx="97">
                    <c:v>2015-04-29</c:v>
                  </c:pt>
                  <c:pt idx="98">
                    <c:v>2015-05-04</c:v>
                  </c:pt>
                  <c:pt idx="99">
                    <c:v>2015-05-09</c:v>
                  </c:pt>
                  <c:pt idx="100">
                    <c:v>2015-05-14</c:v>
                  </c:pt>
                  <c:pt idx="101">
                    <c:v>2015-05-19</c:v>
                  </c:pt>
                  <c:pt idx="102">
                    <c:v>2015-05-24</c:v>
                  </c:pt>
                  <c:pt idx="103">
                    <c:v>2015-05-29</c:v>
                  </c:pt>
                  <c:pt idx="104">
                    <c:v>2015-06-03</c:v>
                  </c:pt>
                  <c:pt idx="105">
                    <c:v>2015-06-08</c:v>
                  </c:pt>
                  <c:pt idx="106">
                    <c:v>2015-06-13</c:v>
                  </c:pt>
                  <c:pt idx="107">
                    <c:v>2015-06-18</c:v>
                  </c:pt>
                  <c:pt idx="108">
                    <c:v>2015-06-23</c:v>
                  </c:pt>
                  <c:pt idx="109">
                    <c:v>2015-06-28</c:v>
                  </c:pt>
                  <c:pt idx="110">
                    <c:v>2015-07-03</c:v>
                  </c:pt>
                  <c:pt idx="111">
                    <c:v>2015-07-08</c:v>
                  </c:pt>
                  <c:pt idx="112">
                    <c:v>2015-07-13</c:v>
                  </c:pt>
                  <c:pt idx="113">
                    <c:v>2015-07-18</c:v>
                  </c:pt>
                  <c:pt idx="114">
                    <c:v>2015-07-23</c:v>
                  </c:pt>
                  <c:pt idx="115">
                    <c:v>2015-07-28</c:v>
                  </c:pt>
                  <c:pt idx="116">
                    <c:v>2015-08-02</c:v>
                  </c:pt>
                  <c:pt idx="117">
                    <c:v>2015-08-07</c:v>
                  </c:pt>
                  <c:pt idx="118">
                    <c:v>2015-08-12</c:v>
                  </c:pt>
                  <c:pt idx="119">
                    <c:v>2015-08-17</c:v>
                  </c:pt>
                  <c:pt idx="120">
                    <c:v>2015-08-22</c:v>
                  </c:pt>
                  <c:pt idx="121">
                    <c:v>2015-08-27</c:v>
                  </c:pt>
                  <c:pt idx="122">
                    <c:v>2015-09-01</c:v>
                  </c:pt>
                  <c:pt idx="123">
                    <c:v>2015-09-06</c:v>
                  </c:pt>
                  <c:pt idx="124">
                    <c:v>2015-09-11</c:v>
                  </c:pt>
                  <c:pt idx="125">
                    <c:v>2015-09-16</c:v>
                  </c:pt>
                  <c:pt idx="126">
                    <c:v>2015-09-21</c:v>
                  </c:pt>
                  <c:pt idx="127">
                    <c:v>2015-09-26</c:v>
                  </c:pt>
                  <c:pt idx="128">
                    <c:v>2015-10-01</c:v>
                  </c:pt>
                  <c:pt idx="129">
                    <c:v>2015-10-06</c:v>
                  </c:pt>
                  <c:pt idx="130">
                    <c:v>2015-10-11</c:v>
                  </c:pt>
                  <c:pt idx="131">
                    <c:v>2015-10-16</c:v>
                  </c:pt>
                  <c:pt idx="132">
                    <c:v>2015-10-21</c:v>
                  </c:pt>
                  <c:pt idx="133">
                    <c:v>2015-10-26</c:v>
                  </c:pt>
                  <c:pt idx="134">
                    <c:v>2015-10-31</c:v>
                  </c:pt>
                  <c:pt idx="135">
                    <c:v>2015-11-05</c:v>
                  </c:pt>
                  <c:pt idx="136">
                    <c:v>2015-11-10</c:v>
                  </c:pt>
                  <c:pt idx="137">
                    <c:v>2015-11-15</c:v>
                  </c:pt>
                  <c:pt idx="138">
                    <c:v>2015-11-20</c:v>
                  </c:pt>
                  <c:pt idx="139">
                    <c:v>2015-11-25</c:v>
                  </c:pt>
                  <c:pt idx="140">
                    <c:v>2015-11-30</c:v>
                  </c:pt>
                  <c:pt idx="141">
                    <c:v>2015-12-05</c:v>
                  </c:pt>
                  <c:pt idx="142">
                    <c:v>2015-12-10</c:v>
                  </c:pt>
                  <c:pt idx="143">
                    <c:v>2015-12-15</c:v>
                  </c:pt>
                  <c:pt idx="144">
                    <c:v>2015-12-20</c:v>
                  </c:pt>
                  <c:pt idx="145">
                    <c:v>2015-12-25</c:v>
                  </c:pt>
                  <c:pt idx="146">
                    <c:v>2015-12-30</c:v>
                  </c:pt>
                  <c:pt idx="147">
                    <c:v>2016-01-04</c:v>
                  </c:pt>
                  <c:pt idx="148">
                    <c:v>2016-01-09</c:v>
                  </c:pt>
                  <c:pt idx="149">
                    <c:v>2016-01-14</c:v>
                  </c:pt>
                  <c:pt idx="150">
                    <c:v>2016-01-19</c:v>
                  </c:pt>
                  <c:pt idx="151">
                    <c:v>2016-01-24</c:v>
                  </c:pt>
                  <c:pt idx="152">
                    <c:v>2016-01-29</c:v>
                  </c:pt>
                  <c:pt idx="153">
                    <c:v>2016-02-03</c:v>
                  </c:pt>
                  <c:pt idx="154">
                    <c:v>2016-02-08</c:v>
                  </c:pt>
                  <c:pt idx="155">
                    <c:v>2016-02-13</c:v>
                  </c:pt>
                  <c:pt idx="156">
                    <c:v>2016-02-18</c:v>
                  </c:pt>
                  <c:pt idx="157">
                    <c:v>2016-02-23</c:v>
                  </c:pt>
                  <c:pt idx="158">
                    <c:v>2016-02-28</c:v>
                  </c:pt>
                  <c:pt idx="159">
                    <c:v>2016-03-04</c:v>
                  </c:pt>
                  <c:pt idx="160">
                    <c:v>2016-03-09</c:v>
                  </c:pt>
                  <c:pt idx="161">
                    <c:v>2016-03-14</c:v>
                  </c:pt>
                  <c:pt idx="162">
                    <c:v>2016-03-19</c:v>
                  </c:pt>
                  <c:pt idx="163">
                    <c:v>2016-03-24</c:v>
                  </c:pt>
                  <c:pt idx="164">
                    <c:v>2016-03-29</c:v>
                  </c:pt>
                  <c:pt idx="165">
                    <c:v>2016-04-03</c:v>
                  </c:pt>
                  <c:pt idx="166">
                    <c:v>2016-04-08</c:v>
                  </c:pt>
                  <c:pt idx="167">
                    <c:v>2016-04-13</c:v>
                  </c:pt>
                  <c:pt idx="168">
                    <c:v>2016-04-18</c:v>
                  </c:pt>
                  <c:pt idx="169">
                    <c:v>2016-04-23</c:v>
                  </c:pt>
                  <c:pt idx="170">
                    <c:v>2016-04-28</c:v>
                  </c:pt>
                  <c:pt idx="171">
                    <c:v>2016-05-03</c:v>
                  </c:pt>
                  <c:pt idx="172">
                    <c:v>2016-05-08</c:v>
                  </c:pt>
                  <c:pt idx="173">
                    <c:v>2016-05-13</c:v>
                  </c:pt>
                  <c:pt idx="174">
                    <c:v>2016-05-18</c:v>
                  </c:pt>
                  <c:pt idx="175">
                    <c:v>2016-05-23</c:v>
                  </c:pt>
                  <c:pt idx="176">
                    <c:v>2016-05-28</c:v>
                  </c:pt>
                  <c:pt idx="177">
                    <c:v>2016-06-02</c:v>
                  </c:pt>
                  <c:pt idx="178">
                    <c:v>2016-06-07</c:v>
                  </c:pt>
                  <c:pt idx="179">
                    <c:v>2016-06-12</c:v>
                  </c:pt>
                  <c:pt idx="180">
                    <c:v>2016-06-17</c:v>
                  </c:pt>
                  <c:pt idx="181">
                    <c:v>2016-06-22</c:v>
                  </c:pt>
                  <c:pt idx="182">
                    <c:v>2016-06-27</c:v>
                  </c:pt>
                  <c:pt idx="183">
                    <c:v>2016-07-02</c:v>
                  </c:pt>
                  <c:pt idx="184">
                    <c:v>2016-07-07</c:v>
                  </c:pt>
                  <c:pt idx="185">
                    <c:v>2016-07-12</c:v>
                  </c:pt>
                  <c:pt idx="186">
                    <c:v>2016-07-17</c:v>
                  </c:pt>
                  <c:pt idx="187">
                    <c:v>2016-07-22</c:v>
                  </c:pt>
                  <c:pt idx="188">
                    <c:v>2016-07-27</c:v>
                  </c:pt>
                  <c:pt idx="189">
                    <c:v>2016-08-01</c:v>
                  </c:pt>
                  <c:pt idx="190">
                    <c:v>2016-08-06</c:v>
                  </c:pt>
                  <c:pt idx="191">
                    <c:v>2016-08-11</c:v>
                  </c:pt>
                  <c:pt idx="192">
                    <c:v>2016-08-16</c:v>
                  </c:pt>
                  <c:pt idx="193">
                    <c:v>2016-08-21</c:v>
                  </c:pt>
                  <c:pt idx="194">
                    <c:v>2016-08-26</c:v>
                  </c:pt>
                  <c:pt idx="195">
                    <c:v>2016-08-31</c:v>
                  </c:pt>
                  <c:pt idx="196">
                    <c:v>2016-09-05</c:v>
                  </c:pt>
                  <c:pt idx="197">
                    <c:v>2016-09-10</c:v>
                  </c:pt>
                  <c:pt idx="198">
                    <c:v>2016-09-15</c:v>
                  </c:pt>
                  <c:pt idx="199">
                    <c:v>2016-09-20</c:v>
                  </c:pt>
                  <c:pt idx="200">
                    <c:v>2016-09-25</c:v>
                  </c:pt>
                  <c:pt idx="201">
                    <c:v>2016-09-30</c:v>
                  </c:pt>
                  <c:pt idx="202">
                    <c:v>2016-10-05</c:v>
                  </c:pt>
                  <c:pt idx="203">
                    <c:v>2016-10-10</c:v>
                  </c:pt>
                  <c:pt idx="204">
                    <c:v>2016-10-15</c:v>
                  </c:pt>
                  <c:pt idx="205">
                    <c:v>2016-10-20</c:v>
                  </c:pt>
                  <c:pt idx="206">
                    <c:v>2016-10-25</c:v>
                  </c:pt>
                  <c:pt idx="207">
                    <c:v>2016-10-30</c:v>
                  </c:pt>
                  <c:pt idx="208">
                    <c:v>2016-11-04</c:v>
                  </c:pt>
                  <c:pt idx="209">
                    <c:v>2016-11-09</c:v>
                  </c:pt>
                  <c:pt idx="210">
                    <c:v>2016-11-14</c:v>
                  </c:pt>
                </c:lvl>
              </c:multiLvlStrCache>
            </c:multiLvlStrRef>
          </c:cat>
          <c:val>
            <c:numRef>
              <c:f>Sheet1!$C$2:$C$212</c:f>
              <c:numCache>
                <c:formatCode>General</c:formatCode>
                <c:ptCount val="211"/>
                <c:pt idx="0">
                  <c:v>32.801811611209395</c:v>
                </c:pt>
                <c:pt idx="1">
                  <c:v>32.47867133969955</c:v>
                </c:pt>
                <c:pt idx="2">
                  <c:v>32.757769808251226</c:v>
                </c:pt>
                <c:pt idx="3">
                  <c:v>33.1808670827695</c:v>
                </c:pt>
                <c:pt idx="4">
                  <c:v>33.40347363587597</c:v>
                </c:pt>
                <c:pt idx="5">
                  <c:v>33.53650765654291</c:v>
                </c:pt>
                <c:pt idx="6">
                  <c:v>33.666386183268216</c:v>
                </c:pt>
                <c:pt idx="7">
                  <c:v>33.958390542900545</c:v>
                </c:pt>
                <c:pt idx="8">
                  <c:v>33.95508707863427</c:v>
                </c:pt>
                <c:pt idx="9">
                  <c:v>33.68046239675058</c:v>
                </c:pt>
                <c:pt idx="10">
                  <c:v>33.45975739884285</c:v>
                </c:pt>
                <c:pt idx="11">
                  <c:v>33.21459960020334</c:v>
                </c:pt>
                <c:pt idx="12">
                  <c:v>32.85976585369997</c:v>
                </c:pt>
                <c:pt idx="13">
                  <c:v>32.47641367097483</c:v>
                </c:pt>
                <c:pt idx="14">
                  <c:v>32.33525257033599</c:v>
                </c:pt>
                <c:pt idx="15">
                  <c:v>32.3462958304797</c:v>
                </c:pt>
                <c:pt idx="16">
                  <c:v>32.552748133941456</c:v>
                </c:pt>
                <c:pt idx="17">
                  <c:v>32.92290002077248</c:v>
                </c:pt>
                <c:pt idx="18">
                  <c:v>33.25113511585862</c:v>
                </c:pt>
                <c:pt idx="19">
                  <c:v>33.62896650022802</c:v>
                </c:pt>
                <c:pt idx="20">
                  <c:v>34.03234867268591</c:v>
                </c:pt>
                <c:pt idx="21">
                  <c:v>34.166052228116726</c:v>
                </c:pt>
                <c:pt idx="22">
                  <c:v>34.0498990696231</c:v>
                </c:pt>
                <c:pt idx="23">
                  <c:v>33.91167135097611</c:v>
                </c:pt>
                <c:pt idx="24">
                  <c:v>34.02723083547236</c:v>
                </c:pt>
                <c:pt idx="25">
                  <c:v>34.236622269936966</c:v>
                </c:pt>
                <c:pt idx="26">
                  <c:v>34.25388592688319</c:v>
                </c:pt>
                <c:pt idx="27">
                  <c:v>34.09774704361828</c:v>
                </c:pt>
                <c:pt idx="28">
                  <c:v>33.914776117690344</c:v>
                </c:pt>
                <c:pt idx="29">
                  <c:v>33.65541097302319</c:v>
                </c:pt>
                <c:pt idx="30">
                  <c:v>33.24717432528523</c:v>
                </c:pt>
                <c:pt idx="31">
                  <c:v>32.70580907438542</c:v>
                </c:pt>
                <c:pt idx="32">
                  <c:v>32.25801584518222</c:v>
                </c:pt>
                <c:pt idx="33">
                  <c:v>32.22388976237493</c:v>
                </c:pt>
                <c:pt idx="34">
                  <c:v>32.196406896750666</c:v>
                </c:pt>
                <c:pt idx="35">
                  <c:v>32.288701737754025</c:v>
                </c:pt>
                <c:pt idx="36">
                  <c:v>32.752755662415666</c:v>
                </c:pt>
                <c:pt idx="37">
                  <c:v>33.235199366342975</c:v>
                </c:pt>
                <c:pt idx="38">
                  <c:v>33.73151994914631</c:v>
                </c:pt>
                <c:pt idx="39">
                  <c:v>34.205786395400885</c:v>
                </c:pt>
                <c:pt idx="40">
                  <c:v>34.61371945440502</c:v>
                </c:pt>
                <c:pt idx="41">
                  <c:v>34.77835179769854</c:v>
                </c:pt>
                <c:pt idx="42">
                  <c:v>34.43262011022258</c:v>
                </c:pt>
                <c:pt idx="43">
                  <c:v>33.99976291848491</c:v>
                </c:pt>
                <c:pt idx="44">
                  <c:v>33.738371886296555</c:v>
                </c:pt>
                <c:pt idx="45">
                  <c:v>33.30905959147754</c:v>
                </c:pt>
                <c:pt idx="46">
                  <c:v>32.96430637654968</c:v>
                </c:pt>
                <c:pt idx="47">
                  <c:v>32.79282919727203</c:v>
                </c:pt>
                <c:pt idx="48">
                  <c:v>32.723434136436865</c:v>
                </c:pt>
                <c:pt idx="49">
                  <c:v>32.44074862625724</c:v>
                </c:pt>
                <c:pt idx="50">
                  <c:v>31.98293119403711</c:v>
                </c:pt>
                <c:pt idx="51">
                  <c:v>32.12507098127076</c:v>
                </c:pt>
                <c:pt idx="52">
                  <c:v>32.55616333127586</c:v>
                </c:pt>
                <c:pt idx="53">
                  <c:v>32.89991838440347</c:v>
                </c:pt>
                <c:pt idx="54">
                  <c:v>33.05899786677843</c:v>
                </c:pt>
                <c:pt idx="55">
                  <c:v>33.34230318945689</c:v>
                </c:pt>
                <c:pt idx="56">
                  <c:v>33.62899054001429</c:v>
                </c:pt>
                <c:pt idx="57">
                  <c:v>34.19875298706308</c:v>
                </c:pt>
                <c:pt idx="58">
                  <c:v>34.485630328749814</c:v>
                </c:pt>
                <c:pt idx="59">
                  <c:v>34.76925403482141</c:v>
                </c:pt>
                <c:pt idx="60">
                  <c:v>35.30452954308701</c:v>
                </c:pt>
                <c:pt idx="61">
                  <c:v>36.021600609308805</c:v>
                </c:pt>
                <c:pt idx="62">
                  <c:v>36.91818594784645</c:v>
                </c:pt>
                <c:pt idx="63">
                  <c:v>37.07450018017048</c:v>
                </c:pt>
                <c:pt idx="64">
                  <c:v>37.21501391588926</c:v>
                </c:pt>
                <c:pt idx="65">
                  <c:v>37.355643255775085</c:v>
                </c:pt>
                <c:pt idx="66">
                  <c:v>38.25743911247761</c:v>
                </c:pt>
                <c:pt idx="67">
                  <c:v>39.25775540628736</c:v>
                </c:pt>
                <c:pt idx="68">
                  <c:v>39.748620119353454</c:v>
                </c:pt>
                <c:pt idx="69">
                  <c:v>40.10854106712075</c:v>
                </c:pt>
                <c:pt idx="70">
                  <c:v>40.229378147662175</c:v>
                </c:pt>
                <c:pt idx="71">
                  <c:v>40.36582376865041</c:v>
                </c:pt>
                <c:pt idx="72">
                  <c:v>40.08210031043138</c:v>
                </c:pt>
                <c:pt idx="73">
                  <c:v>39.73319521860093</c:v>
                </c:pt>
                <c:pt idx="74">
                  <c:v>39.36971379769509</c:v>
                </c:pt>
                <c:pt idx="75">
                  <c:v>39.42014929068436</c:v>
                </c:pt>
                <c:pt idx="76">
                  <c:v>39.89579864551017</c:v>
                </c:pt>
                <c:pt idx="77">
                  <c:v>40.358707559689</c:v>
                </c:pt>
                <c:pt idx="78">
                  <c:v>40.48431906757965</c:v>
                </c:pt>
                <c:pt idx="79">
                  <c:v>40.57065933067045</c:v>
                </c:pt>
                <c:pt idx="80">
                  <c:v>41.001229300499226</c:v>
                </c:pt>
                <c:pt idx="81">
                  <c:v>41.17444519020352</c:v>
                </c:pt>
                <c:pt idx="82">
                  <c:v>40.7123757573685</c:v>
                </c:pt>
                <c:pt idx="83">
                  <c:v>40.13531823451369</c:v>
                </c:pt>
                <c:pt idx="84">
                  <c:v>39.64523875099044</c:v>
                </c:pt>
                <c:pt idx="85">
                  <c:v>39.07259924662086</c:v>
                </c:pt>
                <c:pt idx="86">
                  <c:v>38.50223967681312</c:v>
                </c:pt>
                <c:pt idx="87">
                  <c:v>38.27529440629984</c:v>
                </c:pt>
                <c:pt idx="88">
                  <c:v>38.73620498449221</c:v>
                </c:pt>
                <c:pt idx="89">
                  <c:v>39.3119499587646</c:v>
                </c:pt>
                <c:pt idx="90">
                  <c:v>39.574690793844624</c:v>
                </c:pt>
                <c:pt idx="91">
                  <c:v>39.573221612122346</c:v>
                </c:pt>
                <c:pt idx="92">
                  <c:v>39.5757124207104</c:v>
                </c:pt>
                <c:pt idx="93">
                  <c:v>39.557447849232176</c:v>
                </c:pt>
                <c:pt idx="94">
                  <c:v>39.57441294178276</c:v>
                </c:pt>
                <c:pt idx="95">
                  <c:v>39.68165576733108</c:v>
                </c:pt>
                <c:pt idx="96">
                  <c:v>39.8218366537418</c:v>
                </c:pt>
                <c:pt idx="97">
                  <c:v>39.94851142485222</c:v>
                </c:pt>
                <c:pt idx="98">
                  <c:v>40.06435086516607</c:v>
                </c:pt>
                <c:pt idx="99">
                  <c:v>39.887908936802326</c:v>
                </c:pt>
                <c:pt idx="100">
                  <c:v>39.30010935811275</c:v>
                </c:pt>
                <c:pt idx="101">
                  <c:v>38.62682759372922</c:v>
                </c:pt>
                <c:pt idx="102">
                  <c:v>38.28877193334264</c:v>
                </c:pt>
                <c:pt idx="103">
                  <c:v>38.16472222888303</c:v>
                </c:pt>
                <c:pt idx="104">
                  <c:v>38.04390733213084</c:v>
                </c:pt>
                <c:pt idx="105">
                  <c:v>38.03825633554728</c:v>
                </c:pt>
                <c:pt idx="106">
                  <c:v>38.752934275670746</c:v>
                </c:pt>
                <c:pt idx="107">
                  <c:v>39.45935683749041</c:v>
                </c:pt>
                <c:pt idx="108">
                  <c:v>40.02819132116677</c:v>
                </c:pt>
                <c:pt idx="109">
                  <c:v>40.03652545938223</c:v>
                </c:pt>
                <c:pt idx="110">
                  <c:v>40.03965026472999</c:v>
                </c:pt>
                <c:pt idx="111">
                  <c:v>39.97829845994273</c:v>
                </c:pt>
                <c:pt idx="112">
                  <c:v>39.53655036641286</c:v>
                </c:pt>
                <c:pt idx="113">
                  <c:v>39.03722403457943</c:v>
                </c:pt>
                <c:pt idx="114">
                  <c:v>38.518246799084736</c:v>
                </c:pt>
                <c:pt idx="115">
                  <c:v>38.669872250708735</c:v>
                </c:pt>
                <c:pt idx="116">
                  <c:v>38.84995233664458</c:v>
                </c:pt>
                <c:pt idx="117">
                  <c:v>38.950914029310496</c:v>
                </c:pt>
                <c:pt idx="118">
                  <c:v>38.82185698090903</c:v>
                </c:pt>
                <c:pt idx="119">
                  <c:v>38.67676776018737</c:v>
                </c:pt>
                <c:pt idx="120">
                  <c:v>38.57385993656305</c:v>
                </c:pt>
                <c:pt idx="121">
                  <c:v>38.14071283534998</c:v>
                </c:pt>
                <c:pt idx="122">
                  <c:v>37.368664425257535</c:v>
                </c:pt>
                <c:pt idx="123">
                  <c:v>36.60305799768343</c:v>
                </c:pt>
                <c:pt idx="124">
                  <c:v>36.51060706026946</c:v>
                </c:pt>
                <c:pt idx="125">
                  <c:v>36.67931729926473</c:v>
                </c:pt>
                <c:pt idx="126">
                  <c:v>36.81151832071228</c:v>
                </c:pt>
                <c:pt idx="127">
                  <c:v>36.56658058884034</c:v>
                </c:pt>
                <c:pt idx="128">
                  <c:v>36.42690751159001</c:v>
                </c:pt>
                <c:pt idx="129">
                  <c:v>36.28434283675768</c:v>
                </c:pt>
                <c:pt idx="130">
                  <c:v>36.51331771952587</c:v>
                </c:pt>
                <c:pt idx="131">
                  <c:v>36.55846139432256</c:v>
                </c:pt>
                <c:pt idx="132">
                  <c:v>36.61318919012583</c:v>
                </c:pt>
                <c:pt idx="133">
                  <c:v>37.06755480221225</c:v>
                </c:pt>
                <c:pt idx="134">
                  <c:v>37.53495309472996</c:v>
                </c:pt>
                <c:pt idx="135">
                  <c:v>38.05291081284301</c:v>
                </c:pt>
                <c:pt idx="136">
                  <c:v>37.6214481925058</c:v>
                </c:pt>
                <c:pt idx="137">
                  <c:v>36.89905415270476</c:v>
                </c:pt>
                <c:pt idx="138">
                  <c:v>36.1801872872173</c:v>
                </c:pt>
                <c:pt idx="139">
                  <c:v>36.00793531114468</c:v>
                </c:pt>
                <c:pt idx="140">
                  <c:v>35.609828655836154</c:v>
                </c:pt>
                <c:pt idx="141">
                  <c:v>35.38575480095499</c:v>
                </c:pt>
                <c:pt idx="142">
                  <c:v>35.49436443280656</c:v>
                </c:pt>
                <c:pt idx="143">
                  <c:v>35.69836642213625</c:v>
                </c:pt>
                <c:pt idx="144">
                  <c:v>35.754140090948326</c:v>
                </c:pt>
                <c:pt idx="145">
                  <c:v>36.16217947462808</c:v>
                </c:pt>
                <c:pt idx="146">
                  <c:v>36.98367174523371</c:v>
                </c:pt>
                <c:pt idx="147">
                  <c:v>36.97194614087557</c:v>
                </c:pt>
                <c:pt idx="148">
                  <c:v>37.37410189814981</c:v>
                </c:pt>
                <c:pt idx="149">
                  <c:v>38.17771210684795</c:v>
                </c:pt>
                <c:pt idx="150">
                  <c:v>39.12309783835395</c:v>
                </c:pt>
                <c:pt idx="151">
                  <c:v>38.57083139423097</c:v>
                </c:pt>
                <c:pt idx="152">
                  <c:v>37.79925511434192</c:v>
                </c:pt>
                <c:pt idx="153">
                  <c:v>37.57579355284978</c:v>
                </c:pt>
                <c:pt idx="154">
                  <c:v>36.64024200269379</c:v>
                </c:pt>
                <c:pt idx="155">
                  <c:v>36.75731544954378</c:v>
                </c:pt>
                <c:pt idx="156">
                  <c:v>36.673776223724055</c:v>
                </c:pt>
                <c:pt idx="157">
                  <c:v>37.53425557019595</c:v>
                </c:pt>
                <c:pt idx="158">
                  <c:v>38.162211734328025</c:v>
                </c:pt>
                <c:pt idx="159">
                  <c:v>38.947973493290384</c:v>
                </c:pt>
                <c:pt idx="160">
                  <c:v>39.79189994045654</c:v>
                </c:pt>
                <c:pt idx="161">
                  <c:v>39.825507004327925</c:v>
                </c:pt>
                <c:pt idx="162">
                  <c:v>40.05703111039431</c:v>
                </c:pt>
                <c:pt idx="163">
                  <c:v>40.18385851016665</c:v>
                </c:pt>
                <c:pt idx="164">
                  <c:v>40.50398569147241</c:v>
                </c:pt>
                <c:pt idx="165">
                  <c:v>40.26220002167791</c:v>
                </c:pt>
                <c:pt idx="166">
                  <c:v>40.100378112040495</c:v>
                </c:pt>
                <c:pt idx="167">
                  <c:v>38.97096750060543</c:v>
                </c:pt>
                <c:pt idx="168">
                  <c:v>37.840188137240126</c:v>
                </c:pt>
                <c:pt idx="169">
                  <c:v>36.67886481959769</c:v>
                </c:pt>
                <c:pt idx="170">
                  <c:v>35.74219885253864</c:v>
                </c:pt>
                <c:pt idx="171">
                  <c:v>35.26817552958085</c:v>
                </c:pt>
                <c:pt idx="172">
                  <c:v>34.56537282054753</c:v>
                </c:pt>
                <c:pt idx="173">
                  <c:v>35.697923028288955</c:v>
                </c:pt>
                <c:pt idx="174">
                  <c:v>36.83785812673231</c:v>
                </c:pt>
                <c:pt idx="175">
                  <c:v>38.11176450094629</c:v>
                </c:pt>
                <c:pt idx="176">
                  <c:v>38.16138946527949</c:v>
                </c:pt>
                <c:pt idx="177">
                  <c:v>38.1774885558325</c:v>
                </c:pt>
                <c:pt idx="178">
                  <c:v>38.45503317304398</c:v>
                </c:pt>
                <c:pt idx="179">
                  <c:v>37.236744237742805</c:v>
                </c:pt>
                <c:pt idx="180">
                  <c:v>36.04759357470319</c:v>
                </c:pt>
                <c:pt idx="181">
                  <c:v>35.091483923144885</c:v>
                </c:pt>
                <c:pt idx="182">
                  <c:v>34.9181688202221</c:v>
                </c:pt>
                <c:pt idx="183">
                  <c:v>34.770500556860455</c:v>
                </c:pt>
                <c:pt idx="184">
                  <c:v>34.652594287336946</c:v>
                </c:pt>
                <c:pt idx="185">
                  <c:v>35.87141781898001</c:v>
                </c:pt>
                <c:pt idx="186">
                  <c:v>37.06006896634975</c:v>
                </c:pt>
                <c:pt idx="187">
                  <c:v>38.01647222774586</c:v>
                </c:pt>
                <c:pt idx="188">
                  <c:v>39.459021359036086</c:v>
                </c:pt>
                <c:pt idx="189">
                  <c:v>40.90667086687862</c:v>
                </c:pt>
                <c:pt idx="190">
                  <c:v>42.06238986675812</c:v>
                </c:pt>
                <c:pt idx="191">
                  <c:v>41.56123973535132</c:v>
                </c:pt>
                <c:pt idx="192">
                  <c:v>40.31992908899402</c:v>
                </c:pt>
                <c:pt idx="193">
                  <c:v>39.07286492150402</c:v>
                </c:pt>
                <c:pt idx="194">
                  <c:v>38.02389806810256</c:v>
                </c:pt>
                <c:pt idx="195">
                  <c:v>36.7055985783192</c:v>
                </c:pt>
                <c:pt idx="196">
                  <c:v>35.38897222600854</c:v>
                </c:pt>
                <c:pt idx="197">
                  <c:v>35.5135506861396</c:v>
                </c:pt>
                <c:pt idx="198">
                  <c:v>36.46615397684477</c:v>
                </c:pt>
                <c:pt idx="199">
                  <c:v>37.42484572941392</c:v>
                </c:pt>
                <c:pt idx="200">
                  <c:v>38.18614538009952</c:v>
                </c:pt>
                <c:pt idx="201">
                  <c:v>38.8925871692311</c:v>
                </c:pt>
                <c:pt idx="202">
                  <c:v>39.71131693858719</c:v>
                </c:pt>
                <c:pt idx="203">
                  <c:v>39.79941279891432</c:v>
                </c:pt>
                <c:pt idx="204">
                  <c:v>40.05839205354688</c:v>
                </c:pt>
                <c:pt idx="205">
                  <c:v>40.48275485358634</c:v>
                </c:pt>
                <c:pt idx="206">
                  <c:v>40.878945596990576</c:v>
                </c:pt>
                <c:pt idx="207">
                  <c:v>41.5908367660739</c:v>
                </c:pt>
                <c:pt idx="208">
                  <c:v>42.20333676566863</c:v>
                </c:pt>
                <c:pt idx="209">
                  <c:v>42.626318953493325</c:v>
                </c:pt>
                <c:pt idx="210">
                  <c:v>42.80193387558133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6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A30"/>
                </a:solidFill>
                <a:latin typeface="Arial"/>
              </a:defRPr>
            </a:pPr>
            <a:r>
              <a:rPr sz="1150" b="0" i="0" u="none" strike="noStrike">
                <a:solidFill>
                  <a:srgbClr val="0A1A30"/>
                </a:solidFill>
                <a:latin typeface="Arial"/>
              </a:rPr>
              <a:t>Gross profit margin: 7-day vs 30-day rolling average (%)</a:t>
            </a:r>
          </a:p>
        </c:rich>
      </c:tx>
      <c:layout/>
      <c:overlay val="0"/>
    </c:title>
    <c:autoTitleDeleted val="0"/>
    <c:plotArea>
      <c:layout/>
      <c:lineChart>
        <c:varyColors val="0"/>
        <c:ser>
          <c:idx val="0"/>
          <c:order val="0"/>
          <c:tx>
            <c:strRef>
              <c:f>Sheet1!$B$1</c:f>
              <c:strCache>
                <c:ptCount val="1"/>
                <c:pt idx="0">
                  <c:v>7-day avg GP margin</c:v>
                </c:pt>
              </c:strCache>
            </c:strRef>
          </c:tx>
          <c:spPr>
            <a:solidFill>
              <a:srgbClr val="B8933E"/>
            </a:solidFill>
            <a:ln w="19050" cap="flat">
              <a:solidFill>
                <a:srgbClr val="B893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8933E"/>
              </a:solidFill>
              <a:ln w="9525" cap="flat">
                <a:solidFill>
                  <a:srgbClr val="B8933E"/>
                </a:solidFill>
                <a:prstDash val="solid"/>
                <a:round/>
              </a:ln>
              <a:effectLst/>
            </c:spPr>
          </c:marker>
          <c:cat>
            <c:multiLvlStrRef>
              <c:f>Sheet1!$A$2:$A$212</c:f>
              <c:multiLvlStrCache>
                <c:ptCount val="211"/>
                <c:lvl>
                  <c:pt idx="0">
                    <c:v>2013-12-30</c:v>
                  </c:pt>
                  <c:pt idx="1">
                    <c:v>2014-01-04</c:v>
                  </c:pt>
                  <c:pt idx="2">
                    <c:v>2014-01-09</c:v>
                  </c:pt>
                  <c:pt idx="3">
                    <c:v>2014-01-14</c:v>
                  </c:pt>
                  <c:pt idx="4">
                    <c:v>2014-01-19</c:v>
                  </c:pt>
                  <c:pt idx="5">
                    <c:v>2014-01-24</c:v>
                  </c:pt>
                  <c:pt idx="6">
                    <c:v>2014-01-29</c:v>
                  </c:pt>
                  <c:pt idx="7">
                    <c:v>2014-02-03</c:v>
                  </c:pt>
                  <c:pt idx="8">
                    <c:v>2014-02-08</c:v>
                  </c:pt>
                  <c:pt idx="9">
                    <c:v>2014-02-13</c:v>
                  </c:pt>
                  <c:pt idx="10">
                    <c:v>2014-02-18</c:v>
                  </c:pt>
                  <c:pt idx="11">
                    <c:v>2014-02-23</c:v>
                  </c:pt>
                  <c:pt idx="12">
                    <c:v>2014-02-28</c:v>
                  </c:pt>
                  <c:pt idx="13">
                    <c:v>2014-03-05</c:v>
                  </c:pt>
                  <c:pt idx="14">
                    <c:v>2014-03-10</c:v>
                  </c:pt>
                  <c:pt idx="15">
                    <c:v>2014-03-15</c:v>
                  </c:pt>
                  <c:pt idx="16">
                    <c:v>2014-03-20</c:v>
                  </c:pt>
                  <c:pt idx="17">
                    <c:v>2014-03-25</c:v>
                  </c:pt>
                  <c:pt idx="18">
                    <c:v>2014-03-30</c:v>
                  </c:pt>
                  <c:pt idx="19">
                    <c:v>2014-04-04</c:v>
                  </c:pt>
                  <c:pt idx="20">
                    <c:v>2014-04-09</c:v>
                  </c:pt>
                  <c:pt idx="21">
                    <c:v>2014-04-14</c:v>
                  </c:pt>
                  <c:pt idx="22">
                    <c:v>2014-04-19</c:v>
                  </c:pt>
                  <c:pt idx="23">
                    <c:v>2014-04-24</c:v>
                  </c:pt>
                  <c:pt idx="24">
                    <c:v>2014-04-29</c:v>
                  </c:pt>
                  <c:pt idx="25">
                    <c:v>2014-05-04</c:v>
                  </c:pt>
                  <c:pt idx="26">
                    <c:v>2014-05-09</c:v>
                  </c:pt>
                  <c:pt idx="27">
                    <c:v>2014-05-14</c:v>
                  </c:pt>
                  <c:pt idx="28">
                    <c:v>2014-05-19</c:v>
                  </c:pt>
                  <c:pt idx="29">
                    <c:v>2014-05-24</c:v>
                  </c:pt>
                  <c:pt idx="30">
                    <c:v>2014-05-29</c:v>
                  </c:pt>
                  <c:pt idx="31">
                    <c:v>2014-06-03</c:v>
                  </c:pt>
                  <c:pt idx="32">
                    <c:v>2014-06-08</c:v>
                  </c:pt>
                  <c:pt idx="33">
                    <c:v>2014-06-13</c:v>
                  </c:pt>
                  <c:pt idx="34">
                    <c:v>2014-06-18</c:v>
                  </c:pt>
                  <c:pt idx="35">
                    <c:v>2014-06-23</c:v>
                  </c:pt>
                  <c:pt idx="36">
                    <c:v>2014-06-28</c:v>
                  </c:pt>
                  <c:pt idx="37">
                    <c:v>2014-07-03</c:v>
                  </c:pt>
                  <c:pt idx="38">
                    <c:v>2014-07-08</c:v>
                  </c:pt>
                  <c:pt idx="39">
                    <c:v>2014-07-13</c:v>
                  </c:pt>
                  <c:pt idx="40">
                    <c:v>2014-07-18</c:v>
                  </c:pt>
                  <c:pt idx="41">
                    <c:v>2014-07-23</c:v>
                  </c:pt>
                  <c:pt idx="42">
                    <c:v>2014-07-28</c:v>
                  </c:pt>
                  <c:pt idx="43">
                    <c:v>2014-08-02</c:v>
                  </c:pt>
                  <c:pt idx="44">
                    <c:v>2014-08-07</c:v>
                  </c:pt>
                  <c:pt idx="45">
                    <c:v>2014-08-12</c:v>
                  </c:pt>
                  <c:pt idx="46">
                    <c:v>2014-08-17</c:v>
                  </c:pt>
                  <c:pt idx="47">
                    <c:v>2014-08-22</c:v>
                  </c:pt>
                  <c:pt idx="48">
                    <c:v>2014-08-27</c:v>
                  </c:pt>
                  <c:pt idx="49">
                    <c:v>2014-09-01</c:v>
                  </c:pt>
                  <c:pt idx="50">
                    <c:v>2014-09-06</c:v>
                  </c:pt>
                  <c:pt idx="51">
                    <c:v>2014-09-11</c:v>
                  </c:pt>
                  <c:pt idx="52">
                    <c:v>2014-09-16</c:v>
                  </c:pt>
                  <c:pt idx="53">
                    <c:v>2014-09-21</c:v>
                  </c:pt>
                  <c:pt idx="54">
                    <c:v>2014-09-26</c:v>
                  </c:pt>
                  <c:pt idx="55">
                    <c:v>2014-10-01</c:v>
                  </c:pt>
                  <c:pt idx="56">
                    <c:v>2014-10-06</c:v>
                  </c:pt>
                  <c:pt idx="57">
                    <c:v>2014-10-11</c:v>
                  </c:pt>
                  <c:pt idx="58">
                    <c:v>2014-10-16</c:v>
                  </c:pt>
                  <c:pt idx="59">
                    <c:v>2014-10-21</c:v>
                  </c:pt>
                  <c:pt idx="60">
                    <c:v>2014-10-26</c:v>
                  </c:pt>
                  <c:pt idx="61">
                    <c:v>2014-10-31</c:v>
                  </c:pt>
                  <c:pt idx="62">
                    <c:v>2014-11-05</c:v>
                  </c:pt>
                  <c:pt idx="63">
                    <c:v>2014-11-10</c:v>
                  </c:pt>
                  <c:pt idx="64">
                    <c:v>2014-11-15</c:v>
                  </c:pt>
                  <c:pt idx="65">
                    <c:v>2014-11-20</c:v>
                  </c:pt>
                  <c:pt idx="66">
                    <c:v>2014-11-25</c:v>
                  </c:pt>
                  <c:pt idx="67">
                    <c:v>2014-11-30</c:v>
                  </c:pt>
                  <c:pt idx="68">
                    <c:v>2014-12-05</c:v>
                  </c:pt>
                  <c:pt idx="69">
                    <c:v>2014-12-10</c:v>
                  </c:pt>
                  <c:pt idx="70">
                    <c:v>2014-12-15</c:v>
                  </c:pt>
                  <c:pt idx="71">
                    <c:v>2014-12-20</c:v>
                  </c:pt>
                  <c:pt idx="72">
                    <c:v>2014-12-25</c:v>
                  </c:pt>
                  <c:pt idx="73">
                    <c:v>2014-12-30</c:v>
                  </c:pt>
                  <c:pt idx="74">
                    <c:v>2015-01-04</c:v>
                  </c:pt>
                  <c:pt idx="75">
                    <c:v>2015-01-09</c:v>
                  </c:pt>
                  <c:pt idx="76">
                    <c:v>2015-01-14</c:v>
                  </c:pt>
                  <c:pt idx="77">
                    <c:v>2015-01-19</c:v>
                  </c:pt>
                  <c:pt idx="78">
                    <c:v>2015-01-24</c:v>
                  </c:pt>
                  <c:pt idx="79">
                    <c:v>2015-01-29</c:v>
                  </c:pt>
                  <c:pt idx="80">
                    <c:v>2015-02-03</c:v>
                  </c:pt>
                  <c:pt idx="81">
                    <c:v>2015-02-08</c:v>
                  </c:pt>
                  <c:pt idx="82">
                    <c:v>2015-02-13</c:v>
                  </c:pt>
                  <c:pt idx="83">
                    <c:v>2015-02-18</c:v>
                  </c:pt>
                  <c:pt idx="84">
                    <c:v>2015-02-23</c:v>
                  </c:pt>
                  <c:pt idx="85">
                    <c:v>2015-02-28</c:v>
                  </c:pt>
                  <c:pt idx="86">
                    <c:v>2015-03-05</c:v>
                  </c:pt>
                  <c:pt idx="87">
                    <c:v>2015-03-10</c:v>
                  </c:pt>
                  <c:pt idx="88">
                    <c:v>2015-03-15</c:v>
                  </c:pt>
                  <c:pt idx="89">
                    <c:v>2015-03-20</c:v>
                  </c:pt>
                  <c:pt idx="90">
                    <c:v>2015-03-25</c:v>
                  </c:pt>
                  <c:pt idx="91">
                    <c:v>2015-03-30</c:v>
                  </c:pt>
                  <c:pt idx="92">
                    <c:v>2015-04-04</c:v>
                  </c:pt>
                  <c:pt idx="93">
                    <c:v>2015-04-09</c:v>
                  </c:pt>
                  <c:pt idx="94">
                    <c:v>2015-04-14</c:v>
                  </c:pt>
                  <c:pt idx="95">
                    <c:v>2015-04-19</c:v>
                  </c:pt>
                  <c:pt idx="96">
                    <c:v>2015-04-24</c:v>
                  </c:pt>
                  <c:pt idx="97">
                    <c:v>2015-04-29</c:v>
                  </c:pt>
                  <c:pt idx="98">
                    <c:v>2015-05-04</c:v>
                  </c:pt>
                  <c:pt idx="99">
                    <c:v>2015-05-09</c:v>
                  </c:pt>
                  <c:pt idx="100">
                    <c:v>2015-05-14</c:v>
                  </c:pt>
                  <c:pt idx="101">
                    <c:v>2015-05-19</c:v>
                  </c:pt>
                  <c:pt idx="102">
                    <c:v>2015-05-24</c:v>
                  </c:pt>
                  <c:pt idx="103">
                    <c:v>2015-05-29</c:v>
                  </c:pt>
                  <c:pt idx="104">
                    <c:v>2015-06-03</c:v>
                  </c:pt>
                  <c:pt idx="105">
                    <c:v>2015-06-08</c:v>
                  </c:pt>
                  <c:pt idx="106">
                    <c:v>2015-06-13</c:v>
                  </c:pt>
                  <c:pt idx="107">
                    <c:v>2015-06-18</c:v>
                  </c:pt>
                  <c:pt idx="108">
                    <c:v>2015-06-23</c:v>
                  </c:pt>
                  <c:pt idx="109">
                    <c:v>2015-06-28</c:v>
                  </c:pt>
                  <c:pt idx="110">
                    <c:v>2015-07-03</c:v>
                  </c:pt>
                  <c:pt idx="111">
                    <c:v>2015-07-08</c:v>
                  </c:pt>
                  <c:pt idx="112">
                    <c:v>2015-07-13</c:v>
                  </c:pt>
                  <c:pt idx="113">
                    <c:v>2015-07-18</c:v>
                  </c:pt>
                  <c:pt idx="114">
                    <c:v>2015-07-23</c:v>
                  </c:pt>
                  <c:pt idx="115">
                    <c:v>2015-07-28</c:v>
                  </c:pt>
                  <c:pt idx="116">
                    <c:v>2015-08-02</c:v>
                  </c:pt>
                  <c:pt idx="117">
                    <c:v>2015-08-07</c:v>
                  </c:pt>
                  <c:pt idx="118">
                    <c:v>2015-08-12</c:v>
                  </c:pt>
                  <c:pt idx="119">
                    <c:v>2015-08-17</c:v>
                  </c:pt>
                  <c:pt idx="120">
                    <c:v>2015-08-22</c:v>
                  </c:pt>
                  <c:pt idx="121">
                    <c:v>2015-08-27</c:v>
                  </c:pt>
                  <c:pt idx="122">
                    <c:v>2015-09-01</c:v>
                  </c:pt>
                  <c:pt idx="123">
                    <c:v>2015-09-06</c:v>
                  </c:pt>
                  <c:pt idx="124">
                    <c:v>2015-09-11</c:v>
                  </c:pt>
                  <c:pt idx="125">
                    <c:v>2015-09-16</c:v>
                  </c:pt>
                  <c:pt idx="126">
                    <c:v>2015-09-21</c:v>
                  </c:pt>
                  <c:pt idx="127">
                    <c:v>2015-09-26</c:v>
                  </c:pt>
                  <c:pt idx="128">
                    <c:v>2015-10-01</c:v>
                  </c:pt>
                  <c:pt idx="129">
                    <c:v>2015-10-06</c:v>
                  </c:pt>
                  <c:pt idx="130">
                    <c:v>2015-10-11</c:v>
                  </c:pt>
                  <c:pt idx="131">
                    <c:v>2015-10-16</c:v>
                  </c:pt>
                  <c:pt idx="132">
                    <c:v>2015-10-21</c:v>
                  </c:pt>
                  <c:pt idx="133">
                    <c:v>2015-10-26</c:v>
                  </c:pt>
                  <c:pt idx="134">
                    <c:v>2015-10-31</c:v>
                  </c:pt>
                  <c:pt idx="135">
                    <c:v>2015-11-05</c:v>
                  </c:pt>
                  <c:pt idx="136">
                    <c:v>2015-11-10</c:v>
                  </c:pt>
                  <c:pt idx="137">
                    <c:v>2015-11-15</c:v>
                  </c:pt>
                  <c:pt idx="138">
                    <c:v>2015-11-20</c:v>
                  </c:pt>
                  <c:pt idx="139">
                    <c:v>2015-11-25</c:v>
                  </c:pt>
                  <c:pt idx="140">
                    <c:v>2015-11-30</c:v>
                  </c:pt>
                  <c:pt idx="141">
                    <c:v>2015-12-05</c:v>
                  </c:pt>
                  <c:pt idx="142">
                    <c:v>2015-12-10</c:v>
                  </c:pt>
                  <c:pt idx="143">
                    <c:v>2015-12-15</c:v>
                  </c:pt>
                  <c:pt idx="144">
                    <c:v>2015-12-20</c:v>
                  </c:pt>
                  <c:pt idx="145">
                    <c:v>2015-12-25</c:v>
                  </c:pt>
                  <c:pt idx="146">
                    <c:v>2015-12-30</c:v>
                  </c:pt>
                  <c:pt idx="147">
                    <c:v>2016-01-04</c:v>
                  </c:pt>
                  <c:pt idx="148">
                    <c:v>2016-01-09</c:v>
                  </c:pt>
                  <c:pt idx="149">
                    <c:v>2016-01-14</c:v>
                  </c:pt>
                  <c:pt idx="150">
                    <c:v>2016-01-19</c:v>
                  </c:pt>
                  <c:pt idx="151">
                    <c:v>2016-01-24</c:v>
                  </c:pt>
                  <c:pt idx="152">
                    <c:v>2016-01-29</c:v>
                  </c:pt>
                  <c:pt idx="153">
                    <c:v>2016-02-03</c:v>
                  </c:pt>
                  <c:pt idx="154">
                    <c:v>2016-02-08</c:v>
                  </c:pt>
                  <c:pt idx="155">
                    <c:v>2016-02-13</c:v>
                  </c:pt>
                  <c:pt idx="156">
                    <c:v>2016-02-18</c:v>
                  </c:pt>
                  <c:pt idx="157">
                    <c:v>2016-02-23</c:v>
                  </c:pt>
                  <c:pt idx="158">
                    <c:v>2016-02-28</c:v>
                  </c:pt>
                  <c:pt idx="159">
                    <c:v>2016-03-04</c:v>
                  </c:pt>
                  <c:pt idx="160">
                    <c:v>2016-03-09</c:v>
                  </c:pt>
                  <c:pt idx="161">
                    <c:v>2016-03-14</c:v>
                  </c:pt>
                  <c:pt idx="162">
                    <c:v>2016-03-19</c:v>
                  </c:pt>
                  <c:pt idx="163">
                    <c:v>2016-03-24</c:v>
                  </c:pt>
                  <c:pt idx="164">
                    <c:v>2016-03-29</c:v>
                  </c:pt>
                  <c:pt idx="165">
                    <c:v>2016-04-03</c:v>
                  </c:pt>
                  <c:pt idx="166">
                    <c:v>2016-04-08</c:v>
                  </c:pt>
                  <c:pt idx="167">
                    <c:v>2016-04-13</c:v>
                  </c:pt>
                  <c:pt idx="168">
                    <c:v>2016-04-18</c:v>
                  </c:pt>
                  <c:pt idx="169">
                    <c:v>2016-04-23</c:v>
                  </c:pt>
                  <c:pt idx="170">
                    <c:v>2016-04-28</c:v>
                  </c:pt>
                  <c:pt idx="171">
                    <c:v>2016-05-03</c:v>
                  </c:pt>
                  <c:pt idx="172">
                    <c:v>2016-05-08</c:v>
                  </c:pt>
                  <c:pt idx="173">
                    <c:v>2016-05-13</c:v>
                  </c:pt>
                  <c:pt idx="174">
                    <c:v>2016-05-18</c:v>
                  </c:pt>
                  <c:pt idx="175">
                    <c:v>2016-05-23</c:v>
                  </c:pt>
                  <c:pt idx="176">
                    <c:v>2016-05-28</c:v>
                  </c:pt>
                  <c:pt idx="177">
                    <c:v>2016-06-02</c:v>
                  </c:pt>
                  <c:pt idx="178">
                    <c:v>2016-06-07</c:v>
                  </c:pt>
                  <c:pt idx="179">
                    <c:v>2016-06-12</c:v>
                  </c:pt>
                  <c:pt idx="180">
                    <c:v>2016-06-17</c:v>
                  </c:pt>
                  <c:pt idx="181">
                    <c:v>2016-06-22</c:v>
                  </c:pt>
                  <c:pt idx="182">
                    <c:v>2016-06-27</c:v>
                  </c:pt>
                  <c:pt idx="183">
                    <c:v>2016-07-02</c:v>
                  </c:pt>
                  <c:pt idx="184">
                    <c:v>2016-07-07</c:v>
                  </c:pt>
                  <c:pt idx="185">
                    <c:v>2016-07-12</c:v>
                  </c:pt>
                  <c:pt idx="186">
                    <c:v>2016-07-17</c:v>
                  </c:pt>
                  <c:pt idx="187">
                    <c:v>2016-07-22</c:v>
                  </c:pt>
                  <c:pt idx="188">
                    <c:v>2016-07-27</c:v>
                  </c:pt>
                  <c:pt idx="189">
                    <c:v>2016-08-01</c:v>
                  </c:pt>
                  <c:pt idx="190">
                    <c:v>2016-08-06</c:v>
                  </c:pt>
                  <c:pt idx="191">
                    <c:v>2016-08-11</c:v>
                  </c:pt>
                  <c:pt idx="192">
                    <c:v>2016-08-16</c:v>
                  </c:pt>
                  <c:pt idx="193">
                    <c:v>2016-08-21</c:v>
                  </c:pt>
                  <c:pt idx="194">
                    <c:v>2016-08-26</c:v>
                  </c:pt>
                  <c:pt idx="195">
                    <c:v>2016-08-31</c:v>
                  </c:pt>
                  <c:pt idx="196">
                    <c:v>2016-09-05</c:v>
                  </c:pt>
                  <c:pt idx="197">
                    <c:v>2016-09-10</c:v>
                  </c:pt>
                  <c:pt idx="198">
                    <c:v>2016-09-15</c:v>
                  </c:pt>
                  <c:pt idx="199">
                    <c:v>2016-09-20</c:v>
                  </c:pt>
                  <c:pt idx="200">
                    <c:v>2016-09-25</c:v>
                  </c:pt>
                  <c:pt idx="201">
                    <c:v>2016-09-30</c:v>
                  </c:pt>
                  <c:pt idx="202">
                    <c:v>2016-10-05</c:v>
                  </c:pt>
                  <c:pt idx="203">
                    <c:v>2016-10-10</c:v>
                  </c:pt>
                  <c:pt idx="204">
                    <c:v>2016-10-15</c:v>
                  </c:pt>
                  <c:pt idx="205">
                    <c:v>2016-10-20</c:v>
                  </c:pt>
                  <c:pt idx="206">
                    <c:v>2016-10-25</c:v>
                  </c:pt>
                  <c:pt idx="207">
                    <c:v>2016-10-30</c:v>
                  </c:pt>
                  <c:pt idx="208">
                    <c:v>2016-11-04</c:v>
                  </c:pt>
                  <c:pt idx="209">
                    <c:v>2016-11-09</c:v>
                  </c:pt>
                  <c:pt idx="210">
                    <c:v>2016-11-14</c:v>
                  </c:pt>
                </c:lvl>
              </c:multiLvlStrCache>
            </c:multiLvlStrRef>
          </c:cat>
          <c:val>
            <c:numRef>
              <c:f>Sheet1!$B$2:$B$212</c:f>
              <c:numCache>
                <c:formatCode>General</c:formatCode>
                <c:ptCount val="211"/>
                <c:pt idx="0">
                  <c:v>-2.74256893600747</c:v>
                </c:pt>
                <c:pt idx="1">
                  <c:v>-1.9927777111328016</c:v>
                </c:pt>
                <c:pt idx="2">
                  <c:v>-0.861646632227223</c:v>
                </c:pt>
                <c:pt idx="3">
                  <c:v>2.45046422866861</c:v>
                </c:pt>
                <c:pt idx="4">
                  <c:v>2.0781844230631865</c:v>
                </c:pt>
                <c:pt idx="5">
                  <c:v>1.758934076300627</c:v>
                </c:pt>
                <c:pt idx="6">
                  <c:v>1.5491992319609402</c:v>
                </c:pt>
                <c:pt idx="7">
                  <c:v>1.5257110189068632</c:v>
                </c:pt>
                <c:pt idx="8">
                  <c:v>-1.0486455355481072</c:v>
                </c:pt>
                <c:pt idx="9">
                  <c:v>-3.584878391215529</c:v>
                </c:pt>
                <c:pt idx="10">
                  <c:v>-1.066570837407009</c:v>
                </c:pt>
                <c:pt idx="11">
                  <c:v>-0.2066881675613286</c:v>
                </c:pt>
                <c:pt idx="12">
                  <c:v>-2.677938630278433</c:v>
                </c:pt>
                <c:pt idx="13">
                  <c:v>-4.060544335691389</c:v>
                </c:pt>
                <c:pt idx="14">
                  <c:v>-3.5219366917733024</c:v>
                </c:pt>
                <c:pt idx="15">
                  <c:v>-3.084908495240028</c:v>
                </c:pt>
                <c:pt idx="16">
                  <c:v>0.2537276529160958</c:v>
                </c:pt>
                <c:pt idx="17">
                  <c:v>4.144308479355142</c:v>
                </c:pt>
                <c:pt idx="18">
                  <c:v>2.1881467937123</c:v>
                </c:pt>
                <c:pt idx="19">
                  <c:v>1.6249320097383404</c:v>
                </c:pt>
                <c:pt idx="20">
                  <c:v>1.8452445477977943</c:v>
                </c:pt>
                <c:pt idx="21">
                  <c:v>-0.7854721154852421</c:v>
                </c:pt>
                <c:pt idx="22">
                  <c:v>-2.4665581696846743</c:v>
                </c:pt>
                <c:pt idx="23">
                  <c:v>-1.201966590186937</c:v>
                </c:pt>
                <c:pt idx="24">
                  <c:v>1.5782998216674502</c:v>
                </c:pt>
                <c:pt idx="25">
                  <c:v>2.31711931528134</c:v>
                </c:pt>
                <c:pt idx="26">
                  <c:v>0.3719207500019796</c:v>
                </c:pt>
                <c:pt idx="27">
                  <c:v>-6.345108530555805</c:v>
                </c:pt>
                <c:pt idx="28">
                  <c:v>-6.365889974333319</c:v>
                </c:pt>
                <c:pt idx="29">
                  <c:v>-3.8869645193947178</c:v>
                </c:pt>
                <c:pt idx="30">
                  <c:v>-3.723903901639951</c:v>
                </c:pt>
                <c:pt idx="31">
                  <c:v>-3.7660646203041424</c:v>
                </c:pt>
                <c:pt idx="32">
                  <c:v>-3.944971343390872</c:v>
                </c:pt>
                <c:pt idx="33">
                  <c:v>-3.6591490362944974</c:v>
                </c:pt>
                <c:pt idx="34">
                  <c:v>-4.010484864549347</c:v>
                </c:pt>
                <c:pt idx="35">
                  <c:v>-2.4633751806829287</c:v>
                </c:pt>
                <c:pt idx="36">
                  <c:v>2.4709071370524747</c:v>
                </c:pt>
                <c:pt idx="37">
                  <c:v>3.265882344946541</c:v>
                </c:pt>
                <c:pt idx="38">
                  <c:v>2.775188445803172</c:v>
                </c:pt>
                <c:pt idx="39">
                  <c:v>2.695058550837935</c:v>
                </c:pt>
                <c:pt idx="40">
                  <c:v>1.4571180509647588</c:v>
                </c:pt>
                <c:pt idx="41">
                  <c:v>0.2817785818897014</c:v>
                </c:pt>
                <c:pt idx="42">
                  <c:v>-2.260717047606234</c:v>
                </c:pt>
                <c:pt idx="43">
                  <c:v>-4.024467413749018</c:v>
                </c:pt>
                <c:pt idx="44">
                  <c:v>-1.7727521783578186</c:v>
                </c:pt>
                <c:pt idx="45">
                  <c:v>-1.6440420574913366</c:v>
                </c:pt>
                <c:pt idx="46">
                  <c:v>-3.845921953695602</c:v>
                </c:pt>
                <c:pt idx="47">
                  <c:v>-3.1092413538269907</c:v>
                </c:pt>
                <c:pt idx="48">
                  <c:v>-3.957921536107326</c:v>
                </c:pt>
                <c:pt idx="49">
                  <c:v>-10.612235318842847</c:v>
                </c:pt>
                <c:pt idx="50">
                  <c:v>-11.439107765724009</c:v>
                </c:pt>
                <c:pt idx="51">
                  <c:v>-5.673858963479217</c:v>
                </c:pt>
                <c:pt idx="52">
                  <c:v>1.843831203078684</c:v>
                </c:pt>
                <c:pt idx="53">
                  <c:v>1.595084534447318</c:v>
                </c:pt>
                <c:pt idx="54">
                  <c:v>-2.1454070107476024</c:v>
                </c:pt>
                <c:pt idx="55">
                  <c:v>-7.230857412291493</c:v>
                </c:pt>
                <c:pt idx="56">
                  <c:v>-7.55671337284285</c:v>
                </c:pt>
                <c:pt idx="57">
                  <c:v>1.3718936664183528</c:v>
                </c:pt>
                <c:pt idx="58">
                  <c:v>4.823695002580728</c:v>
                </c:pt>
                <c:pt idx="59">
                  <c:v>3.442830399655808</c:v>
                </c:pt>
                <c:pt idx="60">
                  <c:v>2.8066512288716203</c:v>
                </c:pt>
                <c:pt idx="61">
                  <c:v>2.566863886827857</c:v>
                </c:pt>
                <c:pt idx="62">
                  <c:v>3.562534665954234</c:v>
                </c:pt>
                <c:pt idx="63">
                  <c:v>4.082141215769993</c:v>
                </c:pt>
                <c:pt idx="64">
                  <c:v>2.3093066677126663</c:v>
                </c:pt>
                <c:pt idx="65">
                  <c:v>2.197675725050035</c:v>
                </c:pt>
                <c:pt idx="66">
                  <c:v>9.7804707112793</c:v>
                </c:pt>
                <c:pt idx="67">
                  <c:v>11.795797148071197</c:v>
                </c:pt>
                <c:pt idx="68">
                  <c:v>4.540751961514596</c:v>
                </c:pt>
                <c:pt idx="69">
                  <c:v>-2.3649040766938194</c:v>
                </c:pt>
                <c:pt idx="70">
                  <c:v>-6.8795279828868825</c:v>
                </c:pt>
                <c:pt idx="71">
                  <c:v>-8.679101571247283</c:v>
                </c:pt>
                <c:pt idx="72">
                  <c:v>-5.491139350562051</c:v>
                </c:pt>
                <c:pt idx="73">
                  <c:v>-3.0033323914693946</c:v>
                </c:pt>
                <c:pt idx="74">
                  <c:v>-7.948145389422264</c:v>
                </c:pt>
                <c:pt idx="75">
                  <c:v>-5.9244246654039125</c:v>
                </c:pt>
                <c:pt idx="76">
                  <c:v>-2.0550444930557146</c:v>
                </c:pt>
                <c:pt idx="77">
                  <c:v>-1.682002980282905</c:v>
                </c:pt>
                <c:pt idx="78">
                  <c:v>-1.8052248725056643</c:v>
                </c:pt>
                <c:pt idx="79">
                  <c:v>-2.146505979687329</c:v>
                </c:pt>
                <c:pt idx="80">
                  <c:v>-1.867588780656757</c:v>
                </c:pt>
                <c:pt idx="81">
                  <c:v>-0.6029325042668571</c:v>
                </c:pt>
                <c:pt idx="82">
                  <c:v>-3.779175090903265</c:v>
                </c:pt>
                <c:pt idx="83">
                  <c:v>-6.429366409931137</c:v>
                </c:pt>
                <c:pt idx="84">
                  <c:v>-4.941506903759248</c:v>
                </c:pt>
                <c:pt idx="85">
                  <c:v>-4.892141690133771</c:v>
                </c:pt>
                <c:pt idx="86">
                  <c:v>-7.381026543544991</c:v>
                </c:pt>
                <c:pt idx="87">
                  <c:v>-4.350703030455579</c:v>
                </c:pt>
                <c:pt idx="88">
                  <c:v>0.6623520100573411</c:v>
                </c:pt>
                <c:pt idx="89">
                  <c:v>0.5876558196587736</c:v>
                </c:pt>
                <c:pt idx="90">
                  <c:v>-2.3071964792561936</c:v>
                </c:pt>
                <c:pt idx="91">
                  <c:v>-9.105833488337923</c:v>
                </c:pt>
                <c:pt idx="92">
                  <c:v>-8.815878253995676</c:v>
                </c:pt>
                <c:pt idx="93">
                  <c:v>-4.9777908940782485</c:v>
                </c:pt>
                <c:pt idx="94">
                  <c:v>0.6239819015040527</c:v>
                </c:pt>
                <c:pt idx="95">
                  <c:v>2.0803264831054094</c:v>
                </c:pt>
                <c:pt idx="96">
                  <c:v>0.370970143024572</c:v>
                </c:pt>
                <c:pt idx="97">
                  <c:v>-4.46009525329246</c:v>
                </c:pt>
                <c:pt idx="98">
                  <c:v>-5.626911584798093</c:v>
                </c:pt>
                <c:pt idx="99">
                  <c:v>-5.285444705349373</c:v>
                </c:pt>
                <c:pt idx="100">
                  <c:v>-7.654432719913491</c:v>
                </c:pt>
                <c:pt idx="101">
                  <c:v>-7.617602010372664</c:v>
                </c:pt>
                <c:pt idx="102">
                  <c:v>-5.988251625338825</c:v>
                </c:pt>
                <c:pt idx="103">
                  <c:v>-7.669854417507374</c:v>
                </c:pt>
                <c:pt idx="104">
                  <c:v>-7.683863920530419</c:v>
                </c:pt>
                <c:pt idx="105">
                  <c:v>-6.0877941639387405</c:v>
                </c:pt>
                <c:pt idx="106">
                  <c:v>1.9547901310008469</c:v>
                </c:pt>
                <c:pt idx="107">
                  <c:v>3.740495792613952</c:v>
                </c:pt>
                <c:pt idx="108">
                  <c:v>4.092800888146578</c:v>
                </c:pt>
                <c:pt idx="109">
                  <c:v>-3.2454575642159003</c:v>
                </c:pt>
                <c:pt idx="110">
                  <c:v>-6.180173604910968</c:v>
                </c:pt>
                <c:pt idx="111">
                  <c:v>-5.132529954224269</c:v>
                </c:pt>
                <c:pt idx="112">
                  <c:v>-2.0951425107349397</c:v>
                </c:pt>
                <c:pt idx="113">
                  <c:v>-2.3518191991079327</c:v>
                </c:pt>
                <c:pt idx="114">
                  <c:v>-2.684853910617741</c:v>
                </c:pt>
                <c:pt idx="115">
                  <c:v>-3.6399375635373</c:v>
                </c:pt>
                <c:pt idx="116">
                  <c:v>-3.5022636128343563</c:v>
                </c:pt>
                <c:pt idx="117">
                  <c:v>-3.116421909426659</c:v>
                </c:pt>
                <c:pt idx="118">
                  <c:v>-3.587481130451214</c:v>
                </c:pt>
                <c:pt idx="119">
                  <c:v>-4.671169580028686</c:v>
                </c:pt>
                <c:pt idx="120">
                  <c:v>-3.712119560001131</c:v>
                </c:pt>
                <c:pt idx="121">
                  <c:v>-6.0147390022454</c:v>
                </c:pt>
                <c:pt idx="122">
                  <c:v>-9.697196747142788</c:v>
                </c:pt>
                <c:pt idx="123">
                  <c:v>-8.012858108931699</c:v>
                </c:pt>
                <c:pt idx="124">
                  <c:v>-0.1095855707392202</c:v>
                </c:pt>
                <c:pt idx="125">
                  <c:v>5.262183332495133</c:v>
                </c:pt>
                <c:pt idx="126">
                  <c:v>5.432545509815753</c:v>
                </c:pt>
                <c:pt idx="127">
                  <c:v>-4.336113744325615</c:v>
                </c:pt>
                <c:pt idx="128">
                  <c:v>-13.492116598445053</c:v>
                </c:pt>
                <c:pt idx="129">
                  <c:v>-14.202271334734244</c:v>
                </c:pt>
                <c:pt idx="130">
                  <c:v>-1.8519670738242373</c:v>
                </c:pt>
                <c:pt idx="131">
                  <c:v>3.1411369154751325</c:v>
                </c:pt>
                <c:pt idx="132">
                  <c:v>3.138053250703184</c:v>
                </c:pt>
                <c:pt idx="133">
                  <c:v>-0.7768569805076003</c:v>
                </c:pt>
                <c:pt idx="134">
                  <c:v>-5.738721534715961</c:v>
                </c:pt>
                <c:pt idx="135">
                  <c:v>-6.010544678882361</c:v>
                </c:pt>
                <c:pt idx="136">
                  <c:v>-5.28812079110076</c:v>
                </c:pt>
                <c:pt idx="137">
                  <c:v>-7.371555041583333</c:v>
                </c:pt>
                <c:pt idx="138">
                  <c:v>-9.346819114186667</c:v>
                </c:pt>
                <c:pt idx="139">
                  <c:v>-7.154341222068672</c:v>
                </c:pt>
                <c:pt idx="140">
                  <c:v>-12.321845369361435</c:v>
                </c:pt>
                <c:pt idx="141">
                  <c:v>-9.640119925472913</c:v>
                </c:pt>
                <c:pt idx="142">
                  <c:v>-3.9243845445030914</c:v>
                </c:pt>
                <c:pt idx="143">
                  <c:v>-4.573493123444285</c:v>
                </c:pt>
                <c:pt idx="144">
                  <c:v>-7.101003772511911</c:v>
                </c:pt>
                <c:pt idx="145">
                  <c:v>-1.4590291188637288</c:v>
                </c:pt>
                <c:pt idx="146">
                  <c:v>2.5479517798183884</c:v>
                </c:pt>
                <c:pt idx="147">
                  <c:v>-8.845516910561882</c:v>
                </c:pt>
                <c:pt idx="148">
                  <c:v>0.2860415627652456</c:v>
                </c:pt>
                <c:pt idx="149">
                  <c:v>7.1958919866805005</c:v>
                </c:pt>
                <c:pt idx="150">
                  <c:v>7.1791726857082265</c:v>
                </c:pt>
                <c:pt idx="151">
                  <c:v>-3.122841288464921</c:v>
                </c:pt>
                <c:pt idx="152">
                  <c:v>-8.872910193641486</c:v>
                </c:pt>
                <c:pt idx="153">
                  <c:v>-8.34653722191412</c:v>
                </c:pt>
                <c:pt idx="154">
                  <c:v>-6.0694942169176285</c:v>
                </c:pt>
                <c:pt idx="155">
                  <c:v>7.412402659518655</c:v>
                </c:pt>
                <c:pt idx="156">
                  <c:v>9.8361332208236</c:v>
                </c:pt>
                <c:pt idx="157">
                  <c:v>6.1347550412069305</c:v>
                </c:pt>
                <c:pt idx="158">
                  <c:v>4.172549790194791</c:v>
                </c:pt>
                <c:pt idx="159">
                  <c:v>0.289853858718734</c:v>
                </c:pt>
                <c:pt idx="160">
                  <c:v>-0.7518669502201983</c:v>
                </c:pt>
                <c:pt idx="161">
                  <c:v>4.824800735483362</c:v>
                </c:pt>
                <c:pt idx="162">
                  <c:v>5.853290916130361</c:v>
                </c:pt>
                <c:pt idx="163">
                  <c:v>4.929246439054116</c:v>
                </c:pt>
                <c:pt idx="164">
                  <c:v>1.5493511990844655</c:v>
                </c:pt>
                <c:pt idx="165">
                  <c:v>-3.842373446419872</c:v>
                </c:pt>
                <c:pt idx="166">
                  <c:v>-2.91585873671439</c:v>
                </c:pt>
                <c:pt idx="167">
                  <c:v>-8.749515772277801</c:v>
                </c:pt>
                <c:pt idx="168">
                  <c:v>-6.23833019612478</c:v>
                </c:pt>
                <c:pt idx="169">
                  <c:v>-7.1760139029402366</c:v>
                </c:pt>
                <c:pt idx="170">
                  <c:v>-8.168453283445638</c:v>
                </c:pt>
                <c:pt idx="171">
                  <c:v>-7.533092891714747</c:v>
                </c:pt>
                <c:pt idx="172">
                  <c:v>-7.076067578026766</c:v>
                </c:pt>
                <c:pt idx="173">
                  <c:v>7.506671591318197</c:v>
                </c:pt>
                <c:pt idx="174">
                  <c:v>13.35474142997364</c:v>
                </c:pt>
                <c:pt idx="175">
                  <c:v>13.261484751434738</c:v>
                </c:pt>
                <c:pt idx="176">
                  <c:v>-0.2335659076138645</c:v>
                </c:pt>
                <c:pt idx="177">
                  <c:v>-6.1885893033671335</c:v>
                </c:pt>
                <c:pt idx="178">
                  <c:v>-3.348761620113168</c:v>
                </c:pt>
                <c:pt idx="179">
                  <c:v>-2.2794085693698647</c:v>
                </c:pt>
                <c:pt idx="180">
                  <c:v>-4.368830758052119</c:v>
                </c:pt>
                <c:pt idx="181">
                  <c:v>-1.47044311024904</c:v>
                </c:pt>
                <c:pt idx="182">
                  <c:v>-4.45415672073056</c:v>
                </c:pt>
                <c:pt idx="183">
                  <c:v>-8.180401014361204</c:v>
                </c:pt>
                <c:pt idx="184">
                  <c:v>-4.770753999040061</c:v>
                </c:pt>
                <c:pt idx="185">
                  <c:v>11.215900218162718</c:v>
                </c:pt>
                <c:pt idx="186">
                  <c:v>14.346695969231217</c:v>
                </c:pt>
                <c:pt idx="187">
                  <c:v>14.329519651041544</c:v>
                </c:pt>
                <c:pt idx="188">
                  <c:v>14.311164536975806</c:v>
                </c:pt>
                <c:pt idx="189">
                  <c:v>14.14689222439006</c:v>
                </c:pt>
                <c:pt idx="190">
                  <c:v>14.029069403882568</c:v>
                </c:pt>
                <c:pt idx="191">
                  <c:v>8.5276810882905</c:v>
                </c:pt>
                <c:pt idx="192">
                  <c:v>-4.759740161007307</c:v>
                </c:pt>
                <c:pt idx="193">
                  <c:v>-4.677331163801381</c:v>
                </c:pt>
                <c:pt idx="194">
                  <c:v>-2.827570526437356</c:v>
                </c:pt>
                <c:pt idx="195">
                  <c:v>-6.157927843255616</c:v>
                </c:pt>
                <c:pt idx="196">
                  <c:v>-6.176813584421078</c:v>
                </c:pt>
                <c:pt idx="197">
                  <c:v>4.052968632194314</c:v>
                </c:pt>
                <c:pt idx="198">
                  <c:v>10.082375928648515</c:v>
                </c:pt>
                <c:pt idx="199">
                  <c:v>10.450654703324108</c:v>
                </c:pt>
                <c:pt idx="200">
                  <c:v>10.48659775447484</c:v>
                </c:pt>
                <c:pt idx="201">
                  <c:v>7.3479115855337716</c:v>
                </c:pt>
                <c:pt idx="202">
                  <c:v>6.9572980528244015</c:v>
                </c:pt>
                <c:pt idx="203">
                  <c:v>11.722644535554382</c:v>
                </c:pt>
                <c:pt idx="204">
                  <c:v>11.074771428016792</c:v>
                </c:pt>
                <c:pt idx="205">
                  <c:v>9.504635188578678</c:v>
                </c:pt>
                <c:pt idx="206">
                  <c:v>9.53148003363943</c:v>
                </c:pt>
                <c:pt idx="207">
                  <c:v>9.741082305720791</c:v>
                </c:pt>
                <c:pt idx="208">
                  <c:v>9.855871636654609</c:v>
                </c:pt>
                <c:pt idx="209">
                  <c:v>6.278176083373315</c:v>
                </c:pt>
                <c:pt idx="210">
                  <c:v>5.397238947144444</c:v>
                </c:pt>
              </c:numCache>
            </c:numRef>
          </c:val>
          <c:smooth val="0"/>
        </c:ser>
        <c:ser>
          <c:idx val="1"/>
          <c:order val="1"/>
          <c:tx>
            <c:strRef>
              <c:f>Sheet1!$C$1</c:f>
              <c:strCache>
                <c:ptCount val="1"/>
                <c:pt idx="0">
                  <c:v>30-day avg GP margin</c:v>
                </c:pt>
              </c:strCache>
            </c:strRef>
          </c:tx>
          <c:spPr>
            <a:solidFill>
              <a:srgbClr val="9C3B2E"/>
            </a:solidFill>
            <a:ln w="19050" cap="flat">
              <a:solidFill>
                <a:srgbClr val="9C3B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C3B2E"/>
              </a:solidFill>
              <a:ln w="9525" cap="flat">
                <a:solidFill>
                  <a:srgbClr val="9C3B2E"/>
                </a:solidFill>
                <a:prstDash val="solid"/>
                <a:round/>
              </a:ln>
              <a:effectLst/>
            </c:spPr>
          </c:marker>
          <c:cat>
            <c:multiLvlStrRef>
              <c:f>Sheet1!$A$2:$A$212</c:f>
              <c:multiLvlStrCache>
                <c:ptCount val="211"/>
                <c:lvl>
                  <c:pt idx="0">
                    <c:v>2013-12-30</c:v>
                  </c:pt>
                  <c:pt idx="1">
                    <c:v>2014-01-04</c:v>
                  </c:pt>
                  <c:pt idx="2">
                    <c:v>2014-01-09</c:v>
                  </c:pt>
                  <c:pt idx="3">
                    <c:v>2014-01-14</c:v>
                  </c:pt>
                  <c:pt idx="4">
                    <c:v>2014-01-19</c:v>
                  </c:pt>
                  <c:pt idx="5">
                    <c:v>2014-01-24</c:v>
                  </c:pt>
                  <c:pt idx="6">
                    <c:v>2014-01-29</c:v>
                  </c:pt>
                  <c:pt idx="7">
                    <c:v>2014-02-03</c:v>
                  </c:pt>
                  <c:pt idx="8">
                    <c:v>2014-02-08</c:v>
                  </c:pt>
                  <c:pt idx="9">
                    <c:v>2014-02-13</c:v>
                  </c:pt>
                  <c:pt idx="10">
                    <c:v>2014-02-18</c:v>
                  </c:pt>
                  <c:pt idx="11">
                    <c:v>2014-02-23</c:v>
                  </c:pt>
                  <c:pt idx="12">
                    <c:v>2014-02-28</c:v>
                  </c:pt>
                  <c:pt idx="13">
                    <c:v>2014-03-05</c:v>
                  </c:pt>
                  <c:pt idx="14">
                    <c:v>2014-03-10</c:v>
                  </c:pt>
                  <c:pt idx="15">
                    <c:v>2014-03-15</c:v>
                  </c:pt>
                  <c:pt idx="16">
                    <c:v>2014-03-20</c:v>
                  </c:pt>
                  <c:pt idx="17">
                    <c:v>2014-03-25</c:v>
                  </c:pt>
                  <c:pt idx="18">
                    <c:v>2014-03-30</c:v>
                  </c:pt>
                  <c:pt idx="19">
                    <c:v>2014-04-04</c:v>
                  </c:pt>
                  <c:pt idx="20">
                    <c:v>2014-04-09</c:v>
                  </c:pt>
                  <c:pt idx="21">
                    <c:v>2014-04-14</c:v>
                  </c:pt>
                  <c:pt idx="22">
                    <c:v>2014-04-19</c:v>
                  </c:pt>
                  <c:pt idx="23">
                    <c:v>2014-04-24</c:v>
                  </c:pt>
                  <c:pt idx="24">
                    <c:v>2014-04-29</c:v>
                  </c:pt>
                  <c:pt idx="25">
                    <c:v>2014-05-04</c:v>
                  </c:pt>
                  <c:pt idx="26">
                    <c:v>2014-05-09</c:v>
                  </c:pt>
                  <c:pt idx="27">
                    <c:v>2014-05-14</c:v>
                  </c:pt>
                  <c:pt idx="28">
                    <c:v>2014-05-19</c:v>
                  </c:pt>
                  <c:pt idx="29">
                    <c:v>2014-05-24</c:v>
                  </c:pt>
                  <c:pt idx="30">
                    <c:v>2014-05-29</c:v>
                  </c:pt>
                  <c:pt idx="31">
                    <c:v>2014-06-03</c:v>
                  </c:pt>
                  <c:pt idx="32">
                    <c:v>2014-06-08</c:v>
                  </c:pt>
                  <c:pt idx="33">
                    <c:v>2014-06-13</c:v>
                  </c:pt>
                  <c:pt idx="34">
                    <c:v>2014-06-18</c:v>
                  </c:pt>
                  <c:pt idx="35">
                    <c:v>2014-06-23</c:v>
                  </c:pt>
                  <c:pt idx="36">
                    <c:v>2014-06-28</c:v>
                  </c:pt>
                  <c:pt idx="37">
                    <c:v>2014-07-03</c:v>
                  </c:pt>
                  <c:pt idx="38">
                    <c:v>2014-07-08</c:v>
                  </c:pt>
                  <c:pt idx="39">
                    <c:v>2014-07-13</c:v>
                  </c:pt>
                  <c:pt idx="40">
                    <c:v>2014-07-18</c:v>
                  </c:pt>
                  <c:pt idx="41">
                    <c:v>2014-07-23</c:v>
                  </c:pt>
                  <c:pt idx="42">
                    <c:v>2014-07-28</c:v>
                  </c:pt>
                  <c:pt idx="43">
                    <c:v>2014-08-02</c:v>
                  </c:pt>
                  <c:pt idx="44">
                    <c:v>2014-08-07</c:v>
                  </c:pt>
                  <c:pt idx="45">
                    <c:v>2014-08-12</c:v>
                  </c:pt>
                  <c:pt idx="46">
                    <c:v>2014-08-17</c:v>
                  </c:pt>
                  <c:pt idx="47">
                    <c:v>2014-08-22</c:v>
                  </c:pt>
                  <c:pt idx="48">
                    <c:v>2014-08-27</c:v>
                  </c:pt>
                  <c:pt idx="49">
                    <c:v>2014-09-01</c:v>
                  </c:pt>
                  <c:pt idx="50">
                    <c:v>2014-09-06</c:v>
                  </c:pt>
                  <c:pt idx="51">
                    <c:v>2014-09-11</c:v>
                  </c:pt>
                  <c:pt idx="52">
                    <c:v>2014-09-16</c:v>
                  </c:pt>
                  <c:pt idx="53">
                    <c:v>2014-09-21</c:v>
                  </c:pt>
                  <c:pt idx="54">
                    <c:v>2014-09-26</c:v>
                  </c:pt>
                  <c:pt idx="55">
                    <c:v>2014-10-01</c:v>
                  </c:pt>
                  <c:pt idx="56">
                    <c:v>2014-10-06</c:v>
                  </c:pt>
                  <c:pt idx="57">
                    <c:v>2014-10-11</c:v>
                  </c:pt>
                  <c:pt idx="58">
                    <c:v>2014-10-16</c:v>
                  </c:pt>
                  <c:pt idx="59">
                    <c:v>2014-10-21</c:v>
                  </c:pt>
                  <c:pt idx="60">
                    <c:v>2014-10-26</c:v>
                  </c:pt>
                  <c:pt idx="61">
                    <c:v>2014-10-31</c:v>
                  </c:pt>
                  <c:pt idx="62">
                    <c:v>2014-11-05</c:v>
                  </c:pt>
                  <c:pt idx="63">
                    <c:v>2014-11-10</c:v>
                  </c:pt>
                  <c:pt idx="64">
                    <c:v>2014-11-15</c:v>
                  </c:pt>
                  <c:pt idx="65">
                    <c:v>2014-11-20</c:v>
                  </c:pt>
                  <c:pt idx="66">
                    <c:v>2014-11-25</c:v>
                  </c:pt>
                  <c:pt idx="67">
                    <c:v>2014-11-30</c:v>
                  </c:pt>
                  <c:pt idx="68">
                    <c:v>2014-12-05</c:v>
                  </c:pt>
                  <c:pt idx="69">
                    <c:v>2014-12-10</c:v>
                  </c:pt>
                  <c:pt idx="70">
                    <c:v>2014-12-15</c:v>
                  </c:pt>
                  <c:pt idx="71">
                    <c:v>2014-12-20</c:v>
                  </c:pt>
                  <c:pt idx="72">
                    <c:v>2014-12-25</c:v>
                  </c:pt>
                  <c:pt idx="73">
                    <c:v>2014-12-30</c:v>
                  </c:pt>
                  <c:pt idx="74">
                    <c:v>2015-01-04</c:v>
                  </c:pt>
                  <c:pt idx="75">
                    <c:v>2015-01-09</c:v>
                  </c:pt>
                  <c:pt idx="76">
                    <c:v>2015-01-14</c:v>
                  </c:pt>
                  <c:pt idx="77">
                    <c:v>2015-01-19</c:v>
                  </c:pt>
                  <c:pt idx="78">
                    <c:v>2015-01-24</c:v>
                  </c:pt>
                  <c:pt idx="79">
                    <c:v>2015-01-29</c:v>
                  </c:pt>
                  <c:pt idx="80">
                    <c:v>2015-02-03</c:v>
                  </c:pt>
                  <c:pt idx="81">
                    <c:v>2015-02-08</c:v>
                  </c:pt>
                  <c:pt idx="82">
                    <c:v>2015-02-13</c:v>
                  </c:pt>
                  <c:pt idx="83">
                    <c:v>2015-02-18</c:v>
                  </c:pt>
                  <c:pt idx="84">
                    <c:v>2015-02-23</c:v>
                  </c:pt>
                  <c:pt idx="85">
                    <c:v>2015-02-28</c:v>
                  </c:pt>
                  <c:pt idx="86">
                    <c:v>2015-03-05</c:v>
                  </c:pt>
                  <c:pt idx="87">
                    <c:v>2015-03-10</c:v>
                  </c:pt>
                  <c:pt idx="88">
                    <c:v>2015-03-15</c:v>
                  </c:pt>
                  <c:pt idx="89">
                    <c:v>2015-03-20</c:v>
                  </c:pt>
                  <c:pt idx="90">
                    <c:v>2015-03-25</c:v>
                  </c:pt>
                  <c:pt idx="91">
                    <c:v>2015-03-30</c:v>
                  </c:pt>
                  <c:pt idx="92">
                    <c:v>2015-04-04</c:v>
                  </c:pt>
                  <c:pt idx="93">
                    <c:v>2015-04-09</c:v>
                  </c:pt>
                  <c:pt idx="94">
                    <c:v>2015-04-14</c:v>
                  </c:pt>
                  <c:pt idx="95">
                    <c:v>2015-04-19</c:v>
                  </c:pt>
                  <c:pt idx="96">
                    <c:v>2015-04-24</c:v>
                  </c:pt>
                  <c:pt idx="97">
                    <c:v>2015-04-29</c:v>
                  </c:pt>
                  <c:pt idx="98">
                    <c:v>2015-05-04</c:v>
                  </c:pt>
                  <c:pt idx="99">
                    <c:v>2015-05-09</c:v>
                  </c:pt>
                  <c:pt idx="100">
                    <c:v>2015-05-14</c:v>
                  </c:pt>
                  <c:pt idx="101">
                    <c:v>2015-05-19</c:v>
                  </c:pt>
                  <c:pt idx="102">
                    <c:v>2015-05-24</c:v>
                  </c:pt>
                  <c:pt idx="103">
                    <c:v>2015-05-29</c:v>
                  </c:pt>
                  <c:pt idx="104">
                    <c:v>2015-06-03</c:v>
                  </c:pt>
                  <c:pt idx="105">
                    <c:v>2015-06-08</c:v>
                  </c:pt>
                  <c:pt idx="106">
                    <c:v>2015-06-13</c:v>
                  </c:pt>
                  <c:pt idx="107">
                    <c:v>2015-06-18</c:v>
                  </c:pt>
                  <c:pt idx="108">
                    <c:v>2015-06-23</c:v>
                  </c:pt>
                  <c:pt idx="109">
                    <c:v>2015-06-28</c:v>
                  </c:pt>
                  <c:pt idx="110">
                    <c:v>2015-07-03</c:v>
                  </c:pt>
                  <c:pt idx="111">
                    <c:v>2015-07-08</c:v>
                  </c:pt>
                  <c:pt idx="112">
                    <c:v>2015-07-13</c:v>
                  </c:pt>
                  <c:pt idx="113">
                    <c:v>2015-07-18</c:v>
                  </c:pt>
                  <c:pt idx="114">
                    <c:v>2015-07-23</c:v>
                  </c:pt>
                  <c:pt idx="115">
                    <c:v>2015-07-28</c:v>
                  </c:pt>
                  <c:pt idx="116">
                    <c:v>2015-08-02</c:v>
                  </c:pt>
                  <c:pt idx="117">
                    <c:v>2015-08-07</c:v>
                  </c:pt>
                  <c:pt idx="118">
                    <c:v>2015-08-12</c:v>
                  </c:pt>
                  <c:pt idx="119">
                    <c:v>2015-08-17</c:v>
                  </c:pt>
                  <c:pt idx="120">
                    <c:v>2015-08-22</c:v>
                  </c:pt>
                  <c:pt idx="121">
                    <c:v>2015-08-27</c:v>
                  </c:pt>
                  <c:pt idx="122">
                    <c:v>2015-09-01</c:v>
                  </c:pt>
                  <c:pt idx="123">
                    <c:v>2015-09-06</c:v>
                  </c:pt>
                  <c:pt idx="124">
                    <c:v>2015-09-11</c:v>
                  </c:pt>
                  <c:pt idx="125">
                    <c:v>2015-09-16</c:v>
                  </c:pt>
                  <c:pt idx="126">
                    <c:v>2015-09-21</c:v>
                  </c:pt>
                  <c:pt idx="127">
                    <c:v>2015-09-26</c:v>
                  </c:pt>
                  <c:pt idx="128">
                    <c:v>2015-10-01</c:v>
                  </c:pt>
                  <c:pt idx="129">
                    <c:v>2015-10-06</c:v>
                  </c:pt>
                  <c:pt idx="130">
                    <c:v>2015-10-11</c:v>
                  </c:pt>
                  <c:pt idx="131">
                    <c:v>2015-10-16</c:v>
                  </c:pt>
                  <c:pt idx="132">
                    <c:v>2015-10-21</c:v>
                  </c:pt>
                  <c:pt idx="133">
                    <c:v>2015-10-26</c:v>
                  </c:pt>
                  <c:pt idx="134">
                    <c:v>2015-10-31</c:v>
                  </c:pt>
                  <c:pt idx="135">
                    <c:v>2015-11-05</c:v>
                  </c:pt>
                  <c:pt idx="136">
                    <c:v>2015-11-10</c:v>
                  </c:pt>
                  <c:pt idx="137">
                    <c:v>2015-11-15</c:v>
                  </c:pt>
                  <c:pt idx="138">
                    <c:v>2015-11-20</c:v>
                  </c:pt>
                  <c:pt idx="139">
                    <c:v>2015-11-25</c:v>
                  </c:pt>
                  <c:pt idx="140">
                    <c:v>2015-11-30</c:v>
                  </c:pt>
                  <c:pt idx="141">
                    <c:v>2015-12-05</c:v>
                  </c:pt>
                  <c:pt idx="142">
                    <c:v>2015-12-10</c:v>
                  </c:pt>
                  <c:pt idx="143">
                    <c:v>2015-12-15</c:v>
                  </c:pt>
                  <c:pt idx="144">
                    <c:v>2015-12-20</c:v>
                  </c:pt>
                  <c:pt idx="145">
                    <c:v>2015-12-25</c:v>
                  </c:pt>
                  <c:pt idx="146">
                    <c:v>2015-12-30</c:v>
                  </c:pt>
                  <c:pt idx="147">
                    <c:v>2016-01-04</c:v>
                  </c:pt>
                  <c:pt idx="148">
                    <c:v>2016-01-09</c:v>
                  </c:pt>
                  <c:pt idx="149">
                    <c:v>2016-01-14</c:v>
                  </c:pt>
                  <c:pt idx="150">
                    <c:v>2016-01-19</c:v>
                  </c:pt>
                  <c:pt idx="151">
                    <c:v>2016-01-24</c:v>
                  </c:pt>
                  <c:pt idx="152">
                    <c:v>2016-01-29</c:v>
                  </c:pt>
                  <c:pt idx="153">
                    <c:v>2016-02-03</c:v>
                  </c:pt>
                  <c:pt idx="154">
                    <c:v>2016-02-08</c:v>
                  </c:pt>
                  <c:pt idx="155">
                    <c:v>2016-02-13</c:v>
                  </c:pt>
                  <c:pt idx="156">
                    <c:v>2016-02-18</c:v>
                  </c:pt>
                  <c:pt idx="157">
                    <c:v>2016-02-23</c:v>
                  </c:pt>
                  <c:pt idx="158">
                    <c:v>2016-02-28</c:v>
                  </c:pt>
                  <c:pt idx="159">
                    <c:v>2016-03-04</c:v>
                  </c:pt>
                  <c:pt idx="160">
                    <c:v>2016-03-09</c:v>
                  </c:pt>
                  <c:pt idx="161">
                    <c:v>2016-03-14</c:v>
                  </c:pt>
                  <c:pt idx="162">
                    <c:v>2016-03-19</c:v>
                  </c:pt>
                  <c:pt idx="163">
                    <c:v>2016-03-24</c:v>
                  </c:pt>
                  <c:pt idx="164">
                    <c:v>2016-03-29</c:v>
                  </c:pt>
                  <c:pt idx="165">
                    <c:v>2016-04-03</c:v>
                  </c:pt>
                  <c:pt idx="166">
                    <c:v>2016-04-08</c:v>
                  </c:pt>
                  <c:pt idx="167">
                    <c:v>2016-04-13</c:v>
                  </c:pt>
                  <c:pt idx="168">
                    <c:v>2016-04-18</c:v>
                  </c:pt>
                  <c:pt idx="169">
                    <c:v>2016-04-23</c:v>
                  </c:pt>
                  <c:pt idx="170">
                    <c:v>2016-04-28</c:v>
                  </c:pt>
                  <c:pt idx="171">
                    <c:v>2016-05-03</c:v>
                  </c:pt>
                  <c:pt idx="172">
                    <c:v>2016-05-08</c:v>
                  </c:pt>
                  <c:pt idx="173">
                    <c:v>2016-05-13</c:v>
                  </c:pt>
                  <c:pt idx="174">
                    <c:v>2016-05-18</c:v>
                  </c:pt>
                  <c:pt idx="175">
                    <c:v>2016-05-23</c:v>
                  </c:pt>
                  <c:pt idx="176">
                    <c:v>2016-05-28</c:v>
                  </c:pt>
                  <c:pt idx="177">
                    <c:v>2016-06-02</c:v>
                  </c:pt>
                  <c:pt idx="178">
                    <c:v>2016-06-07</c:v>
                  </c:pt>
                  <c:pt idx="179">
                    <c:v>2016-06-12</c:v>
                  </c:pt>
                  <c:pt idx="180">
                    <c:v>2016-06-17</c:v>
                  </c:pt>
                  <c:pt idx="181">
                    <c:v>2016-06-22</c:v>
                  </c:pt>
                  <c:pt idx="182">
                    <c:v>2016-06-27</c:v>
                  </c:pt>
                  <c:pt idx="183">
                    <c:v>2016-07-02</c:v>
                  </c:pt>
                  <c:pt idx="184">
                    <c:v>2016-07-07</c:v>
                  </c:pt>
                  <c:pt idx="185">
                    <c:v>2016-07-12</c:v>
                  </c:pt>
                  <c:pt idx="186">
                    <c:v>2016-07-17</c:v>
                  </c:pt>
                  <c:pt idx="187">
                    <c:v>2016-07-22</c:v>
                  </c:pt>
                  <c:pt idx="188">
                    <c:v>2016-07-27</c:v>
                  </c:pt>
                  <c:pt idx="189">
                    <c:v>2016-08-01</c:v>
                  </c:pt>
                  <c:pt idx="190">
                    <c:v>2016-08-06</c:v>
                  </c:pt>
                  <c:pt idx="191">
                    <c:v>2016-08-11</c:v>
                  </c:pt>
                  <c:pt idx="192">
                    <c:v>2016-08-16</c:v>
                  </c:pt>
                  <c:pt idx="193">
                    <c:v>2016-08-21</c:v>
                  </c:pt>
                  <c:pt idx="194">
                    <c:v>2016-08-26</c:v>
                  </c:pt>
                  <c:pt idx="195">
                    <c:v>2016-08-31</c:v>
                  </c:pt>
                  <c:pt idx="196">
                    <c:v>2016-09-05</c:v>
                  </c:pt>
                  <c:pt idx="197">
                    <c:v>2016-09-10</c:v>
                  </c:pt>
                  <c:pt idx="198">
                    <c:v>2016-09-15</c:v>
                  </c:pt>
                  <c:pt idx="199">
                    <c:v>2016-09-20</c:v>
                  </c:pt>
                  <c:pt idx="200">
                    <c:v>2016-09-25</c:v>
                  </c:pt>
                  <c:pt idx="201">
                    <c:v>2016-09-30</c:v>
                  </c:pt>
                  <c:pt idx="202">
                    <c:v>2016-10-05</c:v>
                  </c:pt>
                  <c:pt idx="203">
                    <c:v>2016-10-10</c:v>
                  </c:pt>
                  <c:pt idx="204">
                    <c:v>2016-10-15</c:v>
                  </c:pt>
                  <c:pt idx="205">
                    <c:v>2016-10-20</c:v>
                  </c:pt>
                  <c:pt idx="206">
                    <c:v>2016-10-25</c:v>
                  </c:pt>
                  <c:pt idx="207">
                    <c:v>2016-10-30</c:v>
                  </c:pt>
                  <c:pt idx="208">
                    <c:v>2016-11-04</c:v>
                  </c:pt>
                  <c:pt idx="209">
                    <c:v>2016-11-09</c:v>
                  </c:pt>
                  <c:pt idx="210">
                    <c:v>2016-11-14</c:v>
                  </c:pt>
                </c:lvl>
              </c:multiLvlStrCache>
            </c:multiLvlStrRef>
          </c:cat>
          <c:val>
            <c:numRef>
              <c:f>Sheet1!$C$2:$C$212</c:f>
              <c:numCache>
                <c:formatCode>General</c:formatCode>
                <c:ptCount val="211"/>
                <c:pt idx="0">
                  <c:v>-2.74256893600747</c:v>
                </c:pt>
                <c:pt idx="1">
                  <c:v>-1.9927777111328016</c:v>
                </c:pt>
                <c:pt idx="2">
                  <c:v>-1.2477416936491317</c:v>
                </c:pt>
                <c:pt idx="3">
                  <c:v>-0.1096018593493752</c:v>
                </c:pt>
                <c:pt idx="4">
                  <c:v>0.3788786811692738</c:v>
                </c:pt>
                <c:pt idx="5">
                  <c:v>0.6242553970528347</c:v>
                </c:pt>
                <c:pt idx="6">
                  <c:v>0.8750436910355608</c:v>
                </c:pt>
                <c:pt idx="7">
                  <c:v>1.4495168801812115</c:v>
                </c:pt>
                <c:pt idx="8">
                  <c:v>1.143431510904873</c:v>
                </c:pt>
                <c:pt idx="9">
                  <c:v>0.1845699700542536</c:v>
                </c:pt>
                <c:pt idx="10">
                  <c:v>-0.2514432317403611</c:v>
                </c:pt>
                <c:pt idx="11">
                  <c:v>-0.6569880183523241</c:v>
                </c:pt>
                <c:pt idx="12">
                  <c:v>-1.3525323197107049</c:v>
                </c:pt>
                <c:pt idx="13">
                  <c:v>-2.2330627206856373</c:v>
                </c:pt>
                <c:pt idx="14">
                  <c:v>-2.4084655944778888</c:v>
                </c:pt>
                <c:pt idx="15">
                  <c:v>-2.3036739101756285</c:v>
                </c:pt>
                <c:pt idx="16">
                  <c:v>-1.9367877803683609</c:v>
                </c:pt>
                <c:pt idx="17">
                  <c:v>-1.1378466196189243</c:v>
                </c:pt>
                <c:pt idx="18">
                  <c:v>-0.3973594895635685</c:v>
                </c:pt>
                <c:pt idx="19">
                  <c:v>0.4793000975017605</c:v>
                </c:pt>
                <c:pt idx="20">
                  <c:v>1.3647617674069126</c:v>
                </c:pt>
                <c:pt idx="21">
                  <c:v>1.4400027229008854</c:v>
                </c:pt>
                <c:pt idx="22">
                  <c:v>0.7619037720420608</c:v>
                </c:pt>
                <c:pt idx="23">
                  <c:v>-0.0167294877255501</c:v>
                </c:pt>
                <c:pt idx="24">
                  <c:v>-0.0880753009631629</c:v>
                </c:pt>
                <c:pt idx="25">
                  <c:v>0.1082275155130244</c:v>
                </c:pt>
                <c:pt idx="26">
                  <c:v>-0.3002882888164488</c:v>
                </c:pt>
                <c:pt idx="27">
                  <c:v>-1.2438003064728558</c:v>
                </c:pt>
                <c:pt idx="28">
                  <c:v>-1.7613634271058556</c:v>
                </c:pt>
                <c:pt idx="29">
                  <c:v>-2.2609538672744534</c:v>
                </c:pt>
                <c:pt idx="30">
                  <c:v>-3.067662789390944</c:v>
                </c:pt>
                <c:pt idx="31">
                  <c:v>-4.156670757266889</c:v>
                </c:pt>
                <c:pt idx="32">
                  <c:v>-4.757061074094347</c:v>
                </c:pt>
                <c:pt idx="33">
                  <c:v>-4.026968360255816</c:v>
                </c:pt>
                <c:pt idx="34">
                  <c:v>-3.772721298945729</c:v>
                </c:pt>
                <c:pt idx="35">
                  <c:v>-3.4608188947772547</c:v>
                </c:pt>
                <c:pt idx="36">
                  <c:v>-2.261311527883523</c:v>
                </c:pt>
                <c:pt idx="37">
                  <c:v>-1.0994530192467953</c:v>
                </c:pt>
                <c:pt idx="38">
                  <c:v>0.0218949110025791</c:v>
                </c:pt>
                <c:pt idx="39">
                  <c:v>1.057119263958575</c:v>
                </c:pt>
                <c:pt idx="40">
                  <c:v>1.9075419486892644</c:v>
                </c:pt>
                <c:pt idx="41">
                  <c:v>2.108482845315505</c:v>
                </c:pt>
                <c:pt idx="42">
                  <c:v>1.0504943410077003</c:v>
                </c:pt>
                <c:pt idx="43">
                  <c:v>-0.1490812900211003</c:v>
                </c:pt>
                <c:pt idx="44">
                  <c:v>-0.7539602824064896</c:v>
                </c:pt>
                <c:pt idx="45">
                  <c:v>-1.831564259801047</c:v>
                </c:pt>
                <c:pt idx="46">
                  <c:v>-2.6418572419181645</c:v>
                </c:pt>
                <c:pt idx="47">
                  <c:v>-3.004908822522941</c:v>
                </c:pt>
                <c:pt idx="48">
                  <c:v>-3.3539560468861933</c:v>
                </c:pt>
                <c:pt idx="49">
                  <c:v>-4.569891690992446</c:v>
                </c:pt>
                <c:pt idx="50">
                  <c:v>-6.335290132338311</c:v>
                </c:pt>
                <c:pt idx="51">
                  <c:v>-6.258579895382365</c:v>
                </c:pt>
                <c:pt idx="52">
                  <c:v>-5.317265394036885</c:v>
                </c:pt>
                <c:pt idx="53">
                  <c:v>-4.603357605358068</c:v>
                </c:pt>
                <c:pt idx="54">
                  <c:v>-4.401406074594825</c:v>
                </c:pt>
                <c:pt idx="55">
                  <c:v>-3.746193314938625</c:v>
                </c:pt>
                <c:pt idx="56">
                  <c:v>-3.095511318919361</c:v>
                </c:pt>
                <c:pt idx="57">
                  <c:v>-1.7107422915335182</c:v>
                </c:pt>
                <c:pt idx="58">
                  <c:v>-1.2134674076430605</c:v>
                </c:pt>
                <c:pt idx="59">
                  <c:v>-0.9650739351245388</c:v>
                </c:pt>
                <c:pt idx="60">
                  <c:v>0.0966068131634086</c:v>
                </c:pt>
                <c:pt idx="61">
                  <c:v>1.7305351879306978</c:v>
                </c:pt>
                <c:pt idx="62">
                  <c:v>3.689769745763751</c:v>
                </c:pt>
                <c:pt idx="63">
                  <c:v>3.3139915417499823</c:v>
                </c:pt>
                <c:pt idx="64">
                  <c:v>2.8720358739522687</c:v>
                </c:pt>
                <c:pt idx="65">
                  <c:v>2.749289918968498</c:v>
                </c:pt>
                <c:pt idx="66">
                  <c:v>4.423419547806674</c:v>
                </c:pt>
                <c:pt idx="67">
                  <c:v>5.9540100503364055</c:v>
                </c:pt>
                <c:pt idx="68">
                  <c:v>5.738522348701557</c:v>
                </c:pt>
                <c:pt idx="69">
                  <c:v>4.69533385136765</c:v>
                </c:pt>
                <c:pt idx="70">
                  <c:v>2.964980847197656</c:v>
                </c:pt>
                <c:pt idx="71">
                  <c:v>1.1006663177829046</c:v>
                </c:pt>
                <c:pt idx="72">
                  <c:v>-1.6959496008771824</c:v>
                </c:pt>
                <c:pt idx="73">
                  <c:v>-4.198477075963341</c:v>
                </c:pt>
                <c:pt idx="74">
                  <c:v>-6.169414125082003</c:v>
                </c:pt>
                <c:pt idx="75">
                  <c:v>-6.36187935087392</c:v>
                </c:pt>
                <c:pt idx="76">
                  <c:v>-5.323163815425667</c:v>
                </c:pt>
                <c:pt idx="77">
                  <c:v>-4.098889145055073</c:v>
                </c:pt>
                <c:pt idx="78">
                  <c:v>-3.771291186843027</c:v>
                </c:pt>
                <c:pt idx="79">
                  <c:v>-3.563453255296454</c:v>
                </c:pt>
                <c:pt idx="80">
                  <c:v>-2.366725385303813</c:v>
                </c:pt>
                <c:pt idx="81">
                  <c:v>-1.6178808550074395</c:v>
                </c:pt>
                <c:pt idx="82">
                  <c:v>-2.1657812015246733</c:v>
                </c:pt>
                <c:pt idx="83">
                  <c:v>-2.962299667965843</c:v>
                </c:pt>
                <c:pt idx="84">
                  <c:v>-3.377097775017955</c:v>
                </c:pt>
                <c:pt idx="85">
                  <c:v>-4.002925023114631</c:v>
                </c:pt>
                <c:pt idx="86">
                  <c:v>-5.014126515699668</c:v>
                </c:pt>
                <c:pt idx="87">
                  <c:v>-5.461557180648279</c:v>
                </c:pt>
                <c:pt idx="88">
                  <c:v>-4.462744854521122</c:v>
                </c:pt>
                <c:pt idx="89">
                  <c:v>-3.3092681417335883</c:v>
                </c:pt>
                <c:pt idx="90">
                  <c:v>-3.1361323958563285</c:v>
                </c:pt>
                <c:pt idx="91">
                  <c:v>-3.67312506646908</c:v>
                </c:pt>
                <c:pt idx="92">
                  <c:v>-3.8212310735718593</c:v>
                </c:pt>
                <c:pt idx="93">
                  <c:v>-3.924154784699792</c:v>
                </c:pt>
                <c:pt idx="94">
                  <c:v>-3.91064756646624</c:v>
                </c:pt>
                <c:pt idx="95">
                  <c:v>-3.6083334414955863</c:v>
                </c:pt>
                <c:pt idx="96">
                  <c:v>-3.1170941055831807</c:v>
                </c:pt>
                <c:pt idx="97">
                  <c:v>-2.557727123044971</c:v>
                </c:pt>
                <c:pt idx="98">
                  <c:v>-2.063725489491885</c:v>
                </c:pt>
                <c:pt idx="99">
                  <c:v>-2.362496433111057</c:v>
                </c:pt>
                <c:pt idx="100">
                  <c:v>-3.764182279030632</c:v>
                </c:pt>
                <c:pt idx="101">
                  <c:v>-5.428748416454121</c:v>
                </c:pt>
                <c:pt idx="102">
                  <c:v>-6.250849763996287</c:v>
                </c:pt>
                <c:pt idx="103">
                  <c:v>-6.569483203167838</c:v>
                </c:pt>
                <c:pt idx="104">
                  <c:v>-6.893376788313896</c:v>
                </c:pt>
                <c:pt idx="105">
                  <c:v>-6.915143603827497</c:v>
                </c:pt>
                <c:pt idx="106">
                  <c:v>-5.035529026064501</c:v>
                </c:pt>
                <c:pt idx="107">
                  <c:v>-3.1426868562805343</c:v>
                </c:pt>
                <c:pt idx="108">
                  <c:v>-1.5444411970332748</c:v>
                </c:pt>
                <c:pt idx="109">
                  <c:v>-1.302668627818516</c:v>
                </c:pt>
                <c:pt idx="110">
                  <c:v>-1.051818340860995</c:v>
                </c:pt>
                <c:pt idx="111">
                  <c:v>-0.9335262449182256</c:v>
                </c:pt>
                <c:pt idx="112">
                  <c:v>-1.8190205555176808</c:v>
                </c:pt>
                <c:pt idx="113">
                  <c:v>-2.8489107276326604</c:v>
                </c:pt>
                <c:pt idx="114">
                  <c:v>-3.996303481820885</c:v>
                </c:pt>
                <c:pt idx="115">
                  <c:v>-3.593943226000767</c:v>
                </c:pt>
                <c:pt idx="116">
                  <c:v>-3.125826632553383</c:v>
                </c:pt>
                <c:pt idx="117">
                  <c:v>-2.8588552597166674</c:v>
                </c:pt>
                <c:pt idx="118">
                  <c:v>-3.1997600429067927</c:v>
                </c:pt>
                <c:pt idx="119">
                  <c:v>-3.59702252178848</c:v>
                </c:pt>
                <c:pt idx="120">
                  <c:v>-3.685427455362016</c:v>
                </c:pt>
                <c:pt idx="121">
                  <c:v>-4.285184099681846</c:v>
                </c:pt>
                <c:pt idx="122">
                  <c:v>-5.250831467426326</c:v>
                </c:pt>
                <c:pt idx="123">
                  <c:v>-6.014983722291476</c:v>
                </c:pt>
                <c:pt idx="124">
                  <c:v>-4.9198923325464445</c:v>
                </c:pt>
                <c:pt idx="125">
                  <c:v>-3.275421272552075</c:v>
                </c:pt>
                <c:pt idx="126">
                  <c:v>-1.8008141606879515</c:v>
                </c:pt>
                <c:pt idx="127">
                  <c:v>-1.966349678549788</c:v>
                </c:pt>
                <c:pt idx="128">
                  <c:v>-2.734552347150752</c:v>
                </c:pt>
                <c:pt idx="129">
                  <c:v>-3.827464489972858</c:v>
                </c:pt>
                <c:pt idx="130">
                  <c:v>-3.773358367890007</c:v>
                </c:pt>
                <c:pt idx="131">
                  <c:v>-4.094258835214246</c:v>
                </c:pt>
                <c:pt idx="132">
                  <c:v>-4.5073040998284855</c:v>
                </c:pt>
                <c:pt idx="133">
                  <c:v>-3.4962051765953244</c:v>
                </c:pt>
                <c:pt idx="134">
                  <c:v>-2.2877250915174128</c:v>
                </c:pt>
                <c:pt idx="135">
                  <c:v>-0.839200025855543</c:v>
                </c:pt>
                <c:pt idx="136">
                  <c:v>-2.13656672867075</c:v>
                </c:pt>
                <c:pt idx="137">
                  <c:v>-4.218580937820787</c:v>
                </c:pt>
                <c:pt idx="138">
                  <c:v>-6.2973887022604185</c:v>
                </c:pt>
                <c:pt idx="139">
                  <c:v>-6.955842224695451</c:v>
                </c:pt>
                <c:pt idx="140">
                  <c:v>-8.115611136324574</c:v>
                </c:pt>
                <c:pt idx="141">
                  <c:v>-8.640547090850031</c:v>
                </c:pt>
                <c:pt idx="142">
                  <c:v>-8.210478469887967</c:v>
                </c:pt>
                <c:pt idx="143">
                  <c:v>-7.508091883854462</c:v>
                </c:pt>
                <c:pt idx="144">
                  <c:v>-7.237584865415459</c:v>
                </c:pt>
                <c:pt idx="145">
                  <c:v>-6.0255790034829335</c:v>
                </c:pt>
                <c:pt idx="146">
                  <c:v>-3.653064697489947</c:v>
                </c:pt>
                <c:pt idx="147">
                  <c:v>-3.6742903241559466</c:v>
                </c:pt>
                <c:pt idx="148">
                  <c:v>-2.666153016259779</c:v>
                </c:pt>
                <c:pt idx="149">
                  <c:v>-0.6078124396589936</c:v>
                </c:pt>
                <c:pt idx="150">
                  <c:v>1.872495272922096</c:v>
                </c:pt>
                <c:pt idx="151">
                  <c:v>0.5009057432421001</c:v>
                </c:pt>
                <c:pt idx="152">
                  <c:v>-1.0470203602273531</c:v>
                </c:pt>
                <c:pt idx="153">
                  <c:v>-0.9358649074836732</c:v>
                </c:pt>
                <c:pt idx="154">
                  <c:v>-2.601385864686989</c:v>
                </c:pt>
                <c:pt idx="155">
                  <c:v>-1.6691103578107047</c:v>
                </c:pt>
                <c:pt idx="156">
                  <c:v>-1.4245363148934038</c:v>
                </c:pt>
                <c:pt idx="157">
                  <c:v>1.006219587776141</c:v>
                </c:pt>
                <c:pt idx="158">
                  <c:v>2.7026589723260157</c:v>
                </c:pt>
                <c:pt idx="159">
                  <c:v>3.9199201826898</c:v>
                </c:pt>
                <c:pt idx="160">
                  <c:v>4.848237988328572</c:v>
                </c:pt>
                <c:pt idx="161">
                  <c:v>3.7281340394707</c:v>
                </c:pt>
                <c:pt idx="162">
                  <c:v>3.2602096973830235</c:v>
                </c:pt>
                <c:pt idx="163">
                  <c:v>2.800884847868121</c:v>
                </c:pt>
                <c:pt idx="164">
                  <c:v>2.715761283770964</c:v>
                </c:pt>
                <c:pt idx="165">
                  <c:v>1.935629303720916</c:v>
                </c:pt>
                <c:pt idx="166">
                  <c:v>1.6691828002563758</c:v>
                </c:pt>
                <c:pt idx="167">
                  <c:v>-0.7008029395627741</c:v>
                </c:pt>
                <c:pt idx="168">
                  <c:v>-2.642646947399053</c:v>
                </c:pt>
                <c:pt idx="169">
                  <c:v>-4.679737707942996</c:v>
                </c:pt>
                <c:pt idx="170">
                  <c:v>-6.224088435991301</c:v>
                </c:pt>
                <c:pt idx="171">
                  <c:v>-6.539610520787509</c:v>
                </c:pt>
                <c:pt idx="172">
                  <c:v>-7.346088949798638</c:v>
                </c:pt>
                <c:pt idx="173">
                  <c:v>-3.7837265916384686</c:v>
                </c:pt>
                <c:pt idx="174">
                  <c:v>-0.5918522390219131</c:v>
                </c:pt>
                <c:pt idx="175">
                  <c:v>2.8935826515442167</c:v>
                </c:pt>
                <c:pt idx="176">
                  <c:v>3.308462009830141</c:v>
                </c:pt>
                <c:pt idx="177">
                  <c:v>3.5167954275138715</c:v>
                </c:pt>
                <c:pt idx="178">
                  <c:v>4.299907026420353</c:v>
                </c:pt>
                <c:pt idx="179">
                  <c:v>1.31599173830643</c:v>
                </c:pt>
                <c:pt idx="180">
                  <c:v>-1.6004882920802703</c:v>
                </c:pt>
                <c:pt idx="181">
                  <c:v>-3.9163137569776585</c:v>
                </c:pt>
                <c:pt idx="182">
                  <c:v>-4.356547142499377</c:v>
                </c:pt>
                <c:pt idx="183">
                  <c:v>-4.673216993376305</c:v>
                </c:pt>
                <c:pt idx="184">
                  <c:v>-4.890498324335317</c:v>
                </c:pt>
                <c:pt idx="185">
                  <c:v>-1.7183617823272717</c:v>
                </c:pt>
                <c:pt idx="186">
                  <c:v>1.3669206930440878</c:v>
                </c:pt>
                <c:pt idx="187">
                  <c:v>3.858317843638252</c:v>
                </c:pt>
                <c:pt idx="188">
                  <c:v>7.624262376097883</c:v>
                </c:pt>
                <c:pt idx="189">
                  <c:v>11.328759380454018</c:v>
                </c:pt>
                <c:pt idx="190">
                  <c:v>14.243295707495715</c:v>
                </c:pt>
                <c:pt idx="191">
                  <c:v>12.91399400478919</c:v>
                </c:pt>
                <c:pt idx="192">
                  <c:v>9.734859586017896</c:v>
                </c:pt>
                <c:pt idx="193">
                  <c:v>6.522778386072188</c:v>
                </c:pt>
                <c:pt idx="194">
                  <c:v>3.81819765827302</c:v>
                </c:pt>
                <c:pt idx="195">
                  <c:v>0.4422833794044701</c:v>
                </c:pt>
                <c:pt idx="196">
                  <c:v>-2.9247246173824184</c:v>
                </c:pt>
                <c:pt idx="197">
                  <c:v>-2.6254163432482964</c:v>
                </c:pt>
                <c:pt idx="198">
                  <c:v>-0.1485315047621219</c:v>
                </c:pt>
                <c:pt idx="199">
                  <c:v>2.419957690526686</c:v>
                </c:pt>
                <c:pt idx="200">
                  <c:v>4.493902965651649</c:v>
                </c:pt>
                <c:pt idx="201">
                  <c:v>6.523433234191747</c:v>
                </c:pt>
                <c:pt idx="202">
                  <c:v>8.967865512710356</c:v>
                </c:pt>
                <c:pt idx="203">
                  <c:v>9.565180287263145</c:v>
                </c:pt>
                <c:pt idx="204">
                  <c:v>9.676649205563423</c:v>
                </c:pt>
                <c:pt idx="205">
                  <c:v>9.479062240641603</c:v>
                </c:pt>
                <c:pt idx="206">
                  <c:v>9.2847715370688</c:v>
                </c:pt>
                <c:pt idx="207">
                  <c:v>9.90880814790204</c:v>
                </c:pt>
                <c:pt idx="208">
                  <c:v>10.171517021336149</c:v>
                </c:pt>
                <c:pt idx="209">
                  <c:v>9.180286024705564</c:v>
                </c:pt>
                <c:pt idx="210">
                  <c:v>8.262257991660649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6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5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A30"/>
          </a:solidFill>
          <a:ln/>
        </p:spPr>
      </p:sp>
      <p:sp>
        <p:nvSpPr>
          <p:cNvPr id="3" name="Shape 1"/>
          <p:cNvSpPr/>
          <p:nvPr/>
        </p:nvSpPr>
        <p:spPr>
          <a:xfrm>
            <a:off x="0" y="1097280"/>
            <a:ext cx="12188952" cy="0"/>
          </a:xfrm>
          <a:prstGeom prst="line">
            <a:avLst/>
          </a:prstGeom>
          <a:noFill/>
          <a:ln w="5080">
            <a:solidFill>
              <a:srgbClr val="1D3A5F"/>
            </a:solidFill>
            <a:prstDash val="solid"/>
          </a:ln>
        </p:spPr>
      </p:sp>
      <p:sp>
        <p:nvSpPr>
          <p:cNvPr id="4" name="Shape 2"/>
          <p:cNvSpPr/>
          <p:nvPr/>
        </p:nvSpPr>
        <p:spPr>
          <a:xfrm>
            <a:off x="0" y="1115568"/>
            <a:ext cx="12188952" cy="0"/>
          </a:xfrm>
          <a:prstGeom prst="line">
            <a:avLst/>
          </a:prstGeom>
          <a:noFill/>
          <a:ln w="5080">
            <a:solidFill>
              <a:srgbClr val="1D3A5F"/>
            </a:solidFill>
            <a:prstDash val="solid"/>
          </a:ln>
        </p:spPr>
      </p:sp>
      <p:sp>
        <p:nvSpPr>
          <p:cNvPr id="5" name="Shape 3"/>
          <p:cNvSpPr/>
          <p:nvPr/>
        </p:nvSpPr>
        <p:spPr>
          <a:xfrm>
            <a:off x="0" y="1133856"/>
            <a:ext cx="12188952" cy="0"/>
          </a:xfrm>
          <a:prstGeom prst="line">
            <a:avLst/>
          </a:prstGeom>
          <a:noFill/>
          <a:ln w="5080">
            <a:solidFill>
              <a:srgbClr val="1D3A5F"/>
            </a:solidFill>
            <a:prstDash val="solid"/>
          </a:ln>
        </p:spPr>
      </p:sp>
      <p:sp>
        <p:nvSpPr>
          <p:cNvPr id="6" name="Shape 4"/>
          <p:cNvSpPr/>
          <p:nvPr/>
        </p:nvSpPr>
        <p:spPr>
          <a:xfrm>
            <a:off x="0" y="1152144"/>
            <a:ext cx="12188952" cy="0"/>
          </a:xfrm>
          <a:prstGeom prst="line">
            <a:avLst/>
          </a:prstGeom>
          <a:noFill/>
          <a:ln w="5080">
            <a:solidFill>
              <a:srgbClr val="1D3A5F"/>
            </a:solidFill>
            <a:prstDash val="solid"/>
          </a:ln>
        </p:spPr>
      </p:sp>
      <p:sp>
        <p:nvSpPr>
          <p:cNvPr id="7" name="Shape 5"/>
          <p:cNvSpPr/>
          <p:nvPr/>
        </p:nvSpPr>
        <p:spPr>
          <a:xfrm>
            <a:off x="0" y="1170432"/>
            <a:ext cx="12188952" cy="0"/>
          </a:xfrm>
          <a:prstGeom prst="line">
            <a:avLst/>
          </a:prstGeom>
          <a:noFill/>
          <a:ln w="5080">
            <a:solidFill>
              <a:srgbClr val="1D3A5F"/>
            </a:solidFill>
            <a:prstDash val="solid"/>
          </a:ln>
        </p:spPr>
      </p:sp>
      <p:sp>
        <p:nvSpPr>
          <p:cNvPr id="8" name="Shape 6"/>
          <p:cNvSpPr/>
          <p:nvPr/>
        </p:nvSpPr>
        <p:spPr>
          <a:xfrm>
            <a:off x="0" y="6309360"/>
            <a:ext cx="12188952" cy="36576"/>
          </a:xfrm>
          <a:prstGeom prst="rect">
            <a:avLst/>
          </a:prstGeom>
          <a:solidFill>
            <a:srgbClr val="B8933E"/>
          </a:solidFill>
          <a:ln/>
        </p:spPr>
      </p:sp>
      <p:sp>
        <p:nvSpPr>
          <p:cNvPr id="9" name="Shape 7"/>
          <p:cNvSpPr/>
          <p:nvPr/>
        </p:nvSpPr>
        <p:spPr>
          <a:xfrm>
            <a:off x="640080" y="1965960"/>
            <a:ext cx="1005840" cy="0"/>
          </a:xfrm>
          <a:prstGeom prst="line">
            <a:avLst/>
          </a:prstGeom>
          <a:noFill/>
          <a:ln w="25400">
            <a:solidFill>
              <a:srgbClr val="B8933E"/>
            </a:solidFill>
            <a:prstDash val="solid"/>
          </a:ln>
        </p:spPr>
      </p:sp>
      <p:sp>
        <p:nvSpPr>
          <p:cNvPr id="10" name="Text 8"/>
          <p:cNvSpPr/>
          <p:nvPr/>
        </p:nvSpPr>
        <p:spPr>
          <a:xfrm>
            <a:off x="640080" y="548640"/>
            <a:ext cx="6400800" cy="320040"/>
          </a:xfrm>
          <a:prstGeom prst="rect">
            <a:avLst/>
          </a:prstGeom>
          <a:noFill/>
          <a:ln/>
        </p:spPr>
        <p:txBody>
          <a:bodyPr wrap="square" rtlCol="0" anchor="ctr"/>
          <a:lstStyle/>
          <a:p>
            <a:pPr indent="0" marL="0">
              <a:buNone/>
            </a:pPr>
            <a:r>
              <a:rPr lang="en-US" sz="1300" b="1" spc="200" kern="0" dirty="0">
                <a:solidFill>
                  <a:srgbClr val="1D9E75"/>
                </a:solidFill>
                <a:latin typeface="Calibri" pitchFamily="34" charset="0"/>
                <a:ea typeface="Calibri" pitchFamily="34" charset="-122"/>
                <a:cs typeface="Calibri" pitchFamily="34" charset="-120"/>
              </a:rPr>
              <a:t>STERLING DATA GROUP</a:t>
            </a:r>
            <a:endParaRPr lang="en-US" sz="1300" dirty="0"/>
          </a:p>
        </p:txBody>
      </p:sp>
      <p:sp>
        <p:nvSpPr>
          <p:cNvPr id="11" name="Text 9"/>
          <p:cNvSpPr/>
          <p:nvPr/>
        </p:nvSpPr>
        <p:spPr>
          <a:xfrm>
            <a:off x="640080" y="2148840"/>
            <a:ext cx="9601200" cy="1737360"/>
          </a:xfrm>
          <a:prstGeom prst="rect">
            <a:avLst/>
          </a:prstGeom>
          <a:noFill/>
          <a:ln/>
        </p:spPr>
        <p:txBody>
          <a:bodyPr wrap="square" rtlCol="0" anchor="ctr"/>
          <a:lstStyle/>
          <a:p>
            <a:pPr indent="0" marL="0">
              <a:lnSpc>
                <a:spcPct val="108000"/>
              </a:lnSpc>
              <a:buNone/>
            </a:pPr>
            <a:r>
              <a:rPr lang="en-US" sz="3800" b="1" dirty="0">
                <a:solidFill>
                  <a:srgbClr val="FFFFFF"/>
                </a:solidFill>
                <a:latin typeface="Georgia" pitchFamily="34" charset="0"/>
                <a:ea typeface="Georgia" pitchFamily="34" charset="-122"/>
                <a:cs typeface="Georgia" pitchFamily="34" charset="-120"/>
              </a:rPr>
              <a:t>Sales, Pricing and Profitability</a:t>
            </a:r>
            <a:endParaRPr lang="en-US" sz="3800" dirty="0"/>
          </a:p>
          <a:p>
            <a:pPr indent="0" marL="0">
              <a:lnSpc>
                <a:spcPct val="108000"/>
              </a:lnSpc>
              <a:buNone/>
            </a:pPr>
            <a:r>
              <a:rPr lang="en-US" sz="3800" b="1" dirty="0">
                <a:solidFill>
                  <a:srgbClr val="FFFFFF"/>
                </a:solidFill>
                <a:latin typeface="Georgia" pitchFamily="34" charset="0"/>
                <a:ea typeface="Georgia" pitchFamily="34" charset="-122"/>
                <a:cs typeface="Georgia" pitchFamily="34" charset="-120"/>
              </a:rPr>
              <a:t>Performance Analysis</a:t>
            </a:r>
            <a:endParaRPr lang="en-US" sz="3800" dirty="0"/>
          </a:p>
        </p:txBody>
      </p:sp>
      <p:sp>
        <p:nvSpPr>
          <p:cNvPr id="12" name="Text 10"/>
          <p:cNvSpPr/>
          <p:nvPr/>
        </p:nvSpPr>
        <p:spPr>
          <a:xfrm>
            <a:off x="640080" y="3794760"/>
            <a:ext cx="8686800" cy="457200"/>
          </a:xfrm>
          <a:prstGeom prst="rect">
            <a:avLst/>
          </a:prstGeom>
          <a:noFill/>
          <a:ln/>
        </p:spPr>
        <p:txBody>
          <a:bodyPr wrap="square" rtlCol="0" anchor="ctr"/>
          <a:lstStyle/>
          <a:p>
            <a:pPr indent="0" marL="0">
              <a:buNone/>
            </a:pPr>
            <a:r>
              <a:rPr lang="en-US" sz="1600" i="1" dirty="0">
                <a:solidFill>
                  <a:srgbClr val="C9D2E0"/>
                </a:solidFill>
                <a:latin typeface="Calibri" pitchFamily="34" charset="0"/>
                <a:ea typeface="Calibri" pitchFamily="34" charset="-122"/>
                <a:cs typeface="Calibri" pitchFamily="34" charset="-120"/>
              </a:rPr>
              <a:t>Executive Insights and Strategic Recommendations</a:t>
            </a:r>
            <a:endParaRPr lang="en-US" sz="1600" dirty="0"/>
          </a:p>
        </p:txBody>
      </p:sp>
      <p:sp>
        <p:nvSpPr>
          <p:cNvPr id="13" name="Text 11"/>
          <p:cNvSpPr/>
          <p:nvPr/>
        </p:nvSpPr>
        <p:spPr>
          <a:xfrm>
            <a:off x="640080" y="5486400"/>
            <a:ext cx="7315200" cy="914400"/>
          </a:xfrm>
          <a:prstGeom prst="rect">
            <a:avLst/>
          </a:prstGeom>
          <a:noFill/>
          <a:ln/>
        </p:spPr>
        <p:txBody>
          <a:bodyPr wrap="square" rtlCol="0" anchor="ctr"/>
          <a:lstStyle/>
          <a:p>
            <a:pPr indent="0" marL="0">
              <a:lnSpc>
                <a:spcPct val="140000"/>
              </a:lnSpc>
              <a:buNone/>
            </a:pPr>
            <a:r>
              <a:rPr lang="en-US" sz="1250" dirty="0">
                <a:solidFill>
                  <a:srgbClr val="8B96A8"/>
                </a:solidFill>
                <a:latin typeface="Calibri" pitchFamily="34" charset="0"/>
                <a:ea typeface="Calibri" pitchFamily="34" charset="-122"/>
                <a:cs typeface="Calibri" pitchFamily="34" charset="-120"/>
              </a:rPr>
              <a:t>Prepared for:  </a:t>
            </a:r>
            <a:pPr indent="0" marL="0">
              <a:lnSpc>
                <a:spcPct val="140000"/>
              </a:lnSpc>
              <a:buNone/>
            </a:pPr>
            <a:r>
              <a:rPr lang="en-US" sz="1250" b="1" dirty="0">
                <a:solidFill>
                  <a:srgbClr val="FFFFFF"/>
                </a:solidFill>
                <a:latin typeface="Calibri" pitchFamily="34" charset="0"/>
                <a:ea typeface="Calibri" pitchFamily="34" charset="-122"/>
                <a:cs typeface="Calibri" pitchFamily="34" charset="-120"/>
              </a:rPr>
              <a:t>First National Bank
</a:t>
            </a:r>
            <a:pPr indent="0" marL="0">
              <a:lnSpc>
                <a:spcPct val="140000"/>
              </a:lnSpc>
              <a:buNone/>
            </a:pPr>
            <a:r>
              <a:rPr lang="en-US" sz="1250" dirty="0">
                <a:solidFill>
                  <a:srgbClr val="8B96A8"/>
                </a:solidFill>
                <a:latin typeface="Calibri" pitchFamily="34" charset="0"/>
                <a:ea typeface="Calibri" pitchFamily="34" charset="-122"/>
                <a:cs typeface="Calibri" pitchFamily="34" charset="-120"/>
              </a:rPr>
              <a:t>Prepared by:  </a:t>
            </a:r>
            <a:pPr indent="0" marL="0">
              <a:lnSpc>
                <a:spcPct val="140000"/>
              </a:lnSpc>
              <a:buNone/>
            </a:pPr>
            <a:r>
              <a:rPr lang="en-US" sz="1250" b="1" dirty="0">
                <a:solidFill>
                  <a:srgbClr val="FFFFFF"/>
                </a:solidFill>
                <a:latin typeface="Calibri" pitchFamily="34" charset="0"/>
                <a:ea typeface="Calibri" pitchFamily="34" charset="-122"/>
                <a:cs typeface="Calibri" pitchFamily="34" charset="-120"/>
              </a:rPr>
              <a:t>Sterling Data Group
</a:t>
            </a:r>
            <a:pPr indent="0" marL="0">
              <a:lnSpc>
                <a:spcPct val="140000"/>
              </a:lnSpc>
              <a:buNone/>
            </a:pPr>
            <a:r>
              <a:rPr lang="en-US" sz="1250" dirty="0">
                <a:solidFill>
                  <a:srgbClr val="8B96A8"/>
                </a:solidFill>
                <a:latin typeface="Calibri" pitchFamily="34" charset="0"/>
                <a:ea typeface="Calibri" pitchFamily="34" charset="-122"/>
                <a:cs typeface="Calibri" pitchFamily="34" charset="-120"/>
              </a:rPr>
              <a:t>30 July 2026</a:t>
            </a:r>
            <a:endParaRPr lang="en-US" sz="1250" dirty="0"/>
          </a:p>
        </p:txBody>
      </p:sp>
      <p:sp>
        <p:nvSpPr>
          <p:cNvPr id="14" name="Text 12"/>
          <p:cNvSpPr/>
          <p:nvPr/>
        </p:nvSpPr>
        <p:spPr>
          <a:xfrm>
            <a:off x="9692640" y="5989320"/>
            <a:ext cx="1920240" cy="274320"/>
          </a:xfrm>
          <a:prstGeom prst="rect">
            <a:avLst/>
          </a:prstGeom>
          <a:noFill/>
          <a:ln/>
        </p:spPr>
        <p:txBody>
          <a:bodyPr wrap="square" rtlCol="0" anchor="ctr"/>
          <a:lstStyle/>
          <a:p>
            <a:pPr algn="r" indent="0" marL="0">
              <a:buNone/>
            </a:pPr>
            <a:r>
              <a:rPr lang="en-US" sz="1000" b="1" spc="150" kern="0" dirty="0">
                <a:solidFill>
                  <a:srgbClr val="B8933E"/>
                </a:solidFill>
                <a:latin typeface="Calibri" pitchFamily="34" charset="0"/>
                <a:ea typeface="Calibri" pitchFamily="34" charset="-122"/>
                <a:cs typeface="Calibri" pitchFamily="34" charset="-120"/>
              </a:rPr>
              <a:t>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Three Years of Data Show Revenue and Profitability Moving in Opposite Directions</a:t>
            </a:r>
            <a:endParaRPr lang="en-US" sz="2300" dirty="0"/>
          </a:p>
        </p:txBody>
      </p:sp>
      <p:sp>
        <p:nvSpPr>
          <p:cNvPr id="5" name="Shape 3"/>
          <p:cNvSpPr/>
          <p:nvPr/>
        </p:nvSpPr>
        <p:spPr>
          <a:xfrm>
            <a:off x="548640" y="1536192"/>
            <a:ext cx="2084832" cy="2331720"/>
          </a:xfrm>
          <a:prstGeom prst="roundRect">
            <a:avLst>
              <a:gd name="adj" fmla="val 3070"/>
            </a:avLst>
          </a:prstGeom>
          <a:solidFill>
            <a:srgbClr val="F6E9E6"/>
          </a:solidFill>
          <a:ln/>
        </p:spPr>
      </p:sp>
      <p:sp>
        <p:nvSpPr>
          <p:cNvPr id="6" name="Shape 4"/>
          <p:cNvSpPr/>
          <p:nvPr/>
        </p:nvSpPr>
        <p:spPr>
          <a:xfrm>
            <a:off x="548640" y="1536192"/>
            <a:ext cx="2084832" cy="45720"/>
          </a:xfrm>
          <a:prstGeom prst="rect">
            <a:avLst/>
          </a:prstGeom>
          <a:solidFill>
            <a:srgbClr val="9C3B2E"/>
          </a:solidFill>
          <a:ln/>
        </p:spPr>
      </p:sp>
      <p:sp>
        <p:nvSpPr>
          <p:cNvPr id="7" name="Text 5"/>
          <p:cNvSpPr/>
          <p:nvPr/>
        </p:nvSpPr>
        <p:spPr>
          <a:xfrm>
            <a:off x="676656" y="1691640"/>
            <a:ext cx="1828800" cy="320040"/>
          </a:xfrm>
          <a:prstGeom prst="rect">
            <a:avLst/>
          </a:prstGeom>
          <a:noFill/>
          <a:ln/>
        </p:spPr>
        <p:txBody>
          <a:bodyPr wrap="square" rtlCol="0" anchor="ctr"/>
          <a:lstStyle/>
          <a:p>
            <a:pPr indent="0" marL="0">
              <a:buNone/>
            </a:pPr>
            <a:r>
              <a:rPr lang="en-US" sz="900" b="1" spc="50" kern="0" dirty="0">
                <a:solidFill>
                  <a:srgbClr val="4B5563"/>
                </a:solidFill>
                <a:latin typeface="Calibri" pitchFamily="34" charset="0"/>
                <a:ea typeface="Calibri" pitchFamily="34" charset="-122"/>
                <a:cs typeface="Calibri" pitchFamily="34" charset="-120"/>
              </a:rPr>
              <a:t>SALES PERFORMANCE</a:t>
            </a:r>
            <a:endParaRPr lang="en-US" sz="900" dirty="0"/>
          </a:p>
        </p:txBody>
      </p:sp>
      <p:sp>
        <p:nvSpPr>
          <p:cNvPr id="8" name="Text 6"/>
          <p:cNvSpPr/>
          <p:nvPr/>
        </p:nvSpPr>
        <p:spPr>
          <a:xfrm>
            <a:off x="676656" y="1993392"/>
            <a:ext cx="1828800" cy="594360"/>
          </a:xfrm>
          <a:prstGeom prst="rect">
            <a:avLst/>
          </a:prstGeom>
          <a:noFill/>
          <a:ln/>
        </p:spPr>
        <p:txBody>
          <a:bodyPr wrap="square" rtlCol="0" anchor="ctr"/>
          <a:lstStyle/>
          <a:p>
            <a:pPr indent="0" marL="0">
              <a:buNone/>
            </a:pPr>
            <a:r>
              <a:rPr lang="en-US" sz="1900" b="1" dirty="0">
                <a:solidFill>
                  <a:srgbClr val="9C3B2E"/>
                </a:solidFill>
                <a:latin typeface="Georgia" pitchFamily="34" charset="0"/>
                <a:ea typeface="Georgia" pitchFamily="34" charset="-122"/>
                <a:cs typeface="Georgia" pitchFamily="34" charset="-120"/>
              </a:rPr>
              <a:t>-16.6%</a:t>
            </a:r>
            <a:endParaRPr lang="en-US" sz="1900" dirty="0"/>
          </a:p>
        </p:txBody>
      </p:sp>
      <p:sp>
        <p:nvSpPr>
          <p:cNvPr id="9" name="Text 7"/>
          <p:cNvSpPr/>
          <p:nvPr/>
        </p:nvSpPr>
        <p:spPr>
          <a:xfrm>
            <a:off x="676656" y="2606040"/>
            <a:ext cx="1828800" cy="1188720"/>
          </a:xfrm>
          <a:prstGeom prst="rect">
            <a:avLst/>
          </a:prstGeom>
          <a:noFill/>
          <a:ln/>
        </p:spPr>
        <p:txBody>
          <a:bodyPr wrap="square" rtlCol="0" anchor="ctr"/>
          <a:lstStyle/>
          <a:p>
            <a:pPr indent="0" marL="0">
              <a:lnSpc>
                <a:spcPct val="120000"/>
              </a:lnSpc>
              <a:buNone/>
            </a:pPr>
            <a:r>
              <a:rPr lang="en-US" sz="900" dirty="0">
                <a:solidFill>
                  <a:srgbClr val="1C1F24"/>
                </a:solidFill>
                <a:latin typeface="Calibri" pitchFamily="34" charset="0"/>
                <a:ea typeface="Calibri" pitchFamily="34" charset="-122"/>
                <a:cs typeface="Calibri" pitchFamily="34" charset="-120"/>
              </a:rPr>
              <a:t>2016 revenue run-rate vs 2015 (adjusted for partial year) — the third consecutive annual decline</a:t>
            </a:r>
            <a:endParaRPr lang="en-US" sz="900" dirty="0"/>
          </a:p>
        </p:txBody>
      </p:sp>
      <p:sp>
        <p:nvSpPr>
          <p:cNvPr id="10" name="Shape 8"/>
          <p:cNvSpPr/>
          <p:nvPr/>
        </p:nvSpPr>
        <p:spPr>
          <a:xfrm>
            <a:off x="2761488" y="1536192"/>
            <a:ext cx="2084832" cy="2331720"/>
          </a:xfrm>
          <a:prstGeom prst="roundRect">
            <a:avLst>
              <a:gd name="adj" fmla="val 3070"/>
            </a:avLst>
          </a:prstGeom>
          <a:solidFill>
            <a:srgbClr val="F6E9E6"/>
          </a:solidFill>
          <a:ln/>
        </p:spPr>
      </p:sp>
      <p:sp>
        <p:nvSpPr>
          <p:cNvPr id="11" name="Shape 9"/>
          <p:cNvSpPr/>
          <p:nvPr/>
        </p:nvSpPr>
        <p:spPr>
          <a:xfrm>
            <a:off x="2761488" y="1536192"/>
            <a:ext cx="2084832" cy="45720"/>
          </a:xfrm>
          <a:prstGeom prst="rect">
            <a:avLst/>
          </a:prstGeom>
          <a:solidFill>
            <a:srgbClr val="9C3B2E"/>
          </a:solidFill>
          <a:ln/>
        </p:spPr>
      </p:sp>
      <p:sp>
        <p:nvSpPr>
          <p:cNvPr id="12" name="Text 10"/>
          <p:cNvSpPr/>
          <p:nvPr/>
        </p:nvSpPr>
        <p:spPr>
          <a:xfrm>
            <a:off x="2889504" y="1691640"/>
            <a:ext cx="1828800" cy="320040"/>
          </a:xfrm>
          <a:prstGeom prst="rect">
            <a:avLst/>
          </a:prstGeom>
          <a:noFill/>
          <a:ln/>
        </p:spPr>
        <p:txBody>
          <a:bodyPr wrap="square" rtlCol="0" anchor="ctr"/>
          <a:lstStyle/>
          <a:p>
            <a:pPr indent="0" marL="0">
              <a:buNone/>
            </a:pPr>
            <a:r>
              <a:rPr lang="en-US" sz="900" b="1" spc="50" kern="0" dirty="0">
                <a:solidFill>
                  <a:srgbClr val="4B5563"/>
                </a:solidFill>
                <a:latin typeface="Calibri" pitchFamily="34" charset="0"/>
                <a:ea typeface="Calibri" pitchFamily="34" charset="-122"/>
                <a:cs typeface="Calibri" pitchFamily="34" charset="-120"/>
              </a:rPr>
              <a:t>GROSS PROFIT PERFORMANCE</a:t>
            </a:r>
            <a:endParaRPr lang="en-US" sz="900" dirty="0"/>
          </a:p>
        </p:txBody>
      </p:sp>
      <p:sp>
        <p:nvSpPr>
          <p:cNvPr id="13" name="Text 11"/>
          <p:cNvSpPr/>
          <p:nvPr/>
        </p:nvSpPr>
        <p:spPr>
          <a:xfrm>
            <a:off x="2889504" y="1993392"/>
            <a:ext cx="1828800" cy="594360"/>
          </a:xfrm>
          <a:prstGeom prst="rect">
            <a:avLst/>
          </a:prstGeom>
          <a:noFill/>
          <a:ln/>
        </p:spPr>
        <p:txBody>
          <a:bodyPr wrap="square" rtlCol="0" anchor="ctr"/>
          <a:lstStyle/>
          <a:p>
            <a:pPr indent="0" marL="0">
              <a:buNone/>
            </a:pPr>
            <a:r>
              <a:rPr lang="en-US" sz="1900" b="1" dirty="0">
                <a:solidFill>
                  <a:srgbClr val="9C3B2E"/>
                </a:solidFill>
                <a:latin typeface="Georgia" pitchFamily="34" charset="0"/>
                <a:ea typeface="Georgia" pitchFamily="34" charset="-122"/>
                <a:cs typeface="Georgia" pitchFamily="34" charset="-120"/>
              </a:rPr>
              <a:t>-3.8%</a:t>
            </a:r>
            <a:endParaRPr lang="en-US" sz="1900" dirty="0"/>
          </a:p>
        </p:txBody>
      </p:sp>
      <p:sp>
        <p:nvSpPr>
          <p:cNvPr id="14" name="Text 12"/>
          <p:cNvSpPr/>
          <p:nvPr/>
        </p:nvSpPr>
        <p:spPr>
          <a:xfrm>
            <a:off x="2889504" y="2606040"/>
            <a:ext cx="1828800" cy="1188720"/>
          </a:xfrm>
          <a:prstGeom prst="rect">
            <a:avLst/>
          </a:prstGeom>
          <a:noFill/>
          <a:ln/>
        </p:spPr>
        <p:txBody>
          <a:bodyPr wrap="square" rtlCol="0" anchor="ctr"/>
          <a:lstStyle/>
          <a:p>
            <a:pPr indent="0" marL="0">
              <a:lnSpc>
                <a:spcPct val="120000"/>
              </a:lnSpc>
              <a:buNone/>
            </a:pPr>
            <a:r>
              <a:rPr lang="en-US" sz="900" dirty="0">
                <a:solidFill>
                  <a:srgbClr val="1C1F24"/>
                </a:solidFill>
                <a:latin typeface="Calibri" pitchFamily="34" charset="0"/>
                <a:ea typeface="Calibri" pitchFamily="34" charset="-122"/>
                <a:cs typeface="Calibri" pitchFamily="34" charset="-120"/>
              </a:rPr>
              <a:t>Overall margin across all 1,053 trading days — 607 days (57.6%) sold below cost</a:t>
            </a:r>
            <a:endParaRPr lang="en-US" sz="900" dirty="0"/>
          </a:p>
        </p:txBody>
      </p:sp>
      <p:sp>
        <p:nvSpPr>
          <p:cNvPr id="15" name="Shape 13"/>
          <p:cNvSpPr/>
          <p:nvPr/>
        </p:nvSpPr>
        <p:spPr>
          <a:xfrm>
            <a:off x="4974336" y="1536192"/>
            <a:ext cx="2084832" cy="2331720"/>
          </a:xfrm>
          <a:prstGeom prst="roundRect">
            <a:avLst>
              <a:gd name="adj" fmla="val 3070"/>
            </a:avLst>
          </a:prstGeom>
          <a:solidFill>
            <a:srgbClr val="F5F6F8"/>
          </a:solidFill>
          <a:ln/>
        </p:spPr>
      </p:sp>
      <p:sp>
        <p:nvSpPr>
          <p:cNvPr id="16" name="Shape 14"/>
          <p:cNvSpPr/>
          <p:nvPr/>
        </p:nvSpPr>
        <p:spPr>
          <a:xfrm>
            <a:off x="4974336" y="1536192"/>
            <a:ext cx="2084832" cy="45720"/>
          </a:xfrm>
          <a:prstGeom prst="rect">
            <a:avLst/>
          </a:prstGeom>
          <a:solidFill>
            <a:srgbClr val="0A1A30"/>
          </a:solidFill>
          <a:ln/>
        </p:spPr>
      </p:sp>
      <p:sp>
        <p:nvSpPr>
          <p:cNvPr id="17" name="Text 15"/>
          <p:cNvSpPr/>
          <p:nvPr/>
        </p:nvSpPr>
        <p:spPr>
          <a:xfrm>
            <a:off x="5102352" y="1691640"/>
            <a:ext cx="1828800" cy="320040"/>
          </a:xfrm>
          <a:prstGeom prst="rect">
            <a:avLst/>
          </a:prstGeom>
          <a:noFill/>
          <a:ln/>
        </p:spPr>
        <p:txBody>
          <a:bodyPr wrap="square" rtlCol="0" anchor="ctr"/>
          <a:lstStyle/>
          <a:p>
            <a:pPr indent="0" marL="0">
              <a:buNone/>
            </a:pPr>
            <a:r>
              <a:rPr lang="en-US" sz="900" b="1" spc="50" kern="0" dirty="0">
                <a:solidFill>
                  <a:srgbClr val="4B5563"/>
                </a:solidFill>
                <a:latin typeface="Calibri" pitchFamily="34" charset="0"/>
                <a:ea typeface="Calibri" pitchFamily="34" charset="-122"/>
                <a:cs typeface="Calibri" pitchFamily="34" charset="-120"/>
              </a:rPr>
              <a:t>PRICING &amp; DEMAND</a:t>
            </a:r>
            <a:endParaRPr lang="en-US" sz="900" dirty="0"/>
          </a:p>
        </p:txBody>
      </p:sp>
      <p:sp>
        <p:nvSpPr>
          <p:cNvPr id="18" name="Text 16"/>
          <p:cNvSpPr/>
          <p:nvPr/>
        </p:nvSpPr>
        <p:spPr>
          <a:xfrm>
            <a:off x="5102352" y="1993392"/>
            <a:ext cx="1828800" cy="594360"/>
          </a:xfrm>
          <a:prstGeom prst="rect">
            <a:avLst/>
          </a:prstGeom>
          <a:noFill/>
          <a:ln/>
        </p:spPr>
        <p:txBody>
          <a:bodyPr wrap="square" rtlCol="0" anchor="ctr"/>
          <a:lstStyle/>
          <a:p>
            <a:pPr indent="0" marL="0">
              <a:buNone/>
            </a:pPr>
            <a:r>
              <a:rPr lang="en-US" sz="1900" b="1" dirty="0">
                <a:solidFill>
                  <a:srgbClr val="0A1A30"/>
                </a:solidFill>
                <a:latin typeface="Georgia" pitchFamily="34" charset="0"/>
                <a:ea typeface="Georgia" pitchFamily="34" charset="-122"/>
                <a:cs typeface="Georgia" pitchFamily="34" charset="-120"/>
              </a:rPr>
              <a:t>r = -0.625</a:t>
            </a:r>
            <a:endParaRPr lang="en-US" sz="1900" dirty="0"/>
          </a:p>
        </p:txBody>
      </p:sp>
      <p:sp>
        <p:nvSpPr>
          <p:cNvPr id="19" name="Text 17"/>
          <p:cNvSpPr/>
          <p:nvPr/>
        </p:nvSpPr>
        <p:spPr>
          <a:xfrm>
            <a:off x="5102352" y="2606040"/>
            <a:ext cx="1828800" cy="1188720"/>
          </a:xfrm>
          <a:prstGeom prst="rect">
            <a:avLst/>
          </a:prstGeom>
          <a:noFill/>
          <a:ln/>
        </p:spPr>
        <p:txBody>
          <a:bodyPr wrap="square" rtlCol="0" anchor="ctr"/>
          <a:lstStyle/>
          <a:p>
            <a:pPr indent="0" marL="0">
              <a:lnSpc>
                <a:spcPct val="120000"/>
              </a:lnSpc>
              <a:buNone/>
            </a:pPr>
            <a:r>
              <a:rPr lang="en-US" sz="900" dirty="0">
                <a:solidFill>
                  <a:srgbClr val="1C1F24"/>
                </a:solidFill>
                <a:latin typeface="Calibri" pitchFamily="34" charset="0"/>
                <a:ea typeface="Calibri" pitchFamily="34" charset="-122"/>
                <a:cs typeface="Calibri" pitchFamily="34" charset="-120"/>
              </a:rPr>
              <a:t>Price and quantity move strongly in opposite directions; higher prices are associated with better margins</a:t>
            </a:r>
            <a:endParaRPr lang="en-US" sz="900" dirty="0"/>
          </a:p>
        </p:txBody>
      </p:sp>
      <p:sp>
        <p:nvSpPr>
          <p:cNvPr id="20" name="Shape 18"/>
          <p:cNvSpPr/>
          <p:nvPr/>
        </p:nvSpPr>
        <p:spPr>
          <a:xfrm>
            <a:off x="7187184" y="1536192"/>
            <a:ext cx="2084832" cy="2331720"/>
          </a:xfrm>
          <a:prstGeom prst="roundRect">
            <a:avLst>
              <a:gd name="adj" fmla="val 3070"/>
            </a:avLst>
          </a:prstGeom>
          <a:solidFill>
            <a:srgbClr val="F6E9E6"/>
          </a:solidFill>
          <a:ln/>
        </p:spPr>
      </p:sp>
      <p:sp>
        <p:nvSpPr>
          <p:cNvPr id="21" name="Shape 19"/>
          <p:cNvSpPr/>
          <p:nvPr/>
        </p:nvSpPr>
        <p:spPr>
          <a:xfrm>
            <a:off x="7187184" y="1536192"/>
            <a:ext cx="2084832" cy="45720"/>
          </a:xfrm>
          <a:prstGeom prst="rect">
            <a:avLst/>
          </a:prstGeom>
          <a:solidFill>
            <a:srgbClr val="9C3B2E"/>
          </a:solidFill>
          <a:ln/>
        </p:spPr>
      </p:sp>
      <p:sp>
        <p:nvSpPr>
          <p:cNvPr id="22" name="Text 20"/>
          <p:cNvSpPr/>
          <p:nvPr/>
        </p:nvSpPr>
        <p:spPr>
          <a:xfrm>
            <a:off x="7315200" y="1691640"/>
            <a:ext cx="1828800" cy="320040"/>
          </a:xfrm>
          <a:prstGeom prst="rect">
            <a:avLst/>
          </a:prstGeom>
          <a:noFill/>
          <a:ln/>
        </p:spPr>
        <p:txBody>
          <a:bodyPr wrap="square" rtlCol="0" anchor="ctr"/>
          <a:lstStyle/>
          <a:p>
            <a:pPr indent="0" marL="0">
              <a:buNone/>
            </a:pPr>
            <a:r>
              <a:rPr lang="en-US" sz="900" b="1" spc="50" kern="0" dirty="0">
                <a:solidFill>
                  <a:srgbClr val="4B5563"/>
                </a:solidFill>
                <a:latin typeface="Calibri" pitchFamily="34" charset="0"/>
                <a:ea typeface="Calibri" pitchFamily="34" charset="-122"/>
                <a:cs typeface="Calibri" pitchFamily="34" charset="-120"/>
              </a:rPr>
              <a:t>PROMOTION EFFECTIVENESS</a:t>
            </a:r>
            <a:endParaRPr lang="en-US" sz="900" dirty="0"/>
          </a:p>
        </p:txBody>
      </p:sp>
      <p:sp>
        <p:nvSpPr>
          <p:cNvPr id="23" name="Text 21"/>
          <p:cNvSpPr/>
          <p:nvPr/>
        </p:nvSpPr>
        <p:spPr>
          <a:xfrm>
            <a:off x="7315200" y="1993392"/>
            <a:ext cx="1828800" cy="594360"/>
          </a:xfrm>
          <a:prstGeom prst="rect">
            <a:avLst/>
          </a:prstGeom>
          <a:noFill/>
          <a:ln/>
        </p:spPr>
        <p:txBody>
          <a:bodyPr wrap="square" rtlCol="0" anchor="ctr"/>
          <a:lstStyle/>
          <a:p>
            <a:pPr indent="0" marL="0">
              <a:buNone/>
            </a:pPr>
            <a:r>
              <a:rPr lang="en-US" sz="1900" b="1" dirty="0">
                <a:solidFill>
                  <a:srgbClr val="9C3B2E"/>
                </a:solidFill>
                <a:latin typeface="Georgia" pitchFamily="34" charset="0"/>
                <a:ea typeface="Georgia" pitchFamily="34" charset="-122"/>
                <a:cs typeface="Georgia" pitchFamily="34" charset="-120"/>
              </a:rPr>
              <a:t>Volume up, profit down</a:t>
            </a:r>
            <a:endParaRPr lang="en-US" sz="1900" dirty="0"/>
          </a:p>
        </p:txBody>
      </p:sp>
      <p:sp>
        <p:nvSpPr>
          <p:cNvPr id="24" name="Text 22"/>
          <p:cNvSpPr/>
          <p:nvPr/>
        </p:nvSpPr>
        <p:spPr>
          <a:xfrm>
            <a:off x="7315200" y="2606040"/>
            <a:ext cx="1828800" cy="1188720"/>
          </a:xfrm>
          <a:prstGeom prst="rect">
            <a:avLst/>
          </a:prstGeom>
          <a:noFill/>
          <a:ln/>
        </p:spPr>
        <p:txBody>
          <a:bodyPr wrap="square" rtlCol="0" anchor="ctr"/>
          <a:lstStyle/>
          <a:p>
            <a:pPr indent="0" marL="0">
              <a:lnSpc>
                <a:spcPct val="120000"/>
              </a:lnSpc>
              <a:buNone/>
            </a:pPr>
            <a:r>
              <a:rPr lang="en-US" sz="900" dirty="0">
                <a:solidFill>
                  <a:srgbClr val="1C1F24"/>
                </a:solidFill>
                <a:latin typeface="Calibri" pitchFamily="34" charset="0"/>
                <a:ea typeface="Calibri" pitchFamily="34" charset="-122"/>
                <a:cs typeface="Calibri" pitchFamily="34" charset="-120"/>
              </a:rPr>
              <a:t>All 28 detected promotions increased volume but sold at a loss — margin fell further in every case</a:t>
            </a:r>
            <a:endParaRPr lang="en-US" sz="900" dirty="0"/>
          </a:p>
        </p:txBody>
      </p:sp>
      <p:sp>
        <p:nvSpPr>
          <p:cNvPr id="25" name="Shape 23"/>
          <p:cNvSpPr/>
          <p:nvPr/>
        </p:nvSpPr>
        <p:spPr>
          <a:xfrm>
            <a:off x="9400032" y="1536192"/>
            <a:ext cx="2084832" cy="2331720"/>
          </a:xfrm>
          <a:prstGeom prst="roundRect">
            <a:avLst>
              <a:gd name="adj" fmla="val 3070"/>
            </a:avLst>
          </a:prstGeom>
          <a:solidFill>
            <a:srgbClr val="E6F6F0"/>
          </a:solidFill>
          <a:ln/>
        </p:spPr>
      </p:sp>
      <p:sp>
        <p:nvSpPr>
          <p:cNvPr id="26" name="Shape 24"/>
          <p:cNvSpPr/>
          <p:nvPr/>
        </p:nvSpPr>
        <p:spPr>
          <a:xfrm>
            <a:off x="9400032" y="1536192"/>
            <a:ext cx="2084832" cy="45720"/>
          </a:xfrm>
          <a:prstGeom prst="rect">
            <a:avLst/>
          </a:prstGeom>
          <a:solidFill>
            <a:srgbClr val="1D9E75"/>
          </a:solidFill>
          <a:ln/>
        </p:spPr>
      </p:sp>
      <p:sp>
        <p:nvSpPr>
          <p:cNvPr id="27" name="Text 25"/>
          <p:cNvSpPr/>
          <p:nvPr/>
        </p:nvSpPr>
        <p:spPr>
          <a:xfrm>
            <a:off x="9528048" y="1691640"/>
            <a:ext cx="1828800" cy="320040"/>
          </a:xfrm>
          <a:prstGeom prst="rect">
            <a:avLst/>
          </a:prstGeom>
          <a:noFill/>
          <a:ln/>
        </p:spPr>
        <p:txBody>
          <a:bodyPr wrap="square" rtlCol="0" anchor="ctr"/>
          <a:lstStyle/>
          <a:p>
            <a:pPr indent="0" marL="0">
              <a:buNone/>
            </a:pPr>
            <a:r>
              <a:rPr lang="en-US" sz="900" b="1" spc="50" kern="0" dirty="0">
                <a:solidFill>
                  <a:srgbClr val="4B5563"/>
                </a:solidFill>
                <a:latin typeface="Calibri" pitchFamily="34" charset="0"/>
                <a:ea typeface="Calibri" pitchFamily="34" charset="-122"/>
                <a:cs typeface="Calibri" pitchFamily="34" charset="-120"/>
              </a:rPr>
              <a:t>PRIORITY RECOMMENDATION</a:t>
            </a:r>
            <a:endParaRPr lang="en-US" sz="900" dirty="0"/>
          </a:p>
        </p:txBody>
      </p:sp>
      <p:sp>
        <p:nvSpPr>
          <p:cNvPr id="28" name="Text 26"/>
          <p:cNvSpPr/>
          <p:nvPr/>
        </p:nvSpPr>
        <p:spPr>
          <a:xfrm>
            <a:off x="9528048" y="1993392"/>
            <a:ext cx="1828800" cy="594360"/>
          </a:xfrm>
          <a:prstGeom prst="rect">
            <a:avLst/>
          </a:prstGeom>
          <a:noFill/>
          <a:ln/>
        </p:spPr>
        <p:txBody>
          <a:bodyPr wrap="square" rtlCol="0" anchor="ctr"/>
          <a:lstStyle/>
          <a:p>
            <a:pPr indent="0" marL="0">
              <a:buNone/>
            </a:pPr>
            <a:r>
              <a:rPr lang="en-US" sz="1900" b="1" dirty="0">
                <a:solidFill>
                  <a:srgbClr val="1D9E75"/>
                </a:solidFill>
                <a:latin typeface="Georgia" pitchFamily="34" charset="0"/>
                <a:ea typeface="Georgia" pitchFamily="34" charset="-122"/>
                <a:cs typeface="Georgia" pitchFamily="34" charset="-120"/>
              </a:rPr>
              <a:t>Protect 2016 pricing</a:t>
            </a:r>
            <a:endParaRPr lang="en-US" sz="1900" dirty="0"/>
          </a:p>
        </p:txBody>
      </p:sp>
      <p:sp>
        <p:nvSpPr>
          <p:cNvPr id="29" name="Text 27"/>
          <p:cNvSpPr/>
          <p:nvPr/>
        </p:nvSpPr>
        <p:spPr>
          <a:xfrm>
            <a:off x="9528048" y="2606040"/>
            <a:ext cx="1828800" cy="1188720"/>
          </a:xfrm>
          <a:prstGeom prst="rect">
            <a:avLst/>
          </a:prstGeom>
          <a:noFill/>
          <a:ln/>
        </p:spPr>
        <p:txBody>
          <a:bodyPr wrap="square" rtlCol="0" anchor="ctr"/>
          <a:lstStyle/>
          <a:p>
            <a:pPr indent="0" marL="0">
              <a:lnSpc>
                <a:spcPct val="120000"/>
              </a:lnSpc>
              <a:buNone/>
            </a:pPr>
            <a:r>
              <a:rPr lang="en-US" sz="900" dirty="0">
                <a:solidFill>
                  <a:srgbClr val="1C1F24"/>
                </a:solidFill>
                <a:latin typeface="Calibri" pitchFamily="34" charset="0"/>
                <a:ea typeface="Calibri" pitchFamily="34" charset="-122"/>
                <a:cs typeface="Calibri" pitchFamily="34" charset="-120"/>
              </a:rPr>
              <a:t>Recent months show the first sustained margin recovery in the dataset, driven by price, not volume</a:t>
            </a:r>
            <a:endParaRPr lang="en-US" sz="900" dirty="0"/>
          </a:p>
        </p:txBody>
      </p:sp>
      <p:sp>
        <p:nvSpPr>
          <p:cNvPr id="30" name="Shape 28"/>
          <p:cNvSpPr/>
          <p:nvPr/>
        </p:nvSpPr>
        <p:spPr>
          <a:xfrm>
            <a:off x="548640" y="4114800"/>
            <a:ext cx="11064240" cy="1371600"/>
          </a:xfrm>
          <a:prstGeom prst="roundRect">
            <a:avLst>
              <a:gd name="adj" fmla="val 4667"/>
            </a:avLst>
          </a:prstGeom>
          <a:solidFill>
            <a:srgbClr val="0A1A30"/>
          </a:solidFill>
          <a:ln/>
        </p:spPr>
      </p:sp>
      <p:sp>
        <p:nvSpPr>
          <p:cNvPr id="31" name="Text 29"/>
          <p:cNvSpPr/>
          <p:nvPr/>
        </p:nvSpPr>
        <p:spPr>
          <a:xfrm>
            <a:off x="868680" y="4279392"/>
            <a:ext cx="3657600" cy="274320"/>
          </a:xfrm>
          <a:prstGeom prst="rect">
            <a:avLst/>
          </a:prstGeom>
          <a:noFill/>
          <a:ln/>
        </p:spPr>
        <p:txBody>
          <a:bodyPr wrap="square" rtlCol="0" anchor="ctr"/>
          <a:lstStyle/>
          <a:p>
            <a:pPr indent="0" marL="0">
              <a:buNone/>
            </a:pPr>
            <a:r>
              <a:rPr lang="en-US" sz="1000" b="1" spc="100" kern="0" dirty="0">
                <a:solidFill>
                  <a:srgbClr val="B8933E"/>
                </a:solidFill>
                <a:latin typeface="Calibri" pitchFamily="34" charset="0"/>
                <a:ea typeface="Calibri" pitchFamily="34" charset="-122"/>
                <a:cs typeface="Calibri" pitchFamily="34" charset="-120"/>
              </a:rPr>
              <a:t>MANAGEMENT CONCLUSION</a:t>
            </a:r>
            <a:endParaRPr lang="en-US" sz="1000" dirty="0"/>
          </a:p>
        </p:txBody>
      </p:sp>
      <p:sp>
        <p:nvSpPr>
          <p:cNvPr id="32" name="Text 30"/>
          <p:cNvSpPr/>
          <p:nvPr/>
        </p:nvSpPr>
        <p:spPr>
          <a:xfrm>
            <a:off x="868680" y="4572000"/>
            <a:ext cx="10424160" cy="868680"/>
          </a:xfrm>
          <a:prstGeom prst="rect">
            <a:avLst/>
          </a:prstGeom>
          <a:noFill/>
          <a:ln/>
        </p:spPr>
        <p:txBody>
          <a:bodyPr wrap="square"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For most of the period under review, the periods that generated the most revenue were also the periods with the weakest margins — at the monthly, quarterly, weekly, and promotional level alike. The exception is the second half of 2016, where a higher average price coincided with the first sustained profitable stretch in the data. Sustaining that pricing discipline, rather than reverting to volume-led promotion, is the single highest-leverage action available to management.</a:t>
            </a:r>
            <a:endParaRPr lang="en-US" sz="1150" dirty="0"/>
          </a:p>
        </p:txBody>
      </p:sp>
      <p:sp>
        <p:nvSpPr>
          <p:cNvPr id="33" name="Text 31"/>
          <p:cNvSpPr/>
          <p:nvPr/>
        </p:nvSpPr>
        <p:spPr>
          <a:xfrm>
            <a:off x="548640" y="5623560"/>
            <a:ext cx="11064240" cy="457200"/>
          </a:xfrm>
          <a:prstGeom prst="rect">
            <a:avLst/>
          </a:prstGeom>
          <a:noFill/>
          <a:ln/>
        </p:spPr>
        <p:txBody>
          <a:bodyPr wrap="square" rtlCol="0" anchor="ctr"/>
          <a:lstStyle/>
          <a:p>
            <a:pPr indent="0" marL="0">
              <a:buNone/>
            </a:pPr>
            <a:r>
              <a:rPr lang="en-US" sz="900" i="1" dirty="0">
                <a:solidFill>
                  <a:srgbClr val="4B5563"/>
                </a:solidFill>
                <a:latin typeface="Calibri" pitchFamily="34" charset="0"/>
                <a:ea typeface="Calibri" pitchFamily="34" charset="-122"/>
                <a:cs typeface="Calibri" pitchFamily="34" charset="-120"/>
              </a:rPr>
              <a:t>Note: figures throughout this presentation are drawn directly from the supplied daily transaction dataset (30 Dec 2013 – 16 Nov 2016). Where the analysis cannot support a conclusion, this is stated explicitly rather than estimated.</a:t>
            </a:r>
            <a:endParaRPr lang="en-US" sz="900" dirty="0"/>
          </a:p>
        </p:txBody>
      </p:sp>
      <p:sp>
        <p:nvSpPr>
          <p:cNvPr id="34" name="Shape 32"/>
          <p:cNvSpPr/>
          <p:nvPr/>
        </p:nvSpPr>
        <p:spPr>
          <a:xfrm>
            <a:off x="457200" y="6419088"/>
            <a:ext cx="11274552" cy="0"/>
          </a:xfrm>
          <a:prstGeom prst="line">
            <a:avLst/>
          </a:prstGeom>
          <a:noFill/>
          <a:ln w="9525">
            <a:solidFill>
              <a:srgbClr val="E3E5E9"/>
            </a:solidFill>
            <a:prstDash val="solid"/>
          </a:ln>
        </p:spPr>
      </p:sp>
      <p:sp>
        <p:nvSpPr>
          <p:cNvPr id="35" name="Text 33"/>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36" name="Text 34"/>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 / 16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BUSINESS OBJECTIVE</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A Structured Path From Historical Performance to Profitable Growth Actions</a:t>
            </a:r>
            <a:endParaRPr lang="en-US" sz="2300" dirty="0"/>
          </a:p>
        </p:txBody>
      </p:sp>
      <p:sp>
        <p:nvSpPr>
          <p:cNvPr id="5" name="Shape 3"/>
          <p:cNvSpPr/>
          <p:nvPr/>
        </p:nvSpPr>
        <p:spPr>
          <a:xfrm>
            <a:off x="548640" y="1627632"/>
            <a:ext cx="146304" cy="146304"/>
          </a:xfrm>
          <a:prstGeom prst="ellipse">
            <a:avLst/>
          </a:prstGeom>
          <a:solidFill>
            <a:srgbClr val="1D9E75"/>
          </a:solidFill>
          <a:ln/>
        </p:spPr>
      </p:sp>
      <p:sp>
        <p:nvSpPr>
          <p:cNvPr id="6" name="Text 4"/>
          <p:cNvSpPr/>
          <p:nvPr/>
        </p:nvSpPr>
        <p:spPr>
          <a:xfrm>
            <a:off x="841248" y="1545336"/>
            <a:ext cx="5486400" cy="347472"/>
          </a:xfrm>
          <a:prstGeom prst="rect">
            <a:avLst/>
          </a:prstGeom>
          <a:noFill/>
          <a:ln/>
        </p:spPr>
        <p:txBody>
          <a:bodyPr wrap="square" rtlCol="0" anchor="ctr"/>
          <a:lstStyle/>
          <a:p>
            <a:pPr indent="0" marL="0">
              <a:buNone/>
            </a:pPr>
            <a:r>
              <a:rPr lang="en-US" sz="1250" dirty="0">
                <a:solidFill>
                  <a:srgbClr val="1C1F24"/>
                </a:solidFill>
                <a:latin typeface="Calibri" pitchFamily="34" charset="0"/>
                <a:ea typeface="Calibri" pitchFamily="34" charset="-122"/>
                <a:cs typeface="Calibri" pitchFamily="34" charset="-120"/>
              </a:rPr>
              <a:t>Evaluate historical sales performance, 2013–2016</a:t>
            </a:r>
            <a:endParaRPr lang="en-US" sz="1250" dirty="0"/>
          </a:p>
        </p:txBody>
      </p:sp>
      <p:sp>
        <p:nvSpPr>
          <p:cNvPr id="7" name="Shape 5"/>
          <p:cNvSpPr/>
          <p:nvPr/>
        </p:nvSpPr>
        <p:spPr>
          <a:xfrm>
            <a:off x="548640" y="2011680"/>
            <a:ext cx="146304" cy="146304"/>
          </a:xfrm>
          <a:prstGeom prst="ellipse">
            <a:avLst/>
          </a:prstGeom>
          <a:solidFill>
            <a:srgbClr val="1D9E75"/>
          </a:solidFill>
          <a:ln/>
        </p:spPr>
      </p:sp>
      <p:sp>
        <p:nvSpPr>
          <p:cNvPr id="8" name="Text 6"/>
          <p:cNvSpPr/>
          <p:nvPr/>
        </p:nvSpPr>
        <p:spPr>
          <a:xfrm>
            <a:off x="841248" y="1929384"/>
            <a:ext cx="5486400" cy="347472"/>
          </a:xfrm>
          <a:prstGeom prst="rect">
            <a:avLst/>
          </a:prstGeom>
          <a:noFill/>
          <a:ln/>
        </p:spPr>
        <p:txBody>
          <a:bodyPr wrap="square" rtlCol="0" anchor="ctr"/>
          <a:lstStyle/>
          <a:p>
            <a:pPr indent="0" marL="0">
              <a:buNone/>
            </a:pPr>
            <a:r>
              <a:rPr lang="en-US" sz="1250" dirty="0">
                <a:solidFill>
                  <a:srgbClr val="1C1F24"/>
                </a:solidFill>
                <a:latin typeface="Calibri" pitchFamily="34" charset="0"/>
                <a:ea typeface="Calibri" pitchFamily="34" charset="-122"/>
                <a:cs typeface="Calibri" pitchFamily="34" charset="-120"/>
              </a:rPr>
              <a:t>Understand pricing and demand relationships</a:t>
            </a:r>
            <a:endParaRPr lang="en-US" sz="1250" dirty="0"/>
          </a:p>
        </p:txBody>
      </p:sp>
      <p:sp>
        <p:nvSpPr>
          <p:cNvPr id="9" name="Shape 7"/>
          <p:cNvSpPr/>
          <p:nvPr/>
        </p:nvSpPr>
        <p:spPr>
          <a:xfrm>
            <a:off x="548640" y="2395728"/>
            <a:ext cx="146304" cy="146304"/>
          </a:xfrm>
          <a:prstGeom prst="ellipse">
            <a:avLst/>
          </a:prstGeom>
          <a:solidFill>
            <a:srgbClr val="1D9E75"/>
          </a:solidFill>
          <a:ln/>
        </p:spPr>
      </p:sp>
      <p:sp>
        <p:nvSpPr>
          <p:cNvPr id="10" name="Text 8"/>
          <p:cNvSpPr/>
          <p:nvPr/>
        </p:nvSpPr>
        <p:spPr>
          <a:xfrm>
            <a:off x="841248" y="2313432"/>
            <a:ext cx="5486400" cy="347472"/>
          </a:xfrm>
          <a:prstGeom prst="rect">
            <a:avLst/>
          </a:prstGeom>
          <a:noFill/>
          <a:ln/>
        </p:spPr>
        <p:txBody>
          <a:bodyPr wrap="square" rtlCol="0" anchor="ctr"/>
          <a:lstStyle/>
          <a:p>
            <a:pPr indent="0" marL="0">
              <a:buNone/>
            </a:pPr>
            <a:r>
              <a:rPr lang="en-US" sz="1250" dirty="0">
                <a:solidFill>
                  <a:srgbClr val="1C1F24"/>
                </a:solidFill>
                <a:latin typeface="Calibri" pitchFamily="34" charset="0"/>
                <a:ea typeface="Calibri" pitchFamily="34" charset="-122"/>
                <a:cs typeface="Calibri" pitchFamily="34" charset="-120"/>
              </a:rPr>
              <a:t>Assess profitability, not just revenue</a:t>
            </a:r>
            <a:endParaRPr lang="en-US" sz="1250" dirty="0"/>
          </a:p>
        </p:txBody>
      </p:sp>
      <p:sp>
        <p:nvSpPr>
          <p:cNvPr id="11" name="Shape 9"/>
          <p:cNvSpPr/>
          <p:nvPr/>
        </p:nvSpPr>
        <p:spPr>
          <a:xfrm>
            <a:off x="548640" y="2779776"/>
            <a:ext cx="146304" cy="146304"/>
          </a:xfrm>
          <a:prstGeom prst="ellipse">
            <a:avLst/>
          </a:prstGeom>
          <a:solidFill>
            <a:srgbClr val="1D9E75"/>
          </a:solidFill>
          <a:ln/>
        </p:spPr>
      </p:sp>
      <p:sp>
        <p:nvSpPr>
          <p:cNvPr id="12" name="Text 10"/>
          <p:cNvSpPr/>
          <p:nvPr/>
        </p:nvSpPr>
        <p:spPr>
          <a:xfrm>
            <a:off x="841248" y="2697480"/>
            <a:ext cx="5486400" cy="347472"/>
          </a:xfrm>
          <a:prstGeom prst="rect">
            <a:avLst/>
          </a:prstGeom>
          <a:noFill/>
          <a:ln/>
        </p:spPr>
        <p:txBody>
          <a:bodyPr wrap="square" rtlCol="0" anchor="ctr"/>
          <a:lstStyle/>
          <a:p>
            <a:pPr indent="0" marL="0">
              <a:buNone/>
            </a:pPr>
            <a:r>
              <a:rPr lang="en-US" sz="1250" dirty="0">
                <a:solidFill>
                  <a:srgbClr val="1C1F24"/>
                </a:solidFill>
                <a:latin typeface="Calibri" pitchFamily="34" charset="0"/>
                <a:ea typeface="Calibri" pitchFamily="34" charset="-122"/>
                <a:cs typeface="Calibri" pitchFamily="34" charset="-120"/>
              </a:rPr>
              <a:t>Identify and validate promotion periods</a:t>
            </a:r>
            <a:endParaRPr lang="en-US" sz="1250" dirty="0"/>
          </a:p>
        </p:txBody>
      </p:sp>
      <p:sp>
        <p:nvSpPr>
          <p:cNvPr id="13" name="Shape 11"/>
          <p:cNvSpPr/>
          <p:nvPr/>
        </p:nvSpPr>
        <p:spPr>
          <a:xfrm>
            <a:off x="548640" y="3163824"/>
            <a:ext cx="146304" cy="146304"/>
          </a:xfrm>
          <a:prstGeom prst="ellipse">
            <a:avLst/>
          </a:prstGeom>
          <a:solidFill>
            <a:srgbClr val="1D9E75"/>
          </a:solidFill>
          <a:ln/>
        </p:spPr>
      </p:sp>
      <p:sp>
        <p:nvSpPr>
          <p:cNvPr id="14" name="Text 12"/>
          <p:cNvSpPr/>
          <p:nvPr/>
        </p:nvSpPr>
        <p:spPr>
          <a:xfrm>
            <a:off x="841248" y="3081528"/>
            <a:ext cx="5486400" cy="347472"/>
          </a:xfrm>
          <a:prstGeom prst="rect">
            <a:avLst/>
          </a:prstGeom>
          <a:noFill/>
          <a:ln/>
        </p:spPr>
        <p:txBody>
          <a:bodyPr wrap="square" rtlCol="0" anchor="ctr"/>
          <a:lstStyle/>
          <a:p>
            <a:pPr indent="0" marL="0">
              <a:buNone/>
            </a:pPr>
            <a:r>
              <a:rPr lang="en-US" sz="1250" dirty="0">
                <a:solidFill>
                  <a:srgbClr val="1C1F24"/>
                </a:solidFill>
                <a:latin typeface="Calibri" pitchFamily="34" charset="0"/>
                <a:ea typeface="Calibri" pitchFamily="34" charset="-122"/>
                <a:cs typeface="Calibri" pitchFamily="34" charset="-120"/>
              </a:rPr>
              <a:t>Evaluate promotional effectiveness on volume and margin</a:t>
            </a:r>
            <a:endParaRPr lang="en-US" sz="1250" dirty="0"/>
          </a:p>
        </p:txBody>
      </p:sp>
      <p:sp>
        <p:nvSpPr>
          <p:cNvPr id="15" name="Shape 13"/>
          <p:cNvSpPr/>
          <p:nvPr/>
        </p:nvSpPr>
        <p:spPr>
          <a:xfrm>
            <a:off x="548640" y="3547872"/>
            <a:ext cx="146304" cy="146304"/>
          </a:xfrm>
          <a:prstGeom prst="ellipse">
            <a:avLst/>
          </a:prstGeom>
          <a:solidFill>
            <a:srgbClr val="1D9E75"/>
          </a:solidFill>
          <a:ln/>
        </p:spPr>
      </p:sp>
      <p:sp>
        <p:nvSpPr>
          <p:cNvPr id="16" name="Text 14"/>
          <p:cNvSpPr/>
          <p:nvPr/>
        </p:nvSpPr>
        <p:spPr>
          <a:xfrm>
            <a:off x="841248" y="3465576"/>
            <a:ext cx="5486400" cy="347472"/>
          </a:xfrm>
          <a:prstGeom prst="rect">
            <a:avLst/>
          </a:prstGeom>
          <a:noFill/>
          <a:ln/>
        </p:spPr>
        <p:txBody>
          <a:bodyPr wrap="square" rtlCol="0" anchor="ctr"/>
          <a:lstStyle/>
          <a:p>
            <a:pPr indent="0" marL="0">
              <a:buNone/>
            </a:pPr>
            <a:r>
              <a:rPr lang="en-US" sz="1250" dirty="0">
                <a:solidFill>
                  <a:srgbClr val="1C1F24"/>
                </a:solidFill>
                <a:latin typeface="Calibri" pitchFamily="34" charset="0"/>
                <a:ea typeface="Calibri" pitchFamily="34" charset="-122"/>
                <a:cs typeface="Calibri" pitchFamily="34" charset="-120"/>
              </a:rPr>
              <a:t>Estimate price elasticity of demand</a:t>
            </a:r>
            <a:endParaRPr lang="en-US" sz="1250" dirty="0"/>
          </a:p>
        </p:txBody>
      </p:sp>
      <p:sp>
        <p:nvSpPr>
          <p:cNvPr id="17" name="Shape 15"/>
          <p:cNvSpPr/>
          <p:nvPr/>
        </p:nvSpPr>
        <p:spPr>
          <a:xfrm>
            <a:off x="548640" y="3931920"/>
            <a:ext cx="146304" cy="146304"/>
          </a:xfrm>
          <a:prstGeom prst="ellipse">
            <a:avLst/>
          </a:prstGeom>
          <a:solidFill>
            <a:srgbClr val="1D9E75"/>
          </a:solidFill>
          <a:ln/>
        </p:spPr>
      </p:sp>
      <p:sp>
        <p:nvSpPr>
          <p:cNvPr id="18" name="Text 16"/>
          <p:cNvSpPr/>
          <p:nvPr/>
        </p:nvSpPr>
        <p:spPr>
          <a:xfrm>
            <a:off x="841248" y="3849624"/>
            <a:ext cx="5486400" cy="347472"/>
          </a:xfrm>
          <a:prstGeom prst="rect">
            <a:avLst/>
          </a:prstGeom>
          <a:noFill/>
          <a:ln/>
        </p:spPr>
        <p:txBody>
          <a:bodyPr wrap="square" rtlCol="0" anchor="ctr"/>
          <a:lstStyle/>
          <a:p>
            <a:pPr indent="0" marL="0">
              <a:buNone/>
            </a:pPr>
            <a:r>
              <a:rPr lang="en-US" sz="1250" dirty="0">
                <a:solidFill>
                  <a:srgbClr val="1C1F24"/>
                </a:solidFill>
                <a:latin typeface="Calibri" pitchFamily="34" charset="0"/>
                <a:ea typeface="Calibri" pitchFamily="34" charset="-122"/>
                <a:cs typeface="Calibri" pitchFamily="34" charset="-120"/>
              </a:rPr>
              <a:t>Identify opportunities for profitable growth</a:t>
            </a:r>
            <a:endParaRPr lang="en-US" sz="1250" dirty="0"/>
          </a:p>
        </p:txBody>
      </p:sp>
      <p:sp>
        <p:nvSpPr>
          <p:cNvPr id="19" name="Shape 17"/>
          <p:cNvSpPr/>
          <p:nvPr/>
        </p:nvSpPr>
        <p:spPr>
          <a:xfrm>
            <a:off x="548640" y="4709160"/>
            <a:ext cx="1789176" cy="1051560"/>
          </a:xfrm>
          <a:prstGeom prst="pentagon">
            <a:avLst/>
          </a:prstGeom>
          <a:solidFill>
            <a:srgbClr val="0A1A30"/>
          </a:solidFill>
          <a:ln w="12700">
            <a:solidFill>
              <a:srgbClr val="FFFFFF"/>
            </a:solidFill>
            <a:prstDash val="solid"/>
          </a:ln>
        </p:spPr>
      </p:sp>
      <p:sp>
        <p:nvSpPr>
          <p:cNvPr id="20" name="Text 18"/>
          <p:cNvSpPr/>
          <p:nvPr/>
        </p:nvSpPr>
        <p:spPr>
          <a:xfrm>
            <a:off x="594360" y="4709160"/>
            <a:ext cx="1569720" cy="105156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p:txBody>
      </p:sp>
      <p:sp>
        <p:nvSpPr>
          <p:cNvPr id="21" name="Shape 19"/>
          <p:cNvSpPr/>
          <p:nvPr/>
        </p:nvSpPr>
        <p:spPr>
          <a:xfrm>
            <a:off x="2392680" y="4709160"/>
            <a:ext cx="1789176" cy="1051560"/>
          </a:xfrm>
          <a:prstGeom prst="pentagon">
            <a:avLst/>
          </a:prstGeom>
          <a:solidFill>
            <a:srgbClr val="1D3A5F"/>
          </a:solidFill>
          <a:ln w="12700">
            <a:solidFill>
              <a:srgbClr val="FFFFFF"/>
            </a:solidFill>
            <a:prstDash val="solid"/>
          </a:ln>
        </p:spPr>
      </p:sp>
      <p:sp>
        <p:nvSpPr>
          <p:cNvPr id="22" name="Text 20"/>
          <p:cNvSpPr/>
          <p:nvPr/>
        </p:nvSpPr>
        <p:spPr>
          <a:xfrm>
            <a:off x="2438400" y="4709160"/>
            <a:ext cx="1569720" cy="105156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Performance</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Analysis</a:t>
            </a:r>
            <a:endParaRPr lang="en-US" sz="1050" dirty="0"/>
          </a:p>
        </p:txBody>
      </p:sp>
      <p:sp>
        <p:nvSpPr>
          <p:cNvPr id="23" name="Shape 21"/>
          <p:cNvSpPr/>
          <p:nvPr/>
        </p:nvSpPr>
        <p:spPr>
          <a:xfrm>
            <a:off x="4236720" y="4709160"/>
            <a:ext cx="1789176" cy="1051560"/>
          </a:xfrm>
          <a:prstGeom prst="pentagon">
            <a:avLst/>
          </a:prstGeom>
          <a:solidFill>
            <a:srgbClr val="0A1A30"/>
          </a:solidFill>
          <a:ln w="12700">
            <a:solidFill>
              <a:srgbClr val="FFFFFF"/>
            </a:solidFill>
            <a:prstDash val="solid"/>
          </a:ln>
        </p:spPr>
      </p:sp>
      <p:sp>
        <p:nvSpPr>
          <p:cNvPr id="24" name="Text 22"/>
          <p:cNvSpPr/>
          <p:nvPr/>
        </p:nvSpPr>
        <p:spPr>
          <a:xfrm>
            <a:off x="4282440" y="4709160"/>
            <a:ext cx="1569720" cy="105156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Pricing</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Analysis</a:t>
            </a:r>
            <a:endParaRPr lang="en-US" sz="1050" dirty="0"/>
          </a:p>
        </p:txBody>
      </p:sp>
      <p:sp>
        <p:nvSpPr>
          <p:cNvPr id="25" name="Shape 23"/>
          <p:cNvSpPr/>
          <p:nvPr/>
        </p:nvSpPr>
        <p:spPr>
          <a:xfrm>
            <a:off x="6080760" y="4709160"/>
            <a:ext cx="1789176" cy="1051560"/>
          </a:xfrm>
          <a:prstGeom prst="pentagon">
            <a:avLst/>
          </a:prstGeom>
          <a:solidFill>
            <a:srgbClr val="1D3A5F"/>
          </a:solidFill>
          <a:ln w="12700">
            <a:solidFill>
              <a:srgbClr val="FFFFFF"/>
            </a:solidFill>
            <a:prstDash val="solid"/>
          </a:ln>
        </p:spPr>
      </p:sp>
      <p:sp>
        <p:nvSpPr>
          <p:cNvPr id="26" name="Text 24"/>
          <p:cNvSpPr/>
          <p:nvPr/>
        </p:nvSpPr>
        <p:spPr>
          <a:xfrm>
            <a:off x="6126480" y="4709160"/>
            <a:ext cx="1569720" cy="105156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Promotion</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Analysis</a:t>
            </a:r>
            <a:endParaRPr lang="en-US" sz="1050" dirty="0"/>
          </a:p>
        </p:txBody>
      </p:sp>
      <p:sp>
        <p:nvSpPr>
          <p:cNvPr id="27" name="Shape 25"/>
          <p:cNvSpPr/>
          <p:nvPr/>
        </p:nvSpPr>
        <p:spPr>
          <a:xfrm>
            <a:off x="7924800" y="4709160"/>
            <a:ext cx="1789176" cy="1051560"/>
          </a:xfrm>
          <a:prstGeom prst="pentagon">
            <a:avLst/>
          </a:prstGeom>
          <a:solidFill>
            <a:srgbClr val="0A1A30"/>
          </a:solidFill>
          <a:ln w="12700">
            <a:solidFill>
              <a:srgbClr val="FFFFFF"/>
            </a:solidFill>
            <a:prstDash val="solid"/>
          </a:ln>
        </p:spPr>
      </p:sp>
      <p:sp>
        <p:nvSpPr>
          <p:cNvPr id="28" name="Text 26"/>
          <p:cNvSpPr/>
          <p:nvPr/>
        </p:nvSpPr>
        <p:spPr>
          <a:xfrm>
            <a:off x="7970520" y="4709160"/>
            <a:ext cx="1569720" cy="105156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Elasticity</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Analysis</a:t>
            </a:r>
            <a:endParaRPr lang="en-US" sz="1050" dirty="0"/>
          </a:p>
        </p:txBody>
      </p:sp>
      <p:sp>
        <p:nvSpPr>
          <p:cNvPr id="29" name="Shape 27"/>
          <p:cNvSpPr/>
          <p:nvPr/>
        </p:nvSpPr>
        <p:spPr>
          <a:xfrm>
            <a:off x="9768840" y="4709160"/>
            <a:ext cx="1789176" cy="1051560"/>
          </a:xfrm>
          <a:prstGeom prst="pentagon">
            <a:avLst/>
          </a:prstGeom>
          <a:solidFill>
            <a:srgbClr val="B8933E"/>
          </a:solidFill>
          <a:ln w="12700">
            <a:solidFill>
              <a:srgbClr val="FFFFFF"/>
            </a:solidFill>
            <a:prstDash val="solid"/>
          </a:ln>
        </p:spPr>
      </p:sp>
      <p:sp>
        <p:nvSpPr>
          <p:cNvPr id="30" name="Text 28"/>
          <p:cNvSpPr/>
          <p:nvPr/>
        </p:nvSpPr>
        <p:spPr>
          <a:xfrm>
            <a:off x="9814560" y="4709160"/>
            <a:ext cx="1569720" cy="1051560"/>
          </a:xfrm>
          <a:prstGeom prst="rect">
            <a:avLst/>
          </a:prstGeom>
          <a:noFill/>
          <a:ln/>
        </p:spPr>
        <p:txBody>
          <a:bodyPr wrap="square"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Business</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Recommendations</a:t>
            </a:r>
            <a:endParaRPr lang="en-US" sz="1050" dirty="0"/>
          </a:p>
        </p:txBody>
      </p:sp>
      <p:sp>
        <p:nvSpPr>
          <p:cNvPr id="31" name="Text 29"/>
          <p:cNvSpPr/>
          <p:nvPr/>
        </p:nvSpPr>
        <p:spPr>
          <a:xfrm>
            <a:off x="548640" y="4343400"/>
            <a:ext cx="4572000" cy="274320"/>
          </a:xfrm>
          <a:prstGeom prst="rect">
            <a:avLst/>
          </a:prstGeom>
          <a:noFill/>
          <a:ln/>
        </p:spPr>
        <p:txBody>
          <a:bodyPr wrap="square" rtlCol="0" anchor="ctr"/>
          <a:lstStyle/>
          <a:p>
            <a:pPr indent="0" marL="0">
              <a:buNone/>
            </a:pPr>
            <a:r>
              <a:rPr lang="en-US" sz="1000" b="1" spc="100" kern="0" dirty="0">
                <a:solidFill>
                  <a:srgbClr val="B8933E"/>
                </a:solidFill>
                <a:latin typeface="Calibri" pitchFamily="34" charset="0"/>
                <a:ea typeface="Calibri" pitchFamily="34" charset="-122"/>
                <a:cs typeface="Calibri" pitchFamily="34" charset="-120"/>
              </a:rPr>
              <a:t>ANALYTICAL WORKFLOW</a:t>
            </a:r>
            <a:endParaRPr lang="en-US" sz="1000" dirty="0"/>
          </a:p>
        </p:txBody>
      </p:sp>
      <p:sp>
        <p:nvSpPr>
          <p:cNvPr id="32" name="Shape 30"/>
          <p:cNvSpPr/>
          <p:nvPr/>
        </p:nvSpPr>
        <p:spPr>
          <a:xfrm>
            <a:off x="6400800" y="1554480"/>
            <a:ext cx="5212080" cy="2743200"/>
          </a:xfrm>
          <a:prstGeom prst="roundRect">
            <a:avLst>
              <a:gd name="adj" fmla="val 2333"/>
            </a:avLst>
          </a:prstGeom>
          <a:solidFill>
            <a:srgbClr val="F5F6F8"/>
          </a:solidFill>
          <a:ln/>
        </p:spPr>
      </p:sp>
      <p:sp>
        <p:nvSpPr>
          <p:cNvPr id="33" name="Text 31"/>
          <p:cNvSpPr/>
          <p:nvPr/>
        </p:nvSpPr>
        <p:spPr>
          <a:xfrm>
            <a:off x="6675120" y="1737360"/>
            <a:ext cx="4572000" cy="320040"/>
          </a:xfrm>
          <a:prstGeom prst="rect">
            <a:avLst/>
          </a:prstGeom>
          <a:noFill/>
          <a:ln/>
        </p:spPr>
        <p:txBody>
          <a:bodyPr wrap="square" rtlCol="0" anchor="ctr"/>
          <a:lstStyle/>
          <a:p>
            <a:pPr indent="0" marL="0">
              <a:buNone/>
            </a:pPr>
            <a:r>
              <a:rPr lang="en-US" sz="1250" b="1" dirty="0">
                <a:solidFill>
                  <a:srgbClr val="0A1A30"/>
                </a:solidFill>
                <a:latin typeface="Calibri" pitchFamily="34" charset="0"/>
                <a:ea typeface="Calibri" pitchFamily="34" charset="-122"/>
                <a:cs typeface="Calibri" pitchFamily="34" charset="-120"/>
              </a:rPr>
              <a:t>Scope of this analysis</a:t>
            </a:r>
            <a:endParaRPr lang="en-US" sz="1250" dirty="0"/>
          </a:p>
        </p:txBody>
      </p:sp>
      <p:sp>
        <p:nvSpPr>
          <p:cNvPr id="34" name="Text 32"/>
          <p:cNvSpPr/>
          <p:nvPr/>
        </p:nvSpPr>
        <p:spPr>
          <a:xfrm>
            <a:off x="6675120" y="2103120"/>
            <a:ext cx="4663440" cy="2103120"/>
          </a:xfrm>
          <a:prstGeom prst="rect">
            <a:avLst/>
          </a:prstGeom>
          <a:noFill/>
          <a:ln/>
        </p:spPr>
        <p:txBody>
          <a:bodyPr wrap="square" rtlCol="0" anchor="ctr"/>
          <a:lstStyle/>
          <a:p>
            <a:pPr indent="0" marL="0">
              <a:lnSpc>
                <a:spcPct val="130000"/>
              </a:lnSpc>
              <a:buNone/>
            </a:pPr>
            <a:r>
              <a:rPr lang="en-US" sz="1100" dirty="0">
                <a:solidFill>
                  <a:srgbClr val="1C1F24"/>
                </a:solidFill>
                <a:latin typeface="Calibri" pitchFamily="34" charset="0"/>
                <a:ea typeface="Calibri" pitchFamily="34" charset="-122"/>
                <a:cs typeface="Calibri" pitchFamily="34" charset="-120"/>
              </a:rPr>
              <a:t>Daily trading data for a single retail product line: Date, Sales, Cost of Sales, and Quantity Sold, aggregated per day, from 30 Dec 2013 to 16 Nov 2016 (1,053 trading days). No nulls, duplicates, or out-of-range values were found during validation.</a:t>
            </a:r>
            <a:endParaRPr lang="en-US" sz="1100" dirty="0"/>
          </a:p>
          <a:p>
            <a:pPr indent="0" marL="0">
              <a:lnSpc>
                <a:spcPct val="130000"/>
              </a:lnSpc>
              <a:buNone/>
            </a:pPr>
            <a:endParaRPr lang="en-US" sz="1100" dirty="0"/>
          </a:p>
          <a:p>
            <a:pPr indent="0" marL="0">
              <a:lnSpc>
                <a:spcPct val="130000"/>
              </a:lnSpc>
              <a:buNone/>
            </a:pPr>
            <a:r>
              <a:rPr lang="en-US" sz="1100" dirty="0">
                <a:solidFill>
                  <a:srgbClr val="1C1F24"/>
                </a:solidFill>
                <a:latin typeface="Calibri" pitchFamily="34" charset="0"/>
                <a:ea typeface="Calibri" pitchFamily="34" charset="-122"/>
                <a:cs typeface="Calibri" pitchFamily="34" charset="-120"/>
              </a:rPr>
              <a:t>All monetary figures are shown in South African Rand (R).</a:t>
            </a:r>
            <a:endParaRPr lang="en-US" sz="1100" dirty="0"/>
          </a:p>
        </p:txBody>
      </p:sp>
      <p:sp>
        <p:nvSpPr>
          <p:cNvPr id="35" name="Shape 33"/>
          <p:cNvSpPr/>
          <p:nvPr/>
        </p:nvSpPr>
        <p:spPr>
          <a:xfrm>
            <a:off x="457200" y="6419088"/>
            <a:ext cx="11274552" cy="0"/>
          </a:xfrm>
          <a:prstGeom prst="line">
            <a:avLst/>
          </a:prstGeom>
          <a:noFill/>
          <a:ln w="9525">
            <a:solidFill>
              <a:srgbClr val="E3E5E9"/>
            </a:solidFill>
            <a:prstDash val="solid"/>
          </a:ln>
        </p:spPr>
      </p:sp>
      <p:sp>
        <p:nvSpPr>
          <p:cNvPr id="36" name="Text 34"/>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37" name="Text 35"/>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 / 16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DATA &amp; METRIC FRAMEWORK</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A Common Set of Definitions Underpins Every Figure in This Report</a:t>
            </a:r>
            <a:endParaRPr lang="en-US" sz="2300" dirty="0"/>
          </a:p>
        </p:txBody>
      </p:sp>
      <p:sp>
        <p:nvSpPr>
          <p:cNvPr id="5" name="Shape 3"/>
          <p:cNvSpPr/>
          <p:nvPr/>
        </p:nvSpPr>
        <p:spPr>
          <a:xfrm>
            <a:off x="548640" y="1600200"/>
            <a:ext cx="5440680" cy="731520"/>
          </a:xfrm>
          <a:prstGeom prst="roundRect">
            <a:avLst>
              <a:gd name="adj" fmla="val 6250"/>
            </a:avLst>
          </a:prstGeom>
          <a:solidFill>
            <a:srgbClr val="F5F6F8"/>
          </a:solidFill>
          <a:ln/>
        </p:spPr>
      </p:sp>
      <p:sp>
        <p:nvSpPr>
          <p:cNvPr id="6" name="Shape 4"/>
          <p:cNvSpPr/>
          <p:nvPr/>
        </p:nvSpPr>
        <p:spPr>
          <a:xfrm>
            <a:off x="548640" y="1600200"/>
            <a:ext cx="54864" cy="731520"/>
          </a:xfrm>
          <a:prstGeom prst="rect">
            <a:avLst/>
          </a:prstGeom>
          <a:solidFill>
            <a:srgbClr val="1D9E75"/>
          </a:solidFill>
          <a:ln/>
        </p:spPr>
      </p:sp>
      <p:sp>
        <p:nvSpPr>
          <p:cNvPr id="7" name="Text 5"/>
          <p:cNvSpPr/>
          <p:nvPr/>
        </p:nvSpPr>
        <p:spPr>
          <a:xfrm>
            <a:off x="749808" y="1655064"/>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Sales</a:t>
            </a:r>
            <a:endParaRPr lang="en-US" sz="1200" dirty="0"/>
          </a:p>
        </p:txBody>
      </p:sp>
      <p:sp>
        <p:nvSpPr>
          <p:cNvPr id="8" name="Text 6"/>
          <p:cNvSpPr/>
          <p:nvPr/>
        </p:nvSpPr>
        <p:spPr>
          <a:xfrm>
            <a:off x="749808" y="1929384"/>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Total Rand value of units sold on a given day.</a:t>
            </a:r>
            <a:endParaRPr lang="en-US" sz="1000" dirty="0"/>
          </a:p>
        </p:txBody>
      </p:sp>
      <p:sp>
        <p:nvSpPr>
          <p:cNvPr id="9" name="Shape 7"/>
          <p:cNvSpPr/>
          <p:nvPr/>
        </p:nvSpPr>
        <p:spPr>
          <a:xfrm>
            <a:off x="548640" y="2441448"/>
            <a:ext cx="5440680" cy="731520"/>
          </a:xfrm>
          <a:prstGeom prst="roundRect">
            <a:avLst>
              <a:gd name="adj" fmla="val 6250"/>
            </a:avLst>
          </a:prstGeom>
          <a:solidFill>
            <a:srgbClr val="F5F6F8"/>
          </a:solidFill>
          <a:ln/>
        </p:spPr>
      </p:sp>
      <p:sp>
        <p:nvSpPr>
          <p:cNvPr id="10" name="Shape 8"/>
          <p:cNvSpPr/>
          <p:nvPr/>
        </p:nvSpPr>
        <p:spPr>
          <a:xfrm>
            <a:off x="548640" y="2441448"/>
            <a:ext cx="54864" cy="731520"/>
          </a:xfrm>
          <a:prstGeom prst="rect">
            <a:avLst/>
          </a:prstGeom>
          <a:solidFill>
            <a:srgbClr val="1D9E75"/>
          </a:solidFill>
          <a:ln/>
        </p:spPr>
      </p:sp>
      <p:sp>
        <p:nvSpPr>
          <p:cNvPr id="11" name="Text 9"/>
          <p:cNvSpPr/>
          <p:nvPr/>
        </p:nvSpPr>
        <p:spPr>
          <a:xfrm>
            <a:off x="749808" y="2496312"/>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Quantity Sold</a:t>
            </a:r>
            <a:endParaRPr lang="en-US" sz="1200" dirty="0"/>
          </a:p>
        </p:txBody>
      </p:sp>
      <p:sp>
        <p:nvSpPr>
          <p:cNvPr id="12" name="Text 10"/>
          <p:cNvSpPr/>
          <p:nvPr/>
        </p:nvSpPr>
        <p:spPr>
          <a:xfrm>
            <a:off x="749808" y="2770632"/>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Total number of units sold on a given day.</a:t>
            </a:r>
            <a:endParaRPr lang="en-US" sz="1000" dirty="0"/>
          </a:p>
        </p:txBody>
      </p:sp>
      <p:sp>
        <p:nvSpPr>
          <p:cNvPr id="13" name="Shape 11"/>
          <p:cNvSpPr/>
          <p:nvPr/>
        </p:nvSpPr>
        <p:spPr>
          <a:xfrm>
            <a:off x="548640" y="3282696"/>
            <a:ext cx="5440680" cy="731520"/>
          </a:xfrm>
          <a:prstGeom prst="roundRect">
            <a:avLst>
              <a:gd name="adj" fmla="val 6250"/>
            </a:avLst>
          </a:prstGeom>
          <a:solidFill>
            <a:srgbClr val="F5F6F8"/>
          </a:solidFill>
          <a:ln/>
        </p:spPr>
      </p:sp>
      <p:sp>
        <p:nvSpPr>
          <p:cNvPr id="14" name="Shape 12"/>
          <p:cNvSpPr/>
          <p:nvPr/>
        </p:nvSpPr>
        <p:spPr>
          <a:xfrm>
            <a:off x="548640" y="3282696"/>
            <a:ext cx="54864" cy="731520"/>
          </a:xfrm>
          <a:prstGeom prst="rect">
            <a:avLst/>
          </a:prstGeom>
          <a:solidFill>
            <a:srgbClr val="1D9E75"/>
          </a:solidFill>
          <a:ln/>
        </p:spPr>
      </p:sp>
      <p:sp>
        <p:nvSpPr>
          <p:cNvPr id="15" name="Text 13"/>
          <p:cNvSpPr/>
          <p:nvPr/>
        </p:nvSpPr>
        <p:spPr>
          <a:xfrm>
            <a:off x="749808" y="3337560"/>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Cost of Sales</a:t>
            </a:r>
            <a:endParaRPr lang="en-US" sz="1200" dirty="0"/>
          </a:p>
        </p:txBody>
      </p:sp>
      <p:sp>
        <p:nvSpPr>
          <p:cNvPr id="16" name="Text 14"/>
          <p:cNvSpPr/>
          <p:nvPr/>
        </p:nvSpPr>
        <p:spPr>
          <a:xfrm>
            <a:off x="749808" y="3611880"/>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Total Rand cost of the units sold on a given day.</a:t>
            </a:r>
            <a:endParaRPr lang="en-US" sz="1000" dirty="0"/>
          </a:p>
        </p:txBody>
      </p:sp>
      <p:sp>
        <p:nvSpPr>
          <p:cNvPr id="17" name="Shape 15"/>
          <p:cNvSpPr/>
          <p:nvPr/>
        </p:nvSpPr>
        <p:spPr>
          <a:xfrm>
            <a:off x="548640" y="4123944"/>
            <a:ext cx="5440680" cy="731520"/>
          </a:xfrm>
          <a:prstGeom prst="roundRect">
            <a:avLst>
              <a:gd name="adj" fmla="val 6250"/>
            </a:avLst>
          </a:prstGeom>
          <a:solidFill>
            <a:srgbClr val="F5F6F8"/>
          </a:solidFill>
          <a:ln/>
        </p:spPr>
      </p:sp>
      <p:sp>
        <p:nvSpPr>
          <p:cNvPr id="18" name="Shape 16"/>
          <p:cNvSpPr/>
          <p:nvPr/>
        </p:nvSpPr>
        <p:spPr>
          <a:xfrm>
            <a:off x="548640" y="4123944"/>
            <a:ext cx="54864" cy="731520"/>
          </a:xfrm>
          <a:prstGeom prst="rect">
            <a:avLst/>
          </a:prstGeom>
          <a:solidFill>
            <a:srgbClr val="1D9E75"/>
          </a:solidFill>
          <a:ln/>
        </p:spPr>
      </p:sp>
      <p:sp>
        <p:nvSpPr>
          <p:cNvPr id="19" name="Text 17"/>
          <p:cNvSpPr/>
          <p:nvPr/>
        </p:nvSpPr>
        <p:spPr>
          <a:xfrm>
            <a:off x="749808" y="4178808"/>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Gross Profit</a:t>
            </a:r>
            <a:endParaRPr lang="en-US" sz="1200" dirty="0"/>
          </a:p>
        </p:txBody>
      </p:sp>
      <p:sp>
        <p:nvSpPr>
          <p:cNvPr id="20" name="Text 18"/>
          <p:cNvSpPr/>
          <p:nvPr/>
        </p:nvSpPr>
        <p:spPr>
          <a:xfrm>
            <a:off x="749808" y="4453128"/>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Sales minus Cost of Sales, in Rand.</a:t>
            </a:r>
            <a:endParaRPr lang="en-US" sz="1000" dirty="0"/>
          </a:p>
        </p:txBody>
      </p:sp>
      <p:sp>
        <p:nvSpPr>
          <p:cNvPr id="21" name="Shape 19"/>
          <p:cNvSpPr/>
          <p:nvPr/>
        </p:nvSpPr>
        <p:spPr>
          <a:xfrm>
            <a:off x="548640" y="4965192"/>
            <a:ext cx="5440680" cy="731520"/>
          </a:xfrm>
          <a:prstGeom prst="roundRect">
            <a:avLst>
              <a:gd name="adj" fmla="val 6250"/>
            </a:avLst>
          </a:prstGeom>
          <a:solidFill>
            <a:srgbClr val="F5F6F8"/>
          </a:solidFill>
          <a:ln/>
        </p:spPr>
      </p:sp>
      <p:sp>
        <p:nvSpPr>
          <p:cNvPr id="22" name="Shape 20"/>
          <p:cNvSpPr/>
          <p:nvPr/>
        </p:nvSpPr>
        <p:spPr>
          <a:xfrm>
            <a:off x="548640" y="4965192"/>
            <a:ext cx="54864" cy="731520"/>
          </a:xfrm>
          <a:prstGeom prst="rect">
            <a:avLst/>
          </a:prstGeom>
          <a:solidFill>
            <a:srgbClr val="1D9E75"/>
          </a:solidFill>
          <a:ln/>
        </p:spPr>
      </p:sp>
      <p:sp>
        <p:nvSpPr>
          <p:cNvPr id="23" name="Text 21"/>
          <p:cNvSpPr/>
          <p:nvPr/>
        </p:nvSpPr>
        <p:spPr>
          <a:xfrm>
            <a:off x="749808" y="5020056"/>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Gross Profit Margin</a:t>
            </a:r>
            <a:endParaRPr lang="en-US" sz="1200" dirty="0"/>
          </a:p>
        </p:txBody>
      </p:sp>
      <p:sp>
        <p:nvSpPr>
          <p:cNvPr id="24" name="Text 22"/>
          <p:cNvSpPr/>
          <p:nvPr/>
        </p:nvSpPr>
        <p:spPr>
          <a:xfrm>
            <a:off x="749808" y="5294376"/>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Gross Profit as a percentage of Sales.</a:t>
            </a:r>
            <a:endParaRPr lang="en-US" sz="1000" dirty="0"/>
          </a:p>
        </p:txBody>
      </p:sp>
      <p:sp>
        <p:nvSpPr>
          <p:cNvPr id="25" name="Shape 23"/>
          <p:cNvSpPr/>
          <p:nvPr/>
        </p:nvSpPr>
        <p:spPr>
          <a:xfrm>
            <a:off x="6172200" y="1600200"/>
            <a:ext cx="5440680" cy="731520"/>
          </a:xfrm>
          <a:prstGeom prst="roundRect">
            <a:avLst>
              <a:gd name="adj" fmla="val 6250"/>
            </a:avLst>
          </a:prstGeom>
          <a:solidFill>
            <a:srgbClr val="F5F6F8"/>
          </a:solidFill>
          <a:ln/>
        </p:spPr>
      </p:sp>
      <p:sp>
        <p:nvSpPr>
          <p:cNvPr id="26" name="Shape 24"/>
          <p:cNvSpPr/>
          <p:nvPr/>
        </p:nvSpPr>
        <p:spPr>
          <a:xfrm>
            <a:off x="6172200" y="1600200"/>
            <a:ext cx="54864" cy="731520"/>
          </a:xfrm>
          <a:prstGeom prst="rect">
            <a:avLst/>
          </a:prstGeom>
          <a:solidFill>
            <a:srgbClr val="1D9E75"/>
          </a:solidFill>
          <a:ln/>
        </p:spPr>
      </p:sp>
      <p:sp>
        <p:nvSpPr>
          <p:cNvPr id="27" name="Text 25"/>
          <p:cNvSpPr/>
          <p:nvPr/>
        </p:nvSpPr>
        <p:spPr>
          <a:xfrm>
            <a:off x="6373368" y="1655064"/>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Average Selling Price</a:t>
            </a:r>
            <a:endParaRPr lang="en-US" sz="1200" dirty="0"/>
          </a:p>
        </p:txBody>
      </p:sp>
      <p:sp>
        <p:nvSpPr>
          <p:cNvPr id="28" name="Text 26"/>
          <p:cNvSpPr/>
          <p:nvPr/>
        </p:nvSpPr>
        <p:spPr>
          <a:xfrm>
            <a:off x="6373368" y="1929384"/>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Sales divided by Quantity Sold — the effective price per unit.</a:t>
            </a:r>
            <a:endParaRPr lang="en-US" sz="1000" dirty="0"/>
          </a:p>
        </p:txBody>
      </p:sp>
      <p:sp>
        <p:nvSpPr>
          <p:cNvPr id="29" name="Shape 27"/>
          <p:cNvSpPr/>
          <p:nvPr/>
        </p:nvSpPr>
        <p:spPr>
          <a:xfrm>
            <a:off x="6172200" y="2441448"/>
            <a:ext cx="5440680" cy="731520"/>
          </a:xfrm>
          <a:prstGeom prst="roundRect">
            <a:avLst>
              <a:gd name="adj" fmla="val 6250"/>
            </a:avLst>
          </a:prstGeom>
          <a:solidFill>
            <a:srgbClr val="F5F6F8"/>
          </a:solidFill>
          <a:ln/>
        </p:spPr>
      </p:sp>
      <p:sp>
        <p:nvSpPr>
          <p:cNvPr id="30" name="Shape 28"/>
          <p:cNvSpPr/>
          <p:nvPr/>
        </p:nvSpPr>
        <p:spPr>
          <a:xfrm>
            <a:off x="6172200" y="2441448"/>
            <a:ext cx="54864" cy="731520"/>
          </a:xfrm>
          <a:prstGeom prst="rect">
            <a:avLst/>
          </a:prstGeom>
          <a:solidFill>
            <a:srgbClr val="1D9E75"/>
          </a:solidFill>
          <a:ln/>
        </p:spPr>
      </p:sp>
      <p:sp>
        <p:nvSpPr>
          <p:cNvPr id="31" name="Text 29"/>
          <p:cNvSpPr/>
          <p:nvPr/>
        </p:nvSpPr>
        <p:spPr>
          <a:xfrm>
            <a:off x="6373368" y="2496312"/>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Cost per Unit</a:t>
            </a:r>
            <a:endParaRPr lang="en-US" sz="1200" dirty="0"/>
          </a:p>
        </p:txBody>
      </p:sp>
      <p:sp>
        <p:nvSpPr>
          <p:cNvPr id="32" name="Text 30"/>
          <p:cNvSpPr/>
          <p:nvPr/>
        </p:nvSpPr>
        <p:spPr>
          <a:xfrm>
            <a:off x="6373368" y="2770632"/>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Cost of Sales divided by Quantity Sold.</a:t>
            </a:r>
            <a:endParaRPr lang="en-US" sz="1000" dirty="0"/>
          </a:p>
        </p:txBody>
      </p:sp>
      <p:sp>
        <p:nvSpPr>
          <p:cNvPr id="33" name="Shape 31"/>
          <p:cNvSpPr/>
          <p:nvPr/>
        </p:nvSpPr>
        <p:spPr>
          <a:xfrm>
            <a:off x="6172200" y="3282696"/>
            <a:ext cx="5440680" cy="731520"/>
          </a:xfrm>
          <a:prstGeom prst="roundRect">
            <a:avLst>
              <a:gd name="adj" fmla="val 6250"/>
            </a:avLst>
          </a:prstGeom>
          <a:solidFill>
            <a:srgbClr val="F5F6F8"/>
          </a:solidFill>
          <a:ln/>
        </p:spPr>
      </p:sp>
      <p:sp>
        <p:nvSpPr>
          <p:cNvPr id="34" name="Shape 32"/>
          <p:cNvSpPr/>
          <p:nvPr/>
        </p:nvSpPr>
        <p:spPr>
          <a:xfrm>
            <a:off x="6172200" y="3282696"/>
            <a:ext cx="54864" cy="731520"/>
          </a:xfrm>
          <a:prstGeom prst="rect">
            <a:avLst/>
          </a:prstGeom>
          <a:solidFill>
            <a:srgbClr val="1D9E75"/>
          </a:solidFill>
          <a:ln/>
        </p:spPr>
      </p:sp>
      <p:sp>
        <p:nvSpPr>
          <p:cNvPr id="35" name="Text 33"/>
          <p:cNvSpPr/>
          <p:nvPr/>
        </p:nvSpPr>
        <p:spPr>
          <a:xfrm>
            <a:off x="6373368" y="3337560"/>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Gross Profit per Unit</a:t>
            </a:r>
            <a:endParaRPr lang="en-US" sz="1200" dirty="0"/>
          </a:p>
        </p:txBody>
      </p:sp>
      <p:sp>
        <p:nvSpPr>
          <p:cNvPr id="36" name="Text 34"/>
          <p:cNvSpPr/>
          <p:nvPr/>
        </p:nvSpPr>
        <p:spPr>
          <a:xfrm>
            <a:off x="6373368" y="3611880"/>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Average Selling Price minus Cost per Unit.</a:t>
            </a:r>
            <a:endParaRPr lang="en-US" sz="1000" dirty="0"/>
          </a:p>
        </p:txBody>
      </p:sp>
      <p:sp>
        <p:nvSpPr>
          <p:cNvPr id="37" name="Shape 35"/>
          <p:cNvSpPr/>
          <p:nvPr/>
        </p:nvSpPr>
        <p:spPr>
          <a:xfrm>
            <a:off x="6172200" y="4123944"/>
            <a:ext cx="5440680" cy="731520"/>
          </a:xfrm>
          <a:prstGeom prst="roundRect">
            <a:avLst>
              <a:gd name="adj" fmla="val 6250"/>
            </a:avLst>
          </a:prstGeom>
          <a:solidFill>
            <a:srgbClr val="F5F6F8"/>
          </a:solidFill>
          <a:ln/>
        </p:spPr>
      </p:sp>
      <p:sp>
        <p:nvSpPr>
          <p:cNvPr id="38" name="Shape 36"/>
          <p:cNvSpPr/>
          <p:nvPr/>
        </p:nvSpPr>
        <p:spPr>
          <a:xfrm>
            <a:off x="6172200" y="4123944"/>
            <a:ext cx="54864" cy="731520"/>
          </a:xfrm>
          <a:prstGeom prst="rect">
            <a:avLst/>
          </a:prstGeom>
          <a:solidFill>
            <a:srgbClr val="1D9E75"/>
          </a:solidFill>
          <a:ln/>
        </p:spPr>
      </p:sp>
      <p:sp>
        <p:nvSpPr>
          <p:cNvPr id="39" name="Text 37"/>
          <p:cNvSpPr/>
          <p:nvPr/>
        </p:nvSpPr>
        <p:spPr>
          <a:xfrm>
            <a:off x="6373368" y="4178808"/>
            <a:ext cx="507492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Price Elasticity of Demand</a:t>
            </a:r>
            <a:endParaRPr lang="en-US" sz="1200" dirty="0"/>
          </a:p>
        </p:txBody>
      </p:sp>
      <p:sp>
        <p:nvSpPr>
          <p:cNvPr id="40" name="Text 38"/>
          <p:cNvSpPr/>
          <p:nvPr/>
        </p:nvSpPr>
        <p:spPr>
          <a:xfrm>
            <a:off x="6373368" y="4453128"/>
            <a:ext cx="5074920" cy="365760"/>
          </a:xfrm>
          <a:prstGeom prst="rect">
            <a:avLst/>
          </a:prstGeom>
          <a:noFill/>
          <a:ln/>
        </p:spPr>
        <p:txBody>
          <a:bodyPr wrap="square" rtlCol="0" anchor="ctr"/>
          <a:lstStyle/>
          <a:p>
            <a:pPr indent="0" marL="0">
              <a:lnSpc>
                <a:spcPct val="110000"/>
              </a:lnSpc>
              <a:buNone/>
            </a:pPr>
            <a:r>
              <a:rPr lang="en-US" sz="1000" dirty="0">
                <a:solidFill>
                  <a:srgbClr val="4B5563"/>
                </a:solidFill>
                <a:latin typeface="Calibri" pitchFamily="34" charset="0"/>
                <a:ea typeface="Calibri" pitchFamily="34" charset="-122"/>
                <a:cs typeface="Calibri" pitchFamily="34" charset="-120"/>
              </a:rPr>
              <a:t>% change in quantity sold ÷ % change in price, comparing a promotion period to its own pre-promotion baseline.</a:t>
            </a:r>
            <a:endParaRPr lang="en-US" sz="1000" dirty="0"/>
          </a:p>
        </p:txBody>
      </p:sp>
      <p:sp>
        <p:nvSpPr>
          <p:cNvPr id="41" name="Shape 39"/>
          <p:cNvSpPr/>
          <p:nvPr/>
        </p:nvSpPr>
        <p:spPr>
          <a:xfrm>
            <a:off x="457200" y="6419088"/>
            <a:ext cx="11274552" cy="0"/>
          </a:xfrm>
          <a:prstGeom prst="line">
            <a:avLst/>
          </a:prstGeom>
          <a:noFill/>
          <a:ln w="9525">
            <a:solidFill>
              <a:srgbClr val="E3E5E9"/>
            </a:solidFill>
            <a:prstDash val="solid"/>
          </a:ln>
        </p:spPr>
      </p:sp>
      <p:sp>
        <p:nvSpPr>
          <p:cNvPr id="42" name="Text 40"/>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43" name="Text 41"/>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 / 16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SALES PERFORMANCE, 2013–2016</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Revenue Declined Every Full Year, While Profitability Quietly Improved</a:t>
            </a:r>
            <a:endParaRPr lang="en-US" sz="2300" dirty="0"/>
          </a:p>
        </p:txBody>
      </p:sp>
      <p:graphicFrame>
        <p:nvGraphicFramePr>
          <p:cNvPr id="5" name="Chart 0" descr=""/>
          <p:cNvGraphicFramePr/>
          <p:nvPr/>
        </p:nvGraphicFramePr>
        <p:xfrm>
          <a:off x="548640" y="1554480"/>
          <a:ext cx="6309360" cy="36576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5257800"/>
            <a:ext cx="6309360" cy="457200"/>
          </a:xfrm>
          <a:prstGeom prst="rect">
            <a:avLst/>
          </a:prstGeom>
          <a:noFill/>
          <a:ln/>
        </p:spPr>
        <p:txBody>
          <a:bodyPr wrap="square" rtlCol="0" anchor="ctr"/>
          <a:lstStyle/>
          <a:p>
            <a:pPr indent="0" marL="0">
              <a:buNone/>
            </a:pPr>
            <a:r>
              <a:rPr lang="en-US" sz="900" i="1" dirty="0">
                <a:solidFill>
                  <a:srgbClr val="4B5563"/>
                </a:solidFill>
                <a:latin typeface="Calibri" pitchFamily="34" charset="0"/>
                <a:ea typeface="Calibri" pitchFamily="34" charset="-122"/>
                <a:cs typeface="Calibri" pitchFamily="34" charset="-120"/>
              </a:rPr>
              <a:t>* 2013 covers only 2 trading days (30–31 Dec); 2016 covers 1 Jan – 16 Nov (321 of ~365 days). Both are partial years.</a:t>
            </a:r>
            <a:endParaRPr lang="en-US" sz="900" dirty="0"/>
          </a:p>
        </p:txBody>
      </p:sp>
      <p:sp>
        <p:nvSpPr>
          <p:cNvPr id="7" name="Shape 4"/>
          <p:cNvSpPr/>
          <p:nvPr/>
        </p:nvSpPr>
        <p:spPr>
          <a:xfrm>
            <a:off x="7086600" y="1554480"/>
            <a:ext cx="4526280" cy="868680"/>
          </a:xfrm>
          <a:prstGeom prst="roundRect">
            <a:avLst>
              <a:gd name="adj" fmla="val 6316"/>
            </a:avLst>
          </a:prstGeom>
          <a:solidFill>
            <a:srgbClr val="F5F6F8"/>
          </a:solidFill>
          <a:ln/>
        </p:spPr>
      </p:sp>
      <p:sp>
        <p:nvSpPr>
          <p:cNvPr id="8" name="Text 5"/>
          <p:cNvSpPr/>
          <p:nvPr/>
        </p:nvSpPr>
        <p:spPr>
          <a:xfrm>
            <a:off x="7269480" y="1627632"/>
            <a:ext cx="4206240" cy="228600"/>
          </a:xfrm>
          <a:prstGeom prst="rect">
            <a:avLst/>
          </a:prstGeom>
          <a:noFill/>
          <a:ln/>
        </p:spPr>
        <p:txBody>
          <a:bodyPr wrap="square" rtlCol="0" anchor="ctr"/>
          <a:lstStyle/>
          <a:p>
            <a:pPr indent="0" marL="0">
              <a:buNone/>
            </a:pPr>
            <a:r>
              <a:rPr lang="en-US" sz="850" b="1" spc="50" kern="0" dirty="0">
                <a:solidFill>
                  <a:srgbClr val="4B5563"/>
                </a:solidFill>
                <a:latin typeface="Calibri" pitchFamily="34" charset="0"/>
                <a:ea typeface="Calibri" pitchFamily="34" charset="-122"/>
                <a:cs typeface="Calibri" pitchFamily="34" charset="-120"/>
              </a:rPr>
              <a:t>LARGEST REVENUE YEAR</a:t>
            </a:r>
            <a:endParaRPr lang="en-US" sz="850" dirty="0"/>
          </a:p>
        </p:txBody>
      </p:sp>
      <p:sp>
        <p:nvSpPr>
          <p:cNvPr id="9" name="Text 6"/>
          <p:cNvSpPr/>
          <p:nvPr/>
        </p:nvSpPr>
        <p:spPr>
          <a:xfrm>
            <a:off x="7269480" y="1828800"/>
            <a:ext cx="2011680" cy="411480"/>
          </a:xfrm>
          <a:prstGeom prst="rect">
            <a:avLst/>
          </a:prstGeom>
          <a:noFill/>
          <a:ln/>
        </p:spPr>
        <p:txBody>
          <a:bodyPr wrap="square" rtlCol="0" anchor="ctr"/>
          <a:lstStyle/>
          <a:p>
            <a:pPr indent="0" marL="0">
              <a:buNone/>
            </a:pPr>
            <a:r>
              <a:rPr lang="en-US" sz="1800" b="1" dirty="0">
                <a:solidFill>
                  <a:srgbClr val="0A1A30"/>
                </a:solidFill>
                <a:latin typeface="Georgia" pitchFamily="34" charset="0"/>
                <a:ea typeface="Georgia" pitchFamily="34" charset="-122"/>
                <a:cs typeface="Georgia" pitchFamily="34" charset="-120"/>
              </a:rPr>
              <a:t>2014</a:t>
            </a:r>
            <a:endParaRPr lang="en-US" sz="1800" dirty="0"/>
          </a:p>
        </p:txBody>
      </p:sp>
      <p:sp>
        <p:nvSpPr>
          <p:cNvPr id="10" name="Text 7"/>
          <p:cNvSpPr/>
          <p:nvPr/>
        </p:nvSpPr>
        <p:spPr>
          <a:xfrm>
            <a:off x="7269480" y="2121408"/>
            <a:ext cx="4206240" cy="274320"/>
          </a:xfrm>
          <a:prstGeom prst="rect">
            <a:avLst/>
          </a:prstGeom>
          <a:noFill/>
          <a:ln/>
        </p:spPr>
        <p:txBody>
          <a:bodyPr wrap="square" rtlCol="0" anchor="ctr"/>
          <a:lstStyle/>
          <a:p>
            <a:pPr indent="0" marL="0">
              <a:buNone/>
            </a:pPr>
            <a:r>
              <a:rPr lang="en-US" sz="850" dirty="0">
                <a:solidFill>
                  <a:srgbClr val="1C1F24"/>
                </a:solidFill>
                <a:latin typeface="Calibri" pitchFamily="34" charset="0"/>
                <a:ea typeface="Calibri" pitchFamily="34" charset="-122"/>
                <a:cs typeface="Calibri" pitchFamily="34" charset="-120"/>
              </a:rPr>
              <a:t>R75.4m total sales (full year)</a:t>
            </a:r>
            <a:endParaRPr lang="en-US" sz="850" dirty="0"/>
          </a:p>
        </p:txBody>
      </p:sp>
      <p:sp>
        <p:nvSpPr>
          <p:cNvPr id="11" name="Shape 8"/>
          <p:cNvSpPr/>
          <p:nvPr/>
        </p:nvSpPr>
        <p:spPr>
          <a:xfrm>
            <a:off x="7086600" y="2514600"/>
            <a:ext cx="4526280" cy="868680"/>
          </a:xfrm>
          <a:prstGeom prst="roundRect">
            <a:avLst>
              <a:gd name="adj" fmla="val 6316"/>
            </a:avLst>
          </a:prstGeom>
          <a:solidFill>
            <a:srgbClr val="F5F6F8"/>
          </a:solidFill>
          <a:ln/>
        </p:spPr>
      </p:sp>
      <p:sp>
        <p:nvSpPr>
          <p:cNvPr id="12" name="Text 9"/>
          <p:cNvSpPr/>
          <p:nvPr/>
        </p:nvSpPr>
        <p:spPr>
          <a:xfrm>
            <a:off x="7269480" y="2587752"/>
            <a:ext cx="4206240" cy="228600"/>
          </a:xfrm>
          <a:prstGeom prst="rect">
            <a:avLst/>
          </a:prstGeom>
          <a:noFill/>
          <a:ln/>
        </p:spPr>
        <p:txBody>
          <a:bodyPr wrap="square" rtlCol="0" anchor="ctr"/>
          <a:lstStyle/>
          <a:p>
            <a:pPr indent="0" marL="0">
              <a:buNone/>
            </a:pPr>
            <a:r>
              <a:rPr lang="en-US" sz="850" b="1" spc="50" kern="0" dirty="0">
                <a:solidFill>
                  <a:srgbClr val="4B5563"/>
                </a:solidFill>
                <a:latin typeface="Calibri" pitchFamily="34" charset="0"/>
                <a:ea typeface="Calibri" pitchFamily="34" charset="-122"/>
                <a:cs typeface="Calibri" pitchFamily="34" charset="-120"/>
              </a:rPr>
              <a:t>BEST PROFITABILITY YEAR</a:t>
            </a:r>
            <a:endParaRPr lang="en-US" sz="850" dirty="0"/>
          </a:p>
        </p:txBody>
      </p:sp>
      <p:sp>
        <p:nvSpPr>
          <p:cNvPr id="13" name="Text 10"/>
          <p:cNvSpPr/>
          <p:nvPr/>
        </p:nvSpPr>
        <p:spPr>
          <a:xfrm>
            <a:off x="7269480" y="2788920"/>
            <a:ext cx="2011680" cy="411480"/>
          </a:xfrm>
          <a:prstGeom prst="rect">
            <a:avLst/>
          </a:prstGeom>
          <a:noFill/>
          <a:ln/>
        </p:spPr>
        <p:txBody>
          <a:bodyPr wrap="square" rtlCol="0" anchor="ctr"/>
          <a:lstStyle/>
          <a:p>
            <a:pPr indent="0" marL="0">
              <a:buNone/>
            </a:pPr>
            <a:r>
              <a:rPr lang="en-US" sz="1800" b="1" dirty="0">
                <a:solidFill>
                  <a:srgbClr val="1D9E75"/>
                </a:solidFill>
                <a:latin typeface="Georgia" pitchFamily="34" charset="0"/>
                <a:ea typeface="Georgia" pitchFamily="34" charset="-122"/>
                <a:cs typeface="Georgia" pitchFamily="34" charset="-120"/>
              </a:rPr>
              <a:t>2016</a:t>
            </a:r>
            <a:endParaRPr lang="en-US" sz="1800" dirty="0"/>
          </a:p>
        </p:txBody>
      </p:sp>
      <p:sp>
        <p:nvSpPr>
          <p:cNvPr id="14" name="Text 11"/>
          <p:cNvSpPr/>
          <p:nvPr/>
        </p:nvSpPr>
        <p:spPr>
          <a:xfrm>
            <a:off x="7269480" y="3081528"/>
            <a:ext cx="4206240" cy="274320"/>
          </a:xfrm>
          <a:prstGeom prst="rect">
            <a:avLst/>
          </a:prstGeom>
          <a:noFill/>
          <a:ln/>
        </p:spPr>
        <p:txBody>
          <a:bodyPr wrap="square" rtlCol="0" anchor="ctr"/>
          <a:lstStyle/>
          <a:p>
            <a:pPr indent="0" marL="0">
              <a:buNone/>
            </a:pPr>
            <a:r>
              <a:rPr lang="en-US" sz="850" dirty="0">
                <a:solidFill>
                  <a:srgbClr val="1C1F24"/>
                </a:solidFill>
                <a:latin typeface="Calibri" pitchFamily="34" charset="0"/>
                <a:ea typeface="Calibri" pitchFamily="34" charset="-122"/>
                <a:cs typeface="Calibri" pitchFamily="34" charset="-120"/>
              </a:rPr>
              <a:t>-2.0% overall margin — least negative of the three full/near-full years</a:t>
            </a:r>
            <a:endParaRPr lang="en-US" sz="850" dirty="0"/>
          </a:p>
        </p:txBody>
      </p:sp>
      <p:sp>
        <p:nvSpPr>
          <p:cNvPr id="15" name="Shape 12"/>
          <p:cNvSpPr/>
          <p:nvPr/>
        </p:nvSpPr>
        <p:spPr>
          <a:xfrm>
            <a:off x="7086600" y="3474720"/>
            <a:ext cx="4526280" cy="868680"/>
          </a:xfrm>
          <a:prstGeom prst="roundRect">
            <a:avLst>
              <a:gd name="adj" fmla="val 6316"/>
            </a:avLst>
          </a:prstGeom>
          <a:solidFill>
            <a:srgbClr val="F5F6F8"/>
          </a:solidFill>
          <a:ln/>
        </p:spPr>
      </p:sp>
      <p:sp>
        <p:nvSpPr>
          <p:cNvPr id="16" name="Text 13"/>
          <p:cNvSpPr/>
          <p:nvPr/>
        </p:nvSpPr>
        <p:spPr>
          <a:xfrm>
            <a:off x="7269480" y="3547872"/>
            <a:ext cx="4206240" cy="228600"/>
          </a:xfrm>
          <a:prstGeom prst="rect">
            <a:avLst/>
          </a:prstGeom>
          <a:noFill/>
          <a:ln/>
        </p:spPr>
        <p:txBody>
          <a:bodyPr wrap="square" rtlCol="0" anchor="ctr"/>
          <a:lstStyle/>
          <a:p>
            <a:pPr indent="0" marL="0">
              <a:buNone/>
            </a:pPr>
            <a:r>
              <a:rPr lang="en-US" sz="850" b="1" spc="50" kern="0" dirty="0">
                <a:solidFill>
                  <a:srgbClr val="4B5563"/>
                </a:solidFill>
                <a:latin typeface="Calibri" pitchFamily="34" charset="0"/>
                <a:ea typeface="Calibri" pitchFamily="34" charset="-122"/>
                <a:cs typeface="Calibri" pitchFamily="34" charset="-120"/>
              </a:rPr>
              <a:t>2016 VS 2015 (RUN-RATE)</a:t>
            </a:r>
            <a:endParaRPr lang="en-US" sz="850" dirty="0"/>
          </a:p>
        </p:txBody>
      </p:sp>
      <p:sp>
        <p:nvSpPr>
          <p:cNvPr id="17" name="Text 14"/>
          <p:cNvSpPr/>
          <p:nvPr/>
        </p:nvSpPr>
        <p:spPr>
          <a:xfrm>
            <a:off x="7269480" y="3749040"/>
            <a:ext cx="2011680" cy="411480"/>
          </a:xfrm>
          <a:prstGeom prst="rect">
            <a:avLst/>
          </a:prstGeom>
          <a:noFill/>
          <a:ln/>
        </p:spPr>
        <p:txBody>
          <a:bodyPr wrap="square" rtlCol="0" anchor="ctr"/>
          <a:lstStyle/>
          <a:p>
            <a:pPr indent="0" marL="0">
              <a:buNone/>
            </a:pPr>
            <a:r>
              <a:rPr lang="en-US" sz="1800" b="1" dirty="0">
                <a:solidFill>
                  <a:srgbClr val="9C3B2E"/>
                </a:solidFill>
                <a:latin typeface="Georgia" pitchFamily="34" charset="0"/>
                <a:ea typeface="Georgia" pitchFamily="34" charset="-122"/>
                <a:cs typeface="Georgia" pitchFamily="34" charset="-120"/>
              </a:rPr>
              <a:t>-16.6%</a:t>
            </a:r>
            <a:endParaRPr lang="en-US" sz="1800" dirty="0"/>
          </a:p>
        </p:txBody>
      </p:sp>
      <p:sp>
        <p:nvSpPr>
          <p:cNvPr id="18" name="Text 15"/>
          <p:cNvSpPr/>
          <p:nvPr/>
        </p:nvSpPr>
        <p:spPr>
          <a:xfrm>
            <a:off x="7269480" y="4041648"/>
            <a:ext cx="4206240" cy="274320"/>
          </a:xfrm>
          <a:prstGeom prst="rect">
            <a:avLst/>
          </a:prstGeom>
          <a:noFill/>
          <a:ln/>
        </p:spPr>
        <p:txBody>
          <a:bodyPr wrap="square" rtlCol="0" anchor="ctr"/>
          <a:lstStyle/>
          <a:p>
            <a:pPr indent="0" marL="0">
              <a:buNone/>
            </a:pPr>
            <a:r>
              <a:rPr lang="en-US" sz="850" dirty="0">
                <a:solidFill>
                  <a:srgbClr val="1C1F24"/>
                </a:solidFill>
                <a:latin typeface="Calibri" pitchFamily="34" charset="0"/>
                <a:ea typeface="Calibri" pitchFamily="34" charset="-122"/>
                <a:cs typeface="Calibri" pitchFamily="34" charset="-120"/>
              </a:rPr>
              <a:t>Adjusted for 2016 being a partial year (per-day sales basis)</a:t>
            </a:r>
            <a:endParaRPr lang="en-US" sz="850" dirty="0"/>
          </a:p>
        </p:txBody>
      </p:sp>
      <p:sp>
        <p:nvSpPr>
          <p:cNvPr id="19" name="Shape 16"/>
          <p:cNvSpPr/>
          <p:nvPr/>
        </p:nvSpPr>
        <p:spPr>
          <a:xfrm>
            <a:off x="7086600" y="4434840"/>
            <a:ext cx="4526280" cy="868680"/>
          </a:xfrm>
          <a:prstGeom prst="roundRect">
            <a:avLst>
              <a:gd name="adj" fmla="val 6316"/>
            </a:avLst>
          </a:prstGeom>
          <a:solidFill>
            <a:srgbClr val="F5F6F8"/>
          </a:solidFill>
          <a:ln/>
        </p:spPr>
      </p:sp>
      <p:sp>
        <p:nvSpPr>
          <p:cNvPr id="20" name="Text 17"/>
          <p:cNvSpPr/>
          <p:nvPr/>
        </p:nvSpPr>
        <p:spPr>
          <a:xfrm>
            <a:off x="7269480" y="4507992"/>
            <a:ext cx="4206240" cy="228600"/>
          </a:xfrm>
          <a:prstGeom prst="rect">
            <a:avLst/>
          </a:prstGeom>
          <a:noFill/>
          <a:ln/>
        </p:spPr>
        <p:txBody>
          <a:bodyPr wrap="square" rtlCol="0" anchor="ctr"/>
          <a:lstStyle/>
          <a:p>
            <a:pPr indent="0" marL="0">
              <a:buNone/>
            </a:pPr>
            <a:r>
              <a:rPr lang="en-US" sz="850" b="1" spc="50" kern="0" dirty="0">
                <a:solidFill>
                  <a:srgbClr val="4B5563"/>
                </a:solidFill>
                <a:latin typeface="Calibri" pitchFamily="34" charset="0"/>
                <a:ea typeface="Calibri" pitchFamily="34" charset="-122"/>
                <a:cs typeface="Calibri" pitchFamily="34" charset="-120"/>
              </a:rPr>
              <a:t>2015 VS 2014 (FULL YEARS)</a:t>
            </a:r>
            <a:endParaRPr lang="en-US" sz="850" dirty="0"/>
          </a:p>
        </p:txBody>
      </p:sp>
      <p:sp>
        <p:nvSpPr>
          <p:cNvPr id="21" name="Text 18"/>
          <p:cNvSpPr/>
          <p:nvPr/>
        </p:nvSpPr>
        <p:spPr>
          <a:xfrm>
            <a:off x="7269480" y="4709160"/>
            <a:ext cx="2011680" cy="411480"/>
          </a:xfrm>
          <a:prstGeom prst="rect">
            <a:avLst/>
          </a:prstGeom>
          <a:noFill/>
          <a:ln/>
        </p:spPr>
        <p:txBody>
          <a:bodyPr wrap="square" rtlCol="0" anchor="ctr"/>
          <a:lstStyle/>
          <a:p>
            <a:pPr indent="0" marL="0">
              <a:buNone/>
            </a:pPr>
            <a:r>
              <a:rPr lang="en-US" sz="1800" b="1" dirty="0">
                <a:solidFill>
                  <a:srgbClr val="9C3B2E"/>
                </a:solidFill>
                <a:latin typeface="Georgia" pitchFamily="34" charset="0"/>
                <a:ea typeface="Georgia" pitchFamily="34" charset="-122"/>
                <a:cs typeface="Georgia" pitchFamily="34" charset="-120"/>
              </a:rPr>
              <a:t>-15.1%</a:t>
            </a:r>
            <a:endParaRPr lang="en-US" sz="1800" dirty="0"/>
          </a:p>
        </p:txBody>
      </p:sp>
      <p:sp>
        <p:nvSpPr>
          <p:cNvPr id="22" name="Text 19"/>
          <p:cNvSpPr/>
          <p:nvPr/>
        </p:nvSpPr>
        <p:spPr>
          <a:xfrm>
            <a:off x="7269480" y="5001768"/>
            <a:ext cx="4206240" cy="274320"/>
          </a:xfrm>
          <a:prstGeom prst="rect">
            <a:avLst/>
          </a:prstGeom>
          <a:noFill/>
          <a:ln/>
        </p:spPr>
        <p:txBody>
          <a:bodyPr wrap="square" rtlCol="0" anchor="ctr"/>
          <a:lstStyle/>
          <a:p>
            <a:pPr indent="0" marL="0">
              <a:buNone/>
            </a:pPr>
            <a:r>
              <a:rPr lang="en-US" sz="850" dirty="0">
                <a:solidFill>
                  <a:srgbClr val="1C1F24"/>
                </a:solidFill>
                <a:latin typeface="Calibri" pitchFamily="34" charset="0"/>
                <a:ea typeface="Calibri" pitchFamily="34" charset="-122"/>
                <a:cs typeface="Calibri" pitchFamily="34" charset="-120"/>
              </a:rPr>
              <a:t>Directly comparable — both are complete 365-day years</a:t>
            </a:r>
            <a:endParaRPr lang="en-US" sz="850" dirty="0"/>
          </a:p>
        </p:txBody>
      </p:sp>
      <p:sp>
        <p:nvSpPr>
          <p:cNvPr id="23" name="Shape 20"/>
          <p:cNvSpPr/>
          <p:nvPr/>
        </p:nvSpPr>
        <p:spPr>
          <a:xfrm>
            <a:off x="548640" y="5806440"/>
            <a:ext cx="11064240" cy="457200"/>
          </a:xfrm>
          <a:prstGeom prst="roundRect">
            <a:avLst>
              <a:gd name="adj" fmla="val 10000"/>
            </a:avLst>
          </a:prstGeom>
          <a:solidFill>
            <a:srgbClr val="E6F6F0"/>
          </a:solidFill>
          <a:ln/>
        </p:spPr>
      </p:sp>
      <p:sp>
        <p:nvSpPr>
          <p:cNvPr id="24" name="Text 21"/>
          <p:cNvSpPr/>
          <p:nvPr/>
        </p:nvSpPr>
        <p:spPr>
          <a:xfrm>
            <a:off x="713232" y="5852160"/>
            <a:ext cx="10735056" cy="365760"/>
          </a:xfrm>
          <a:prstGeom prst="rect">
            <a:avLst/>
          </a:prstGeom>
          <a:noFill/>
          <a:ln/>
        </p:spPr>
        <p:txBody>
          <a:bodyPr wrap="square" rtlCol="0" anchor="ctr"/>
          <a:lstStyle/>
          <a:p>
            <a:pPr indent="0" marL="0">
              <a:lnSpc>
                <a:spcPct val="110000"/>
              </a:lnSpc>
              <a:buNone/>
            </a:pPr>
            <a:r>
              <a:rPr lang="en-US" sz="1050" b="1" dirty="0">
                <a:solidFill>
                  <a:srgbClr val="1D9E75"/>
                </a:solidFill>
                <a:latin typeface="Calibri" pitchFamily="34" charset="0"/>
                <a:ea typeface="Calibri" pitchFamily="34" charset="-122"/>
                <a:cs typeface="Calibri" pitchFamily="34" charset="-120"/>
              </a:rPr>
              <a:t>EXECUTIVE INSIGHT   </a:t>
            </a:r>
            <a:pPr indent="0" marL="0">
              <a:lnSpc>
                <a:spcPct val="110000"/>
              </a:lnSpc>
              <a:buNone/>
            </a:pPr>
            <a:r>
              <a:rPr lang="en-US" sz="1050" dirty="0">
                <a:solidFill>
                  <a:srgbClr val="0D5C43"/>
                </a:solidFill>
                <a:latin typeface="Calibri" pitchFamily="34" charset="0"/>
                <a:ea typeface="Calibri" pitchFamily="34" charset="-122"/>
                <a:cs typeface="Calibri" pitchFamily="34" charset="-120"/>
              </a:rPr>
              <a:t>Revenue and profitability point to different “best” years — 2014 sold the most, but 2016 lost the least per Rand of sales. Judging performance on revenue alone would have pointed management the wrong way.</a:t>
            </a:r>
            <a:endParaRPr lang="en-US" sz="1050" dirty="0"/>
          </a:p>
        </p:txBody>
      </p:sp>
      <p:sp>
        <p:nvSpPr>
          <p:cNvPr id="25" name="Shape 22"/>
          <p:cNvSpPr/>
          <p:nvPr/>
        </p:nvSpPr>
        <p:spPr>
          <a:xfrm>
            <a:off x="457200" y="6419088"/>
            <a:ext cx="11274552" cy="0"/>
          </a:xfrm>
          <a:prstGeom prst="line">
            <a:avLst/>
          </a:prstGeom>
          <a:noFill/>
          <a:ln w="9525">
            <a:solidFill>
              <a:srgbClr val="E3E5E9"/>
            </a:solidFill>
            <a:prstDash val="solid"/>
          </a:ln>
        </p:spPr>
      </p:sp>
      <p:sp>
        <p:nvSpPr>
          <p:cNvPr id="26" name="Text 23"/>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27" name="Text 24"/>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 / 16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MONTHLY PERFORMANCE BY YEAR</a:t>
            </a:r>
            <a:endParaRPr lang="en-US" sz="1100" dirty="0"/>
          </a:p>
        </p:txBody>
      </p:sp>
      <p:sp>
        <p:nvSpPr>
          <p:cNvPr id="4" name="Text 2"/>
          <p:cNvSpPr/>
          <p:nvPr/>
        </p:nvSpPr>
        <p:spPr>
          <a:xfrm>
            <a:off x="548640" y="566928"/>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No Single Calendar Month Repeats as the Strongest Across All Three Years</a:t>
            </a:r>
            <a:endParaRPr lang="en-US" sz="2300" dirty="0"/>
          </a:p>
        </p:txBody>
      </p:sp>
      <p:sp>
        <p:nvSpPr>
          <p:cNvPr id="5" name="Text 3"/>
          <p:cNvSpPr/>
          <p:nvPr/>
        </p:nvSpPr>
        <p:spPr>
          <a:xfrm>
            <a:off x="502920" y="1417320"/>
            <a:ext cx="356616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2014</a:t>
            </a:r>
            <a:endParaRPr lang="en-US" sz="1200" dirty="0"/>
          </a:p>
        </p:txBody>
      </p:sp>
      <p:graphicFrame>
        <p:nvGraphicFramePr>
          <p:cNvPr id="6" name="Chart 0" descr=""/>
          <p:cNvGraphicFramePr/>
          <p:nvPr/>
        </p:nvGraphicFramePr>
        <p:xfrm>
          <a:off x="502920" y="1691640"/>
          <a:ext cx="3611880" cy="2331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02920" y="4114800"/>
            <a:ext cx="3611880" cy="960120"/>
          </a:xfrm>
          <a:prstGeom prst="roundRect">
            <a:avLst>
              <a:gd name="adj" fmla="val 4762"/>
            </a:avLst>
          </a:prstGeom>
          <a:solidFill>
            <a:srgbClr val="F5F6F8"/>
          </a:solidFill>
          <a:ln/>
        </p:spPr>
      </p:sp>
      <p:sp>
        <p:nvSpPr>
          <p:cNvPr id="8" name="Text 5"/>
          <p:cNvSpPr/>
          <p:nvPr/>
        </p:nvSpPr>
        <p:spPr>
          <a:xfrm>
            <a:off x="640080" y="4206240"/>
            <a:ext cx="3337560" cy="777240"/>
          </a:xfrm>
          <a:prstGeom prst="rect">
            <a:avLst/>
          </a:prstGeom>
          <a:noFill/>
          <a:ln/>
        </p:spPr>
        <p:txBody>
          <a:bodyPr wrap="square" rtlCol="0" anchor="ctr"/>
          <a:lstStyle/>
          <a:p>
            <a:pPr indent="0" marL="0">
              <a:lnSpc>
                <a:spcPct val="140000"/>
              </a:lnSpc>
              <a:buNone/>
            </a:pPr>
            <a:r>
              <a:rPr lang="en-US" sz="1000" b="1" dirty="0">
                <a:solidFill>
                  <a:srgbClr val="1D9E75"/>
                </a:solidFill>
                <a:latin typeface="Calibri" pitchFamily="34" charset="0"/>
                <a:ea typeface="Calibri" pitchFamily="34" charset="-122"/>
                <a:cs typeface="Calibri" pitchFamily="34" charset="-120"/>
              </a:rPr>
              <a:t>Best: </a:t>
            </a:r>
            <a:pPr indent="0" marL="0">
              <a:lnSpc>
                <a:spcPct val="140000"/>
              </a:lnSpc>
              <a:buNone/>
            </a:pPr>
            <a:r>
              <a:rPr lang="en-US" sz="1000" dirty="0">
                <a:solidFill>
                  <a:srgbClr val="1C1F24"/>
                </a:solidFill>
                <a:latin typeface="Calibri" pitchFamily="34" charset="0"/>
                <a:ea typeface="Calibri" pitchFamily="34" charset="-122"/>
                <a:cs typeface="Calibri" pitchFamily="34" charset="-120"/>
              </a:rPr>
              <a:t>August (R10.0m)
</a:t>
            </a:r>
            <a:pPr indent="0" marL="0">
              <a:lnSpc>
                <a:spcPct val="140000"/>
              </a:lnSpc>
              <a:buNone/>
            </a:pPr>
            <a:r>
              <a:rPr lang="en-US" sz="1000" b="1" dirty="0">
                <a:solidFill>
                  <a:srgbClr val="9C3B2E"/>
                </a:solidFill>
                <a:latin typeface="Calibri" pitchFamily="34" charset="0"/>
                <a:ea typeface="Calibri" pitchFamily="34" charset="-122"/>
                <a:cs typeface="Calibri" pitchFamily="34" charset="-120"/>
              </a:rPr>
              <a:t>Weakest: </a:t>
            </a:r>
            <a:pPr indent="0" marL="0">
              <a:lnSpc>
                <a:spcPct val="140000"/>
              </a:lnSpc>
              <a:buNone/>
            </a:pPr>
            <a:r>
              <a:rPr lang="en-US" sz="1000" dirty="0">
                <a:solidFill>
                  <a:srgbClr val="1C1F24"/>
                </a:solidFill>
                <a:latin typeface="Calibri" pitchFamily="34" charset="0"/>
                <a:ea typeface="Calibri" pitchFamily="34" charset="-122"/>
                <a:cs typeface="Calibri" pitchFamily="34" charset="-120"/>
              </a:rPr>
              <a:t>November (R2.6m)</a:t>
            </a:r>
            <a:endParaRPr lang="en-US" sz="1000" dirty="0"/>
          </a:p>
        </p:txBody>
      </p:sp>
      <p:sp>
        <p:nvSpPr>
          <p:cNvPr id="9" name="Text 6"/>
          <p:cNvSpPr/>
          <p:nvPr/>
        </p:nvSpPr>
        <p:spPr>
          <a:xfrm>
            <a:off x="4279392" y="1417320"/>
            <a:ext cx="356616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2015</a:t>
            </a:r>
            <a:endParaRPr lang="en-US" sz="1200" dirty="0"/>
          </a:p>
        </p:txBody>
      </p:sp>
      <p:graphicFrame>
        <p:nvGraphicFramePr>
          <p:cNvPr id="10" name="Chart 1" descr=""/>
          <p:cNvGraphicFramePr/>
          <p:nvPr/>
        </p:nvGraphicFramePr>
        <p:xfrm>
          <a:off x="4279392" y="1691640"/>
          <a:ext cx="3611880" cy="233172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4279392" y="4114800"/>
            <a:ext cx="3611880" cy="960120"/>
          </a:xfrm>
          <a:prstGeom prst="roundRect">
            <a:avLst>
              <a:gd name="adj" fmla="val 4762"/>
            </a:avLst>
          </a:prstGeom>
          <a:solidFill>
            <a:srgbClr val="F5F6F8"/>
          </a:solidFill>
          <a:ln/>
        </p:spPr>
      </p:sp>
      <p:sp>
        <p:nvSpPr>
          <p:cNvPr id="12" name="Text 8"/>
          <p:cNvSpPr/>
          <p:nvPr/>
        </p:nvSpPr>
        <p:spPr>
          <a:xfrm>
            <a:off x="4416552" y="4206240"/>
            <a:ext cx="3337560" cy="777240"/>
          </a:xfrm>
          <a:prstGeom prst="rect">
            <a:avLst/>
          </a:prstGeom>
          <a:noFill/>
          <a:ln/>
        </p:spPr>
        <p:txBody>
          <a:bodyPr wrap="square" rtlCol="0" anchor="ctr"/>
          <a:lstStyle/>
          <a:p>
            <a:pPr indent="0" marL="0">
              <a:lnSpc>
                <a:spcPct val="140000"/>
              </a:lnSpc>
              <a:buNone/>
            </a:pPr>
            <a:r>
              <a:rPr lang="en-US" sz="1000" b="1" dirty="0">
                <a:solidFill>
                  <a:srgbClr val="1D9E75"/>
                </a:solidFill>
                <a:latin typeface="Calibri" pitchFamily="34" charset="0"/>
                <a:ea typeface="Calibri" pitchFamily="34" charset="-122"/>
                <a:cs typeface="Calibri" pitchFamily="34" charset="-120"/>
              </a:rPr>
              <a:t>Best: </a:t>
            </a:r>
            <a:pPr indent="0" marL="0">
              <a:lnSpc>
                <a:spcPct val="140000"/>
              </a:lnSpc>
              <a:buNone/>
            </a:pPr>
            <a:r>
              <a:rPr lang="en-US" sz="1000" dirty="0">
                <a:solidFill>
                  <a:srgbClr val="1C1F24"/>
                </a:solidFill>
                <a:latin typeface="Calibri" pitchFamily="34" charset="0"/>
                <a:ea typeface="Calibri" pitchFamily="34" charset="-122"/>
                <a:cs typeface="Calibri" pitchFamily="34" charset="-120"/>
              </a:rPr>
              <a:t>May (R8.4m)
</a:t>
            </a:r>
            <a:pPr indent="0" marL="0">
              <a:lnSpc>
                <a:spcPct val="140000"/>
              </a:lnSpc>
              <a:buNone/>
            </a:pPr>
            <a:r>
              <a:rPr lang="en-US" sz="1000" b="1" dirty="0">
                <a:solidFill>
                  <a:srgbClr val="9C3B2E"/>
                </a:solidFill>
                <a:latin typeface="Calibri" pitchFamily="34" charset="0"/>
                <a:ea typeface="Calibri" pitchFamily="34" charset="-122"/>
                <a:cs typeface="Calibri" pitchFamily="34" charset="-120"/>
              </a:rPr>
              <a:t>Weakest: </a:t>
            </a:r>
            <a:pPr indent="0" marL="0">
              <a:lnSpc>
                <a:spcPct val="140000"/>
              </a:lnSpc>
              <a:buNone/>
            </a:pPr>
            <a:r>
              <a:rPr lang="en-US" sz="1000" dirty="0">
                <a:solidFill>
                  <a:srgbClr val="1C1F24"/>
                </a:solidFill>
                <a:latin typeface="Calibri" pitchFamily="34" charset="0"/>
                <a:ea typeface="Calibri" pitchFamily="34" charset="-122"/>
                <a:cs typeface="Calibri" pitchFamily="34" charset="-120"/>
              </a:rPr>
              <a:t>July (R3.7m)</a:t>
            </a:r>
            <a:endParaRPr lang="en-US" sz="1000" dirty="0"/>
          </a:p>
        </p:txBody>
      </p:sp>
      <p:sp>
        <p:nvSpPr>
          <p:cNvPr id="13" name="Text 9"/>
          <p:cNvSpPr/>
          <p:nvPr/>
        </p:nvSpPr>
        <p:spPr>
          <a:xfrm>
            <a:off x="8055864" y="1417320"/>
            <a:ext cx="3566160" cy="27432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2016</a:t>
            </a:r>
            <a:endParaRPr lang="en-US" sz="1200" dirty="0"/>
          </a:p>
        </p:txBody>
      </p:sp>
      <p:graphicFrame>
        <p:nvGraphicFramePr>
          <p:cNvPr id="14" name="Chart 2" descr=""/>
          <p:cNvGraphicFramePr/>
          <p:nvPr/>
        </p:nvGraphicFramePr>
        <p:xfrm>
          <a:off x="8055864" y="1691640"/>
          <a:ext cx="3611880" cy="2331720"/>
        </p:xfrm>
        <a:graphic xmlns:a="http://schemas.openxmlformats.org/drawingml/2006/main">
          <a:graphicData uri="http://schemas.openxmlformats.org/drawingml/2006/chart">
            <c:chart xmlns:c="http://schemas.openxmlformats.org/drawingml/2006/chart" r:id="rId3"/>
          </a:graphicData>
        </a:graphic>
      </p:graphicFrame>
      <p:sp>
        <p:nvSpPr>
          <p:cNvPr id="15" name="Shape 10"/>
          <p:cNvSpPr/>
          <p:nvPr/>
        </p:nvSpPr>
        <p:spPr>
          <a:xfrm>
            <a:off x="8055864" y="4114800"/>
            <a:ext cx="3611880" cy="960120"/>
          </a:xfrm>
          <a:prstGeom prst="roundRect">
            <a:avLst>
              <a:gd name="adj" fmla="val 4762"/>
            </a:avLst>
          </a:prstGeom>
          <a:solidFill>
            <a:srgbClr val="F5F6F8"/>
          </a:solidFill>
          <a:ln/>
        </p:spPr>
      </p:sp>
      <p:sp>
        <p:nvSpPr>
          <p:cNvPr id="16" name="Text 11"/>
          <p:cNvSpPr/>
          <p:nvPr/>
        </p:nvSpPr>
        <p:spPr>
          <a:xfrm>
            <a:off x="8193024" y="4206240"/>
            <a:ext cx="3337560" cy="777240"/>
          </a:xfrm>
          <a:prstGeom prst="rect">
            <a:avLst/>
          </a:prstGeom>
          <a:noFill/>
          <a:ln/>
        </p:spPr>
        <p:txBody>
          <a:bodyPr wrap="square" rtlCol="0" anchor="ctr"/>
          <a:lstStyle/>
          <a:p>
            <a:pPr indent="0" marL="0">
              <a:lnSpc>
                <a:spcPct val="140000"/>
              </a:lnSpc>
              <a:buNone/>
            </a:pPr>
            <a:r>
              <a:rPr lang="en-US" sz="1000" b="1" dirty="0">
                <a:solidFill>
                  <a:srgbClr val="1D9E75"/>
                </a:solidFill>
                <a:latin typeface="Calibri" pitchFamily="34" charset="0"/>
                <a:ea typeface="Calibri" pitchFamily="34" charset="-122"/>
                <a:cs typeface="Calibri" pitchFamily="34" charset="-120"/>
              </a:rPr>
              <a:t>Best: </a:t>
            </a:r>
            <a:pPr indent="0" marL="0">
              <a:lnSpc>
                <a:spcPct val="140000"/>
              </a:lnSpc>
              <a:buNone/>
            </a:pPr>
            <a:r>
              <a:rPr lang="en-US" sz="1000" dirty="0">
                <a:solidFill>
                  <a:srgbClr val="1C1F24"/>
                </a:solidFill>
                <a:latin typeface="Calibri" pitchFamily="34" charset="0"/>
                <a:ea typeface="Calibri" pitchFamily="34" charset="-122"/>
                <a:cs typeface="Calibri" pitchFamily="34" charset="-120"/>
              </a:rPr>
              <a:t>June (R6.8m)
</a:t>
            </a:r>
            <a:pPr indent="0" marL="0">
              <a:lnSpc>
                <a:spcPct val="140000"/>
              </a:lnSpc>
              <a:buNone/>
            </a:pPr>
            <a:r>
              <a:rPr lang="en-US" sz="1000" b="1" dirty="0">
                <a:solidFill>
                  <a:srgbClr val="9C3B2E"/>
                </a:solidFill>
                <a:latin typeface="Calibri" pitchFamily="34" charset="0"/>
                <a:ea typeface="Calibri" pitchFamily="34" charset="-122"/>
                <a:cs typeface="Calibri" pitchFamily="34" charset="-120"/>
              </a:rPr>
              <a:t>Weakest: </a:t>
            </a:r>
            <a:pPr indent="0" marL="0">
              <a:lnSpc>
                <a:spcPct val="140000"/>
              </a:lnSpc>
              <a:buNone/>
            </a:pPr>
            <a:r>
              <a:rPr lang="en-US" sz="1000" dirty="0">
                <a:solidFill>
                  <a:srgbClr val="1C1F24"/>
                </a:solidFill>
                <a:latin typeface="Calibri" pitchFamily="34" charset="0"/>
                <a:ea typeface="Calibri" pitchFamily="34" charset="-122"/>
                <a:cs typeface="Calibri" pitchFamily="34" charset="-120"/>
              </a:rPr>
              <a:t>October (R2.3m)</a:t>
            </a:r>
            <a:endParaRPr lang="en-US" sz="1000" dirty="0"/>
          </a:p>
        </p:txBody>
      </p:sp>
      <p:sp>
        <p:nvSpPr>
          <p:cNvPr id="17" name="Text 12"/>
          <p:cNvSpPr/>
          <p:nvPr/>
        </p:nvSpPr>
        <p:spPr>
          <a:xfrm>
            <a:off x="548640" y="5166360"/>
            <a:ext cx="11064240" cy="274320"/>
          </a:xfrm>
          <a:prstGeom prst="rect">
            <a:avLst/>
          </a:prstGeom>
          <a:noFill/>
          <a:ln/>
        </p:spPr>
        <p:txBody>
          <a:bodyPr wrap="square" rtlCol="0" anchor="ctr"/>
          <a:lstStyle/>
          <a:p>
            <a:pPr indent="0" marL="0">
              <a:buNone/>
            </a:pPr>
            <a:r>
              <a:rPr lang="en-US" sz="900" i="1" dirty="0">
                <a:solidFill>
                  <a:srgbClr val="4B5563"/>
                </a:solidFill>
                <a:latin typeface="Calibri" pitchFamily="34" charset="0"/>
                <a:ea typeface="Calibri" pitchFamily="34" charset="-122"/>
                <a:cs typeface="Calibri" pitchFamily="34" charset="-120"/>
              </a:rPr>
              <a:t>2013 (2 trading days) and Nov 2016 (16 of 30 days) are excluded from best/weakest month comparisons as partial periods.</a:t>
            </a:r>
            <a:endParaRPr lang="en-US" sz="900" dirty="0"/>
          </a:p>
        </p:txBody>
      </p:sp>
      <p:sp>
        <p:nvSpPr>
          <p:cNvPr id="18" name="Shape 13"/>
          <p:cNvSpPr/>
          <p:nvPr/>
        </p:nvSpPr>
        <p:spPr>
          <a:xfrm>
            <a:off x="548640" y="5532120"/>
            <a:ext cx="11064240" cy="457200"/>
          </a:xfrm>
          <a:prstGeom prst="roundRect">
            <a:avLst>
              <a:gd name="adj" fmla="val 10000"/>
            </a:avLst>
          </a:prstGeom>
          <a:solidFill>
            <a:srgbClr val="E6F6F0"/>
          </a:solidFill>
          <a:ln/>
        </p:spPr>
      </p:sp>
      <p:sp>
        <p:nvSpPr>
          <p:cNvPr id="19" name="Text 14"/>
          <p:cNvSpPr/>
          <p:nvPr/>
        </p:nvSpPr>
        <p:spPr>
          <a:xfrm>
            <a:off x="713232" y="5577840"/>
            <a:ext cx="10735056" cy="365760"/>
          </a:xfrm>
          <a:prstGeom prst="rect">
            <a:avLst/>
          </a:prstGeom>
          <a:noFill/>
          <a:ln/>
        </p:spPr>
        <p:txBody>
          <a:bodyPr wrap="square" rtlCol="0" anchor="ctr"/>
          <a:lstStyle/>
          <a:p>
            <a:pPr indent="0" marL="0">
              <a:lnSpc>
                <a:spcPct val="110000"/>
              </a:lnSpc>
              <a:buNone/>
            </a:pPr>
            <a:r>
              <a:rPr lang="en-US" sz="1050" b="1" dirty="0">
                <a:solidFill>
                  <a:srgbClr val="1D9E75"/>
                </a:solidFill>
                <a:latin typeface="Calibri" pitchFamily="34" charset="0"/>
                <a:ea typeface="Calibri" pitchFamily="34" charset="-122"/>
                <a:cs typeface="Calibri" pitchFamily="34" charset="-120"/>
              </a:rPr>
              <a:t>EXECUTIVE INSIGHT   </a:t>
            </a:r>
            <a:pPr indent="0" marL="0">
              <a:lnSpc>
                <a:spcPct val="110000"/>
              </a:lnSpc>
              <a:buNone/>
            </a:pPr>
            <a:r>
              <a:rPr lang="en-US" sz="1050" dirty="0">
                <a:solidFill>
                  <a:srgbClr val="0D5C43"/>
                </a:solidFill>
                <a:latin typeface="Calibri" pitchFamily="34" charset="0"/>
                <a:ea typeface="Calibri" pitchFamily="34" charset="-122"/>
                <a:cs typeface="Calibri" pitchFamily="34" charset="-120"/>
              </a:rPr>
              <a:t>The strongest and weakest months differ every year (Aug/Nov in 2014, May/Jul in 2015, Jun/Oct in 2016) — performance is not driven by a fixed seasonal calendar month, though Q2 (Apr–Jun) recurs among the stronger periods. Further analysis required to confirm a specific seasonal driver (e.g. a recurring campaign or category event).</a:t>
            </a:r>
            <a:endParaRPr lang="en-US" sz="1050" dirty="0"/>
          </a:p>
        </p:txBody>
      </p:sp>
      <p:sp>
        <p:nvSpPr>
          <p:cNvPr id="20" name="Shape 15"/>
          <p:cNvSpPr/>
          <p:nvPr/>
        </p:nvSpPr>
        <p:spPr>
          <a:xfrm>
            <a:off x="457200" y="6419088"/>
            <a:ext cx="11274552" cy="0"/>
          </a:xfrm>
          <a:prstGeom prst="line">
            <a:avLst/>
          </a:prstGeom>
          <a:noFill/>
          <a:ln w="9525">
            <a:solidFill>
              <a:srgbClr val="E3E5E9"/>
            </a:solidFill>
            <a:prstDash val="solid"/>
          </a:ln>
        </p:spPr>
      </p:sp>
      <p:sp>
        <p:nvSpPr>
          <p:cNvPr id="21" name="Text 16"/>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22" name="Text 17"/>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 / 16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SALES, VOLUME AND PROFITABILITY TRENDS</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Sales Growth Has Not Translated Into Gross Profit Growth</a:t>
            </a:r>
            <a:endParaRPr lang="en-US" sz="2300" dirty="0"/>
          </a:p>
        </p:txBody>
      </p:sp>
      <p:graphicFrame>
        <p:nvGraphicFramePr>
          <p:cNvPr id="5" name="Chart 0" descr=""/>
          <p:cNvGraphicFramePr/>
          <p:nvPr/>
        </p:nvGraphicFramePr>
        <p:xfrm>
          <a:off x="548640" y="1508760"/>
          <a:ext cx="7223760" cy="19659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48640" y="3611880"/>
          <a:ext cx="7223760" cy="196596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8001000" y="1508760"/>
          <a:ext cx="3611880" cy="201168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8001000" y="3611880"/>
          <a:ext cx="3611880" cy="2011680"/>
        </p:xfrm>
        <a:graphic xmlns:a="http://schemas.openxmlformats.org/drawingml/2006/main">
          <a:graphicData uri="http://schemas.openxmlformats.org/drawingml/2006/chart">
            <c:chart xmlns:c="http://schemas.openxmlformats.org/drawingml/2006/chart" r:id="rId4"/>
          </a:graphicData>
        </a:graphic>
      </p:graphicFrame>
      <p:sp>
        <p:nvSpPr>
          <p:cNvPr id="9" name="Shape 3"/>
          <p:cNvSpPr/>
          <p:nvPr/>
        </p:nvSpPr>
        <p:spPr>
          <a:xfrm>
            <a:off x="548640" y="5715000"/>
            <a:ext cx="11064240" cy="457200"/>
          </a:xfrm>
          <a:prstGeom prst="roundRect">
            <a:avLst>
              <a:gd name="adj" fmla="val 10000"/>
            </a:avLst>
          </a:prstGeom>
          <a:solidFill>
            <a:srgbClr val="E6F6F0"/>
          </a:solidFill>
          <a:ln/>
        </p:spPr>
      </p:sp>
      <p:sp>
        <p:nvSpPr>
          <p:cNvPr id="10" name="Text 4"/>
          <p:cNvSpPr/>
          <p:nvPr/>
        </p:nvSpPr>
        <p:spPr>
          <a:xfrm>
            <a:off x="713232" y="5760720"/>
            <a:ext cx="10735056" cy="365760"/>
          </a:xfrm>
          <a:prstGeom prst="rect">
            <a:avLst/>
          </a:prstGeom>
          <a:noFill/>
          <a:ln/>
        </p:spPr>
        <p:txBody>
          <a:bodyPr wrap="square" rtlCol="0" anchor="ctr"/>
          <a:lstStyle/>
          <a:p>
            <a:pPr indent="0" marL="0">
              <a:lnSpc>
                <a:spcPct val="110000"/>
              </a:lnSpc>
              <a:buNone/>
            </a:pPr>
            <a:r>
              <a:rPr lang="en-US" sz="1050" b="1" dirty="0">
                <a:solidFill>
                  <a:srgbClr val="1D9E75"/>
                </a:solidFill>
                <a:latin typeface="Calibri" pitchFamily="34" charset="0"/>
                <a:ea typeface="Calibri" pitchFamily="34" charset="-122"/>
                <a:cs typeface="Calibri" pitchFamily="34" charset="-120"/>
              </a:rPr>
              <a:t>EXECUTIVE INSIGHT   </a:t>
            </a:r>
            <a:pPr indent="0" marL="0">
              <a:lnSpc>
                <a:spcPct val="110000"/>
              </a:lnSpc>
              <a:buNone/>
            </a:pPr>
            <a:r>
              <a:rPr lang="en-US" sz="1050" dirty="0">
                <a:solidFill>
                  <a:srgbClr val="0D5C43"/>
                </a:solidFill>
                <a:latin typeface="Calibri" pitchFamily="34" charset="0"/>
                <a:ea typeface="Calibri" pitchFamily="34" charset="-122"/>
                <a:cs typeface="Calibri" pitchFamily="34" charset="-120"/>
              </a:rPr>
              <a:t>Q2 generates the most quarterly revenue (R58.9m) but also the weakest margin (-4.6%) of any quarter — the same inverse pattern shows up at the monthly level throughout the period. Higher volume has been associated with weaker, not stronger, margins.</a:t>
            </a:r>
            <a:endParaRPr lang="en-US" sz="1050" dirty="0"/>
          </a:p>
        </p:txBody>
      </p:sp>
      <p:sp>
        <p:nvSpPr>
          <p:cNvPr id="11" name="Shape 5"/>
          <p:cNvSpPr/>
          <p:nvPr/>
        </p:nvSpPr>
        <p:spPr>
          <a:xfrm>
            <a:off x="457200" y="6419088"/>
            <a:ext cx="11274552" cy="0"/>
          </a:xfrm>
          <a:prstGeom prst="line">
            <a:avLst/>
          </a:prstGeom>
          <a:noFill/>
          <a:ln w="9525">
            <a:solidFill>
              <a:srgbClr val="E3E5E9"/>
            </a:solidFill>
            <a:prstDash val="solid"/>
          </a:ln>
        </p:spPr>
      </p:sp>
      <p:sp>
        <p:nvSpPr>
          <p:cNvPr id="12" name="Text 6"/>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13" name="Text 7"/>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7 / 16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SELLING PRICE AND DEMAND ANALYSIS</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Demand Is Consistent With Meaningful Price Sensitivity</a:t>
            </a:r>
            <a:endParaRPr lang="en-US" sz="2300" dirty="0"/>
          </a:p>
        </p:txBody>
      </p:sp>
      <p:graphicFrame>
        <p:nvGraphicFramePr>
          <p:cNvPr id="5" name="Chart 0" descr=""/>
          <p:cNvGraphicFramePr/>
          <p:nvPr/>
        </p:nvGraphicFramePr>
        <p:xfrm>
          <a:off x="548640" y="1554480"/>
          <a:ext cx="722376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01000" y="1600200"/>
            <a:ext cx="3611880" cy="914400"/>
          </a:xfrm>
          <a:prstGeom prst="roundRect">
            <a:avLst>
              <a:gd name="adj" fmla="val 6000"/>
            </a:avLst>
          </a:prstGeom>
          <a:solidFill>
            <a:srgbClr val="F5F6F8"/>
          </a:solidFill>
          <a:ln/>
        </p:spPr>
      </p:sp>
      <p:sp>
        <p:nvSpPr>
          <p:cNvPr id="7" name="Text 4"/>
          <p:cNvSpPr/>
          <p:nvPr/>
        </p:nvSpPr>
        <p:spPr>
          <a:xfrm>
            <a:off x="8183880" y="1673352"/>
            <a:ext cx="3291840" cy="228600"/>
          </a:xfrm>
          <a:prstGeom prst="rect">
            <a:avLst/>
          </a:prstGeom>
          <a:noFill/>
          <a:ln/>
        </p:spPr>
        <p:txBody>
          <a:bodyPr wrap="square" rtlCol="0" anchor="ctr"/>
          <a:lstStyle/>
          <a:p>
            <a:pPr indent="0" marL="0">
              <a:buNone/>
            </a:pPr>
            <a:r>
              <a:rPr lang="en-US" sz="800" b="1" spc="30" kern="0" dirty="0">
                <a:solidFill>
                  <a:srgbClr val="4B5563"/>
                </a:solidFill>
                <a:latin typeface="Calibri" pitchFamily="34" charset="0"/>
                <a:ea typeface="Calibri" pitchFamily="34" charset="-122"/>
                <a:cs typeface="Calibri" pitchFamily="34" charset="-120"/>
              </a:rPr>
              <a:t>PRICE ↔ QUANTITY CORRELATION</a:t>
            </a:r>
            <a:endParaRPr lang="en-US" sz="800" dirty="0"/>
          </a:p>
        </p:txBody>
      </p:sp>
      <p:sp>
        <p:nvSpPr>
          <p:cNvPr id="8" name="Text 5"/>
          <p:cNvSpPr/>
          <p:nvPr/>
        </p:nvSpPr>
        <p:spPr>
          <a:xfrm>
            <a:off x="8183880" y="1874520"/>
            <a:ext cx="3291840" cy="365760"/>
          </a:xfrm>
          <a:prstGeom prst="rect">
            <a:avLst/>
          </a:prstGeom>
          <a:noFill/>
          <a:ln/>
        </p:spPr>
        <p:txBody>
          <a:bodyPr wrap="square" rtlCol="0" anchor="ctr"/>
          <a:lstStyle/>
          <a:p>
            <a:pPr indent="0" marL="0">
              <a:buNone/>
            </a:pPr>
            <a:r>
              <a:rPr lang="en-US" sz="1700" b="1" dirty="0">
                <a:solidFill>
                  <a:srgbClr val="0A1A30"/>
                </a:solidFill>
                <a:latin typeface="Georgia" pitchFamily="34" charset="0"/>
                <a:ea typeface="Georgia" pitchFamily="34" charset="-122"/>
                <a:cs typeface="Georgia" pitchFamily="34" charset="-120"/>
              </a:rPr>
              <a:t>r = -0.625</a:t>
            </a:r>
            <a:endParaRPr lang="en-US" sz="1700" dirty="0"/>
          </a:p>
        </p:txBody>
      </p:sp>
      <p:sp>
        <p:nvSpPr>
          <p:cNvPr id="9" name="Text 6"/>
          <p:cNvSpPr/>
          <p:nvPr/>
        </p:nvSpPr>
        <p:spPr>
          <a:xfrm>
            <a:off x="8183880" y="2221992"/>
            <a:ext cx="3291840" cy="274320"/>
          </a:xfrm>
          <a:prstGeom prst="rect">
            <a:avLst/>
          </a:prstGeom>
          <a:noFill/>
          <a:ln/>
        </p:spPr>
        <p:txBody>
          <a:bodyPr wrap="square" rtlCol="0" anchor="ctr"/>
          <a:lstStyle/>
          <a:p>
            <a:pPr indent="0" marL="0">
              <a:buNone/>
            </a:pPr>
            <a:r>
              <a:rPr lang="en-US" sz="850" dirty="0">
                <a:solidFill>
                  <a:srgbClr val="1C1F24"/>
                </a:solidFill>
                <a:latin typeface="Calibri" pitchFamily="34" charset="0"/>
                <a:ea typeface="Calibri" pitchFamily="34" charset="-122"/>
                <a:cs typeface="Calibri" pitchFamily="34" charset="-120"/>
              </a:rPr>
              <a:t>Moderately strong negative relationship (Pearson)</a:t>
            </a:r>
            <a:endParaRPr lang="en-US" sz="850" dirty="0"/>
          </a:p>
        </p:txBody>
      </p:sp>
      <p:sp>
        <p:nvSpPr>
          <p:cNvPr id="10" name="Shape 7"/>
          <p:cNvSpPr/>
          <p:nvPr/>
        </p:nvSpPr>
        <p:spPr>
          <a:xfrm>
            <a:off x="8001000" y="2697480"/>
            <a:ext cx="3611880" cy="914400"/>
          </a:xfrm>
          <a:prstGeom prst="roundRect">
            <a:avLst>
              <a:gd name="adj" fmla="val 6000"/>
            </a:avLst>
          </a:prstGeom>
          <a:solidFill>
            <a:srgbClr val="F5F6F8"/>
          </a:solidFill>
          <a:ln/>
        </p:spPr>
      </p:sp>
      <p:sp>
        <p:nvSpPr>
          <p:cNvPr id="11" name="Text 8"/>
          <p:cNvSpPr/>
          <p:nvPr/>
        </p:nvSpPr>
        <p:spPr>
          <a:xfrm>
            <a:off x="8183880" y="2770632"/>
            <a:ext cx="3291840" cy="228600"/>
          </a:xfrm>
          <a:prstGeom prst="rect">
            <a:avLst/>
          </a:prstGeom>
          <a:noFill/>
          <a:ln/>
        </p:spPr>
        <p:txBody>
          <a:bodyPr wrap="square" rtlCol="0" anchor="ctr"/>
          <a:lstStyle/>
          <a:p>
            <a:pPr indent="0" marL="0">
              <a:buNone/>
            </a:pPr>
            <a:r>
              <a:rPr lang="en-US" sz="800" b="1" spc="30" kern="0" dirty="0">
                <a:solidFill>
                  <a:srgbClr val="4B5563"/>
                </a:solidFill>
                <a:latin typeface="Calibri" pitchFamily="34" charset="0"/>
                <a:ea typeface="Calibri" pitchFamily="34" charset="-122"/>
                <a:cs typeface="Calibri" pitchFamily="34" charset="-120"/>
              </a:rPr>
              <a:t>RANK-BASED CORRELATION</a:t>
            </a:r>
            <a:endParaRPr lang="en-US" sz="800" dirty="0"/>
          </a:p>
        </p:txBody>
      </p:sp>
      <p:sp>
        <p:nvSpPr>
          <p:cNvPr id="12" name="Text 9"/>
          <p:cNvSpPr/>
          <p:nvPr/>
        </p:nvSpPr>
        <p:spPr>
          <a:xfrm>
            <a:off x="8183880" y="2971800"/>
            <a:ext cx="3291840" cy="365760"/>
          </a:xfrm>
          <a:prstGeom prst="rect">
            <a:avLst/>
          </a:prstGeom>
          <a:noFill/>
          <a:ln/>
        </p:spPr>
        <p:txBody>
          <a:bodyPr wrap="square" rtlCol="0" anchor="ctr"/>
          <a:lstStyle/>
          <a:p>
            <a:pPr indent="0" marL="0">
              <a:buNone/>
            </a:pPr>
            <a:r>
              <a:rPr lang="en-US" sz="1700" b="1" dirty="0">
                <a:solidFill>
                  <a:srgbClr val="0A1A30"/>
                </a:solidFill>
                <a:latin typeface="Georgia" pitchFamily="34" charset="0"/>
                <a:ea typeface="Georgia" pitchFamily="34" charset="-122"/>
                <a:cs typeface="Georgia" pitchFamily="34" charset="-120"/>
              </a:rPr>
              <a:t>ρ = -0.702</a:t>
            </a:r>
            <a:endParaRPr lang="en-US" sz="1700" dirty="0"/>
          </a:p>
        </p:txBody>
      </p:sp>
      <p:sp>
        <p:nvSpPr>
          <p:cNvPr id="13" name="Text 10"/>
          <p:cNvSpPr/>
          <p:nvPr/>
        </p:nvSpPr>
        <p:spPr>
          <a:xfrm>
            <a:off x="8183880" y="3319272"/>
            <a:ext cx="3291840" cy="274320"/>
          </a:xfrm>
          <a:prstGeom prst="rect">
            <a:avLst/>
          </a:prstGeom>
          <a:noFill/>
          <a:ln/>
        </p:spPr>
        <p:txBody>
          <a:bodyPr wrap="square" rtlCol="0" anchor="ctr"/>
          <a:lstStyle/>
          <a:p>
            <a:pPr indent="0" marL="0">
              <a:buNone/>
            </a:pPr>
            <a:r>
              <a:rPr lang="en-US" sz="850" dirty="0">
                <a:solidFill>
                  <a:srgbClr val="1C1F24"/>
                </a:solidFill>
                <a:latin typeface="Calibri" pitchFamily="34" charset="0"/>
                <a:ea typeface="Calibri" pitchFamily="34" charset="-122"/>
                <a:cs typeface="Calibri" pitchFamily="34" charset="-120"/>
              </a:rPr>
              <a:t>Confirms the relationship is not driven by outliers (Spearman)</a:t>
            </a:r>
            <a:endParaRPr lang="en-US" sz="850" dirty="0"/>
          </a:p>
        </p:txBody>
      </p:sp>
      <p:sp>
        <p:nvSpPr>
          <p:cNvPr id="14" name="Shape 11"/>
          <p:cNvSpPr/>
          <p:nvPr/>
        </p:nvSpPr>
        <p:spPr>
          <a:xfrm>
            <a:off x="8001000" y="3794760"/>
            <a:ext cx="3611880" cy="914400"/>
          </a:xfrm>
          <a:prstGeom prst="roundRect">
            <a:avLst>
              <a:gd name="adj" fmla="val 6000"/>
            </a:avLst>
          </a:prstGeom>
          <a:solidFill>
            <a:srgbClr val="F5F6F8"/>
          </a:solidFill>
          <a:ln/>
        </p:spPr>
      </p:sp>
      <p:sp>
        <p:nvSpPr>
          <p:cNvPr id="15" name="Text 12"/>
          <p:cNvSpPr/>
          <p:nvPr/>
        </p:nvSpPr>
        <p:spPr>
          <a:xfrm>
            <a:off x="8183880" y="3867912"/>
            <a:ext cx="3291840" cy="228600"/>
          </a:xfrm>
          <a:prstGeom prst="rect">
            <a:avLst/>
          </a:prstGeom>
          <a:noFill/>
          <a:ln/>
        </p:spPr>
        <p:txBody>
          <a:bodyPr wrap="square" rtlCol="0" anchor="ctr"/>
          <a:lstStyle/>
          <a:p>
            <a:pPr indent="0" marL="0">
              <a:buNone/>
            </a:pPr>
            <a:r>
              <a:rPr lang="en-US" sz="800" b="1" spc="30" kern="0" dirty="0">
                <a:solidFill>
                  <a:srgbClr val="4B5563"/>
                </a:solidFill>
                <a:latin typeface="Calibri" pitchFamily="34" charset="0"/>
                <a:ea typeface="Calibri" pitchFamily="34" charset="-122"/>
                <a:cs typeface="Calibri" pitchFamily="34" charset="-120"/>
              </a:rPr>
              <a:t>PRICE ↔ MARGIN CORRELATION</a:t>
            </a:r>
            <a:endParaRPr lang="en-US" sz="800" dirty="0"/>
          </a:p>
        </p:txBody>
      </p:sp>
      <p:sp>
        <p:nvSpPr>
          <p:cNvPr id="16" name="Text 13"/>
          <p:cNvSpPr/>
          <p:nvPr/>
        </p:nvSpPr>
        <p:spPr>
          <a:xfrm>
            <a:off x="8183880" y="4069080"/>
            <a:ext cx="3291840" cy="365760"/>
          </a:xfrm>
          <a:prstGeom prst="rect">
            <a:avLst/>
          </a:prstGeom>
          <a:noFill/>
          <a:ln/>
        </p:spPr>
        <p:txBody>
          <a:bodyPr wrap="square" rtlCol="0" anchor="ctr"/>
          <a:lstStyle/>
          <a:p>
            <a:pPr indent="0" marL="0">
              <a:buNone/>
            </a:pPr>
            <a:r>
              <a:rPr lang="en-US" sz="1700" b="1" dirty="0">
                <a:solidFill>
                  <a:srgbClr val="1D9E75"/>
                </a:solidFill>
                <a:latin typeface="Georgia" pitchFamily="34" charset="0"/>
                <a:ea typeface="Georgia" pitchFamily="34" charset="-122"/>
                <a:cs typeface="Georgia" pitchFamily="34" charset="-120"/>
              </a:rPr>
              <a:t>r = 0.644</a:t>
            </a:r>
            <a:endParaRPr lang="en-US" sz="1700" dirty="0"/>
          </a:p>
        </p:txBody>
      </p:sp>
      <p:sp>
        <p:nvSpPr>
          <p:cNvPr id="17" name="Text 14"/>
          <p:cNvSpPr/>
          <p:nvPr/>
        </p:nvSpPr>
        <p:spPr>
          <a:xfrm>
            <a:off x="8183880" y="4416552"/>
            <a:ext cx="3291840" cy="274320"/>
          </a:xfrm>
          <a:prstGeom prst="rect">
            <a:avLst/>
          </a:prstGeom>
          <a:noFill/>
          <a:ln/>
        </p:spPr>
        <p:txBody>
          <a:bodyPr wrap="square" rtlCol="0" anchor="ctr"/>
          <a:lstStyle/>
          <a:p>
            <a:pPr indent="0" marL="0">
              <a:buNone/>
            </a:pPr>
            <a:r>
              <a:rPr lang="en-US" sz="850" dirty="0">
                <a:solidFill>
                  <a:srgbClr val="1C1F24"/>
                </a:solidFill>
                <a:latin typeface="Calibri" pitchFamily="34" charset="0"/>
                <a:ea typeface="Calibri" pitchFamily="34" charset="-122"/>
                <a:cs typeface="Calibri" pitchFamily="34" charset="-120"/>
              </a:rPr>
              <a:t>Higher prices are associated with better gross profit margins</a:t>
            </a:r>
            <a:endParaRPr lang="en-US" sz="850" dirty="0"/>
          </a:p>
        </p:txBody>
      </p:sp>
      <p:sp>
        <p:nvSpPr>
          <p:cNvPr id="18" name="Text 15"/>
          <p:cNvSpPr/>
          <p:nvPr/>
        </p:nvSpPr>
        <p:spPr>
          <a:xfrm>
            <a:off x="8001000" y="4892040"/>
            <a:ext cx="3611880" cy="274320"/>
          </a:xfrm>
          <a:prstGeom prst="rect">
            <a:avLst/>
          </a:prstGeom>
          <a:noFill/>
          <a:ln/>
        </p:spPr>
        <p:txBody>
          <a:bodyPr wrap="square" rtlCol="0" anchor="ctr"/>
          <a:lstStyle/>
          <a:p>
            <a:pPr indent="0" marL="0">
              <a:buNone/>
            </a:pPr>
            <a:r>
              <a:rPr lang="en-US" sz="1050" b="1" dirty="0">
                <a:solidFill>
                  <a:srgbClr val="0A1A30"/>
                </a:solidFill>
                <a:latin typeface="Calibri" pitchFamily="34" charset="0"/>
                <a:ea typeface="Calibri" pitchFamily="34" charset="-122"/>
                <a:cs typeface="Calibri" pitchFamily="34" charset="-120"/>
              </a:rPr>
              <a:t>Reading correlation vs causation</a:t>
            </a:r>
            <a:endParaRPr lang="en-US" sz="1050" dirty="0"/>
          </a:p>
        </p:txBody>
      </p:sp>
      <p:sp>
        <p:nvSpPr>
          <p:cNvPr id="19" name="Text 16"/>
          <p:cNvSpPr/>
          <p:nvPr/>
        </p:nvSpPr>
        <p:spPr>
          <a:xfrm>
            <a:off x="8001000" y="5166360"/>
            <a:ext cx="3611880" cy="1188720"/>
          </a:xfrm>
          <a:prstGeom prst="rect">
            <a:avLst/>
          </a:prstGeom>
          <a:noFill/>
          <a:ln/>
        </p:spPr>
        <p:txBody>
          <a:bodyPr wrap="square" rtlCol="0" anchor="ctr"/>
          <a:lstStyle/>
          <a:p>
            <a:pPr indent="0" marL="0">
              <a:lnSpc>
                <a:spcPct val="125000"/>
              </a:lnSpc>
              <a:buNone/>
            </a:pPr>
            <a:r>
              <a:rPr lang="en-US" sz="950" i="1" dirty="0">
                <a:solidFill>
                  <a:srgbClr val="4B5563"/>
                </a:solidFill>
                <a:latin typeface="Calibri" pitchFamily="34" charset="0"/>
                <a:ea typeface="Calibri" pitchFamily="34" charset="-122"/>
                <a:cs typeface="Calibri" pitchFamily="34" charset="-120"/>
              </a:rPr>
              <a:t>These figures show association, not proof of cause. Lower prices are consistent with, and may indicate, higher demand — other factors (seasonality, stock availability) were not isolated in this analysis.</a:t>
            </a:r>
            <a:endParaRPr lang="en-US" sz="950" dirty="0"/>
          </a:p>
        </p:txBody>
      </p:sp>
      <p:sp>
        <p:nvSpPr>
          <p:cNvPr id="20" name="Shape 17"/>
          <p:cNvSpPr/>
          <p:nvPr/>
        </p:nvSpPr>
        <p:spPr>
          <a:xfrm>
            <a:off x="457200" y="6419088"/>
            <a:ext cx="11274552" cy="0"/>
          </a:xfrm>
          <a:prstGeom prst="line">
            <a:avLst/>
          </a:prstGeom>
          <a:noFill/>
          <a:ln w="9525">
            <a:solidFill>
              <a:srgbClr val="E3E5E9"/>
            </a:solidFill>
            <a:prstDash val="solid"/>
          </a:ln>
        </p:spPr>
      </p:sp>
      <p:sp>
        <p:nvSpPr>
          <p:cNvPr id="21" name="Text 18"/>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22" name="Text 19"/>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8 / 16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ROLLING TREND ANALYSIS</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Short-Term Price Momentum Has Turned Upward Into Late 2016</a:t>
            </a:r>
            <a:endParaRPr lang="en-US" sz="2300" dirty="0"/>
          </a:p>
        </p:txBody>
      </p:sp>
      <p:graphicFrame>
        <p:nvGraphicFramePr>
          <p:cNvPr id="5" name="Chart 0" descr=""/>
          <p:cNvGraphicFramePr/>
          <p:nvPr/>
        </p:nvGraphicFramePr>
        <p:xfrm>
          <a:off x="548640" y="1508760"/>
          <a:ext cx="11064240" cy="2057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48640" y="3794760"/>
          <a:ext cx="11064240" cy="205740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48640" y="6035040"/>
            <a:ext cx="11064240" cy="457200"/>
          </a:xfrm>
          <a:prstGeom prst="roundRect">
            <a:avLst>
              <a:gd name="adj" fmla="val 10000"/>
            </a:avLst>
          </a:prstGeom>
          <a:solidFill>
            <a:srgbClr val="E6F6F0"/>
          </a:solidFill>
          <a:ln/>
        </p:spPr>
      </p:sp>
      <p:sp>
        <p:nvSpPr>
          <p:cNvPr id="8" name="Text 4"/>
          <p:cNvSpPr/>
          <p:nvPr/>
        </p:nvSpPr>
        <p:spPr>
          <a:xfrm>
            <a:off x="713232" y="6080760"/>
            <a:ext cx="10735056" cy="365760"/>
          </a:xfrm>
          <a:prstGeom prst="rect">
            <a:avLst/>
          </a:prstGeom>
          <a:noFill/>
          <a:ln/>
        </p:spPr>
        <p:txBody>
          <a:bodyPr wrap="square" rtlCol="0" anchor="ctr"/>
          <a:lstStyle/>
          <a:p>
            <a:pPr indent="0" marL="0">
              <a:lnSpc>
                <a:spcPct val="110000"/>
              </a:lnSpc>
              <a:buNone/>
            </a:pPr>
            <a:r>
              <a:rPr lang="en-US" sz="1050" b="1" dirty="0">
                <a:solidFill>
                  <a:srgbClr val="1D9E75"/>
                </a:solidFill>
                <a:latin typeface="Calibri" pitchFamily="34" charset="0"/>
                <a:ea typeface="Calibri" pitchFamily="34" charset="-122"/>
                <a:cs typeface="Calibri" pitchFamily="34" charset="-120"/>
              </a:rPr>
              <a:t>EXECUTIVE INSIGHT   </a:t>
            </a:r>
            <a:pPr indent="0" marL="0">
              <a:lnSpc>
                <a:spcPct val="110000"/>
              </a:lnSpc>
              <a:buNone/>
            </a:pPr>
            <a:r>
              <a:rPr lang="en-US" sz="1050" dirty="0">
                <a:solidFill>
                  <a:srgbClr val="0D5C43"/>
                </a:solidFill>
                <a:latin typeface="Calibri" pitchFamily="34" charset="0"/>
                <a:ea typeface="Calibri" pitchFamily="34" charset="-122"/>
                <a:cs typeface="Calibri" pitchFamily="34" charset="-120"/>
              </a:rPr>
              <a:t>The 7-day average reflects recent movement; the 30-day average smooths it into a stable benchmark. At the most recent data point, the 7-day price (R43.18) sits above the 30-day price (R42.86) — short-term momentum is still upward, while both 7-day (6.0%) and 30-day (8.2%) margins remain solidly positive.</a:t>
            </a:r>
            <a:endParaRPr lang="en-US" sz="1050" dirty="0"/>
          </a:p>
        </p:txBody>
      </p:sp>
      <p:sp>
        <p:nvSpPr>
          <p:cNvPr id="9" name="Shape 5"/>
          <p:cNvSpPr/>
          <p:nvPr/>
        </p:nvSpPr>
        <p:spPr>
          <a:xfrm>
            <a:off x="457200" y="6419088"/>
            <a:ext cx="11274552" cy="0"/>
          </a:xfrm>
          <a:prstGeom prst="line">
            <a:avLst/>
          </a:prstGeom>
          <a:noFill/>
          <a:ln w="9525">
            <a:solidFill>
              <a:srgbClr val="E3E5E9"/>
            </a:solidFill>
            <a:prstDash val="solid"/>
          </a:ln>
        </p:spPr>
      </p:sp>
      <p:sp>
        <p:nvSpPr>
          <p:cNvPr id="10" name="Text 6"/>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11" name="Text 7"/>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9 / 16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PROMOTION DETECTION METHODOLOGY</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28 Promotion Periods Were Analytically Detected Across the Dataset</a:t>
            </a:r>
            <a:endParaRPr lang="en-US" sz="2300" dirty="0"/>
          </a:p>
        </p:txBody>
      </p:sp>
      <p:sp>
        <p:nvSpPr>
          <p:cNvPr id="5" name="Shape 3"/>
          <p:cNvSpPr/>
          <p:nvPr/>
        </p:nvSpPr>
        <p:spPr>
          <a:xfrm>
            <a:off x="548640" y="1508760"/>
            <a:ext cx="11064240" cy="960120"/>
          </a:xfrm>
          <a:prstGeom prst="roundRect">
            <a:avLst>
              <a:gd name="adj" fmla="val 5714"/>
            </a:avLst>
          </a:prstGeom>
          <a:solidFill>
            <a:srgbClr val="F5F6F8"/>
          </a:solidFill>
          <a:ln/>
        </p:spPr>
      </p:sp>
      <p:sp>
        <p:nvSpPr>
          <p:cNvPr id="6" name="Text 4"/>
          <p:cNvSpPr/>
          <p:nvPr/>
        </p:nvSpPr>
        <p:spPr>
          <a:xfrm>
            <a:off x="822960" y="1627632"/>
            <a:ext cx="2743200" cy="274320"/>
          </a:xfrm>
          <a:prstGeom prst="rect">
            <a:avLst/>
          </a:prstGeom>
          <a:noFill/>
          <a:ln/>
        </p:spPr>
        <p:txBody>
          <a:bodyPr wrap="square" rtlCol="0" anchor="ctr"/>
          <a:lstStyle/>
          <a:p>
            <a:pPr indent="0" marL="0">
              <a:buNone/>
            </a:pPr>
            <a:r>
              <a:rPr lang="en-US" sz="950" b="1" spc="100" kern="0" dirty="0">
                <a:solidFill>
                  <a:srgbClr val="B8933E"/>
                </a:solidFill>
                <a:latin typeface="Calibri" pitchFamily="34" charset="0"/>
                <a:ea typeface="Calibri" pitchFamily="34" charset="-122"/>
                <a:cs typeface="Calibri" pitchFamily="34" charset="-120"/>
              </a:rPr>
              <a:t>DETECTION RULE</a:t>
            </a:r>
            <a:endParaRPr lang="en-US" sz="950" dirty="0"/>
          </a:p>
        </p:txBody>
      </p:sp>
      <p:sp>
        <p:nvSpPr>
          <p:cNvPr id="7" name="Text 5"/>
          <p:cNvSpPr/>
          <p:nvPr/>
        </p:nvSpPr>
        <p:spPr>
          <a:xfrm>
            <a:off x="822960" y="1892808"/>
            <a:ext cx="10515600" cy="548640"/>
          </a:xfrm>
          <a:prstGeom prst="rect">
            <a:avLst/>
          </a:prstGeom>
          <a:noFill/>
          <a:ln/>
        </p:spPr>
        <p:txBody>
          <a:bodyPr wrap="square" rtlCol="0" anchor="ctr"/>
          <a:lstStyle/>
          <a:p>
            <a:pPr indent="0" marL="0">
              <a:lnSpc>
                <a:spcPct val="120000"/>
              </a:lnSpc>
              <a:buNone/>
            </a:pPr>
            <a:r>
              <a:rPr lang="en-US" sz="1050" dirty="0">
                <a:solidFill>
                  <a:srgbClr val="1C1F24"/>
                </a:solidFill>
                <a:latin typeface="Calibri" pitchFamily="34" charset="0"/>
                <a:ea typeface="Calibri" pitchFamily="34" charset="-122"/>
                <a:cs typeface="Calibri" pitchFamily="34" charset="-120"/>
              </a:rPr>
              <a:t>A day is flagged as a potential promotion day when (1) the average selling price falls more than one standard deviation below its trailing 30-day average, and (2) quantity sold rises above its trailing 30-day average, on the same day. Consecutive flagged days form a promotion period.</a:t>
            </a:r>
            <a:endParaRPr lang="en-US" sz="1050" dirty="0"/>
          </a:p>
        </p:txBody>
      </p:sp>
      <p:sp>
        <p:nvSpPr>
          <p:cNvPr id="8" name="Shape 6"/>
          <p:cNvSpPr/>
          <p:nvPr/>
        </p:nvSpPr>
        <p:spPr>
          <a:xfrm>
            <a:off x="548640" y="2651760"/>
            <a:ext cx="2651760" cy="1234440"/>
          </a:xfrm>
          <a:prstGeom prst="roundRect">
            <a:avLst>
              <a:gd name="adj" fmla="val 4444"/>
            </a:avLst>
          </a:prstGeom>
          <a:solidFill>
            <a:srgbClr val="E6F6F0"/>
          </a:solidFill>
          <a:ln/>
        </p:spPr>
      </p:sp>
      <p:sp>
        <p:nvSpPr>
          <p:cNvPr id="9" name="Text 7"/>
          <p:cNvSpPr/>
          <p:nvPr/>
        </p:nvSpPr>
        <p:spPr>
          <a:xfrm>
            <a:off x="685800" y="2788920"/>
            <a:ext cx="2377440" cy="502920"/>
          </a:xfrm>
          <a:prstGeom prst="rect">
            <a:avLst/>
          </a:prstGeom>
          <a:noFill/>
          <a:ln/>
        </p:spPr>
        <p:txBody>
          <a:bodyPr wrap="square" rtlCol="0" anchor="ctr"/>
          <a:lstStyle/>
          <a:p>
            <a:pPr indent="0" marL="0">
              <a:buNone/>
            </a:pPr>
            <a:r>
              <a:rPr lang="en-US" sz="2200" b="1" dirty="0">
                <a:solidFill>
                  <a:srgbClr val="0D5C43"/>
                </a:solidFill>
                <a:latin typeface="Georgia" pitchFamily="34" charset="0"/>
                <a:ea typeface="Georgia" pitchFamily="34" charset="-122"/>
                <a:cs typeface="Georgia" pitchFamily="34" charset="-120"/>
              </a:rPr>
              <a:t>28</a:t>
            </a:r>
            <a:endParaRPr lang="en-US" sz="2200" dirty="0"/>
          </a:p>
        </p:txBody>
      </p:sp>
      <p:sp>
        <p:nvSpPr>
          <p:cNvPr id="10" name="Text 8"/>
          <p:cNvSpPr/>
          <p:nvPr/>
        </p:nvSpPr>
        <p:spPr>
          <a:xfrm>
            <a:off x="685800" y="3291840"/>
            <a:ext cx="2377440" cy="274320"/>
          </a:xfrm>
          <a:prstGeom prst="rect">
            <a:avLst/>
          </a:prstGeom>
          <a:noFill/>
          <a:ln/>
        </p:spPr>
        <p:txBody>
          <a:bodyPr wrap="square" rtlCol="0" anchor="ctr"/>
          <a:lstStyle/>
          <a:p>
            <a:pPr indent="0" marL="0">
              <a:buNone/>
            </a:pPr>
            <a:r>
              <a:rPr lang="en-US" sz="950" b="1" dirty="0">
                <a:solidFill>
                  <a:srgbClr val="1C1F24"/>
                </a:solidFill>
                <a:latin typeface="Calibri" pitchFamily="34" charset="0"/>
                <a:ea typeface="Calibri" pitchFamily="34" charset="-122"/>
                <a:cs typeface="Calibri" pitchFamily="34" charset="-120"/>
              </a:rPr>
              <a:t>Promotion periods detected</a:t>
            </a:r>
            <a:endParaRPr lang="en-US" sz="950" dirty="0"/>
          </a:p>
        </p:txBody>
      </p:sp>
      <p:sp>
        <p:nvSpPr>
          <p:cNvPr id="11" name="Text 9"/>
          <p:cNvSpPr/>
          <p:nvPr/>
        </p:nvSpPr>
        <p:spPr>
          <a:xfrm>
            <a:off x="685800" y="3538728"/>
            <a:ext cx="237744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2+ consecutive flagged days</a:t>
            </a:r>
            <a:endParaRPr lang="en-US" sz="850" dirty="0"/>
          </a:p>
        </p:txBody>
      </p:sp>
      <p:sp>
        <p:nvSpPr>
          <p:cNvPr id="12" name="Shape 10"/>
          <p:cNvSpPr/>
          <p:nvPr/>
        </p:nvSpPr>
        <p:spPr>
          <a:xfrm>
            <a:off x="3337560" y="2651760"/>
            <a:ext cx="2651760" cy="1234440"/>
          </a:xfrm>
          <a:prstGeom prst="roundRect">
            <a:avLst>
              <a:gd name="adj" fmla="val 4444"/>
            </a:avLst>
          </a:prstGeom>
          <a:solidFill>
            <a:srgbClr val="E6F6F0"/>
          </a:solidFill>
          <a:ln/>
        </p:spPr>
      </p:sp>
      <p:sp>
        <p:nvSpPr>
          <p:cNvPr id="13" name="Text 11"/>
          <p:cNvSpPr/>
          <p:nvPr/>
        </p:nvSpPr>
        <p:spPr>
          <a:xfrm>
            <a:off x="3474720" y="2788920"/>
            <a:ext cx="2377440" cy="502920"/>
          </a:xfrm>
          <a:prstGeom prst="rect">
            <a:avLst/>
          </a:prstGeom>
          <a:noFill/>
          <a:ln/>
        </p:spPr>
        <p:txBody>
          <a:bodyPr wrap="square" rtlCol="0" anchor="ctr"/>
          <a:lstStyle/>
          <a:p>
            <a:pPr indent="0" marL="0">
              <a:buNone/>
            </a:pPr>
            <a:r>
              <a:rPr lang="en-US" sz="2200" b="1" dirty="0">
                <a:solidFill>
                  <a:srgbClr val="0D5C43"/>
                </a:solidFill>
                <a:latin typeface="Georgia" pitchFamily="34" charset="0"/>
                <a:ea typeface="Georgia" pitchFamily="34" charset="-122"/>
                <a:cs typeface="Georgia" pitchFamily="34" charset="-120"/>
              </a:rPr>
              <a:t>5.9 days</a:t>
            </a:r>
            <a:endParaRPr lang="en-US" sz="2200" dirty="0"/>
          </a:p>
        </p:txBody>
      </p:sp>
      <p:sp>
        <p:nvSpPr>
          <p:cNvPr id="14" name="Text 12"/>
          <p:cNvSpPr/>
          <p:nvPr/>
        </p:nvSpPr>
        <p:spPr>
          <a:xfrm>
            <a:off x="3474720" y="3291840"/>
            <a:ext cx="2377440" cy="274320"/>
          </a:xfrm>
          <a:prstGeom prst="rect">
            <a:avLst/>
          </a:prstGeom>
          <a:noFill/>
          <a:ln/>
        </p:spPr>
        <p:txBody>
          <a:bodyPr wrap="square" rtlCol="0" anchor="ctr"/>
          <a:lstStyle/>
          <a:p>
            <a:pPr indent="0" marL="0">
              <a:buNone/>
            </a:pPr>
            <a:r>
              <a:rPr lang="en-US" sz="950" b="1" dirty="0">
                <a:solidFill>
                  <a:srgbClr val="1C1F24"/>
                </a:solidFill>
                <a:latin typeface="Calibri" pitchFamily="34" charset="0"/>
                <a:ea typeface="Calibri" pitchFamily="34" charset="-122"/>
                <a:cs typeface="Calibri" pitchFamily="34" charset="-120"/>
              </a:rPr>
              <a:t>Average duration</a:t>
            </a:r>
            <a:endParaRPr lang="en-US" sz="950" dirty="0"/>
          </a:p>
        </p:txBody>
      </p:sp>
      <p:sp>
        <p:nvSpPr>
          <p:cNvPr id="15" name="Text 13"/>
          <p:cNvSpPr/>
          <p:nvPr/>
        </p:nvSpPr>
        <p:spPr>
          <a:xfrm>
            <a:off x="3474720" y="3538728"/>
            <a:ext cx="237744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Range: 2–13 days</a:t>
            </a:r>
            <a:endParaRPr lang="en-US" sz="850" dirty="0"/>
          </a:p>
        </p:txBody>
      </p:sp>
      <p:sp>
        <p:nvSpPr>
          <p:cNvPr id="16" name="Shape 14"/>
          <p:cNvSpPr/>
          <p:nvPr/>
        </p:nvSpPr>
        <p:spPr>
          <a:xfrm>
            <a:off x="6126480" y="2651760"/>
            <a:ext cx="2651760" cy="1234440"/>
          </a:xfrm>
          <a:prstGeom prst="roundRect">
            <a:avLst>
              <a:gd name="adj" fmla="val 4444"/>
            </a:avLst>
          </a:prstGeom>
          <a:solidFill>
            <a:srgbClr val="E6F6F0"/>
          </a:solidFill>
          <a:ln/>
        </p:spPr>
      </p:sp>
      <p:sp>
        <p:nvSpPr>
          <p:cNvPr id="17" name="Text 15"/>
          <p:cNvSpPr/>
          <p:nvPr/>
        </p:nvSpPr>
        <p:spPr>
          <a:xfrm>
            <a:off x="6263640" y="2788920"/>
            <a:ext cx="2377440" cy="502920"/>
          </a:xfrm>
          <a:prstGeom prst="rect">
            <a:avLst/>
          </a:prstGeom>
          <a:noFill/>
          <a:ln/>
        </p:spPr>
        <p:txBody>
          <a:bodyPr wrap="square" rtlCol="0" anchor="ctr"/>
          <a:lstStyle/>
          <a:p>
            <a:pPr indent="0" marL="0">
              <a:buNone/>
            </a:pPr>
            <a:r>
              <a:rPr lang="en-US" sz="2200" b="1" dirty="0">
                <a:solidFill>
                  <a:srgbClr val="0D5C43"/>
                </a:solidFill>
                <a:latin typeface="Georgia" pitchFamily="34" charset="0"/>
                <a:ea typeface="Georgia" pitchFamily="34" charset="-122"/>
                <a:cs typeface="Georgia" pitchFamily="34" charset="-120"/>
              </a:rPr>
              <a:t>183</a:t>
            </a:r>
            <a:endParaRPr lang="en-US" sz="2200" dirty="0"/>
          </a:p>
        </p:txBody>
      </p:sp>
      <p:sp>
        <p:nvSpPr>
          <p:cNvPr id="18" name="Text 16"/>
          <p:cNvSpPr/>
          <p:nvPr/>
        </p:nvSpPr>
        <p:spPr>
          <a:xfrm>
            <a:off x="6263640" y="3291840"/>
            <a:ext cx="2377440" cy="274320"/>
          </a:xfrm>
          <a:prstGeom prst="rect">
            <a:avLst/>
          </a:prstGeom>
          <a:noFill/>
          <a:ln/>
        </p:spPr>
        <p:txBody>
          <a:bodyPr wrap="square" rtlCol="0" anchor="ctr"/>
          <a:lstStyle/>
          <a:p>
            <a:pPr indent="0" marL="0">
              <a:buNone/>
            </a:pPr>
            <a:r>
              <a:rPr lang="en-US" sz="950" b="1" dirty="0">
                <a:solidFill>
                  <a:srgbClr val="1C1F24"/>
                </a:solidFill>
                <a:latin typeface="Calibri" pitchFamily="34" charset="0"/>
                <a:ea typeface="Calibri" pitchFamily="34" charset="-122"/>
                <a:cs typeface="Calibri" pitchFamily="34" charset="-120"/>
              </a:rPr>
              <a:t>Total promotion days</a:t>
            </a:r>
            <a:endParaRPr lang="en-US" sz="950" dirty="0"/>
          </a:p>
        </p:txBody>
      </p:sp>
      <p:sp>
        <p:nvSpPr>
          <p:cNvPr id="19" name="Text 17"/>
          <p:cNvSpPr/>
          <p:nvPr/>
        </p:nvSpPr>
        <p:spPr>
          <a:xfrm>
            <a:off x="6263640" y="3538728"/>
            <a:ext cx="237744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17.4% of all trading days</a:t>
            </a:r>
            <a:endParaRPr lang="en-US" sz="850" dirty="0"/>
          </a:p>
        </p:txBody>
      </p:sp>
      <p:sp>
        <p:nvSpPr>
          <p:cNvPr id="20" name="Shape 18"/>
          <p:cNvSpPr/>
          <p:nvPr/>
        </p:nvSpPr>
        <p:spPr>
          <a:xfrm>
            <a:off x="8915400" y="2651760"/>
            <a:ext cx="2651760" cy="1234440"/>
          </a:xfrm>
          <a:prstGeom prst="roundRect">
            <a:avLst>
              <a:gd name="adj" fmla="val 4444"/>
            </a:avLst>
          </a:prstGeom>
          <a:solidFill>
            <a:srgbClr val="F6E9E6"/>
          </a:solidFill>
          <a:ln/>
        </p:spPr>
      </p:sp>
      <p:sp>
        <p:nvSpPr>
          <p:cNvPr id="21" name="Text 19"/>
          <p:cNvSpPr/>
          <p:nvPr/>
        </p:nvSpPr>
        <p:spPr>
          <a:xfrm>
            <a:off x="9052560" y="2788920"/>
            <a:ext cx="2377440" cy="502920"/>
          </a:xfrm>
          <a:prstGeom prst="rect">
            <a:avLst/>
          </a:prstGeom>
          <a:noFill/>
          <a:ln/>
        </p:spPr>
        <p:txBody>
          <a:bodyPr wrap="square" rtlCol="0" anchor="ctr"/>
          <a:lstStyle/>
          <a:p>
            <a:pPr indent="0" marL="0">
              <a:buNone/>
            </a:pPr>
            <a:r>
              <a:rPr lang="en-US" sz="2200" b="1" dirty="0">
                <a:solidFill>
                  <a:srgbClr val="9C3B2E"/>
                </a:solidFill>
                <a:latin typeface="Georgia" pitchFamily="34" charset="0"/>
                <a:ea typeface="Georgia" pitchFamily="34" charset="-122"/>
                <a:cs typeface="Georgia" pitchFamily="34" charset="-120"/>
              </a:rPr>
              <a:t>100%</a:t>
            </a:r>
            <a:endParaRPr lang="en-US" sz="2200" dirty="0"/>
          </a:p>
        </p:txBody>
      </p:sp>
      <p:sp>
        <p:nvSpPr>
          <p:cNvPr id="22" name="Text 20"/>
          <p:cNvSpPr/>
          <p:nvPr/>
        </p:nvSpPr>
        <p:spPr>
          <a:xfrm>
            <a:off x="9052560" y="3291840"/>
            <a:ext cx="2377440" cy="274320"/>
          </a:xfrm>
          <a:prstGeom prst="rect">
            <a:avLst/>
          </a:prstGeom>
          <a:noFill/>
          <a:ln/>
        </p:spPr>
        <p:txBody>
          <a:bodyPr wrap="square" rtlCol="0" anchor="ctr"/>
          <a:lstStyle/>
          <a:p>
            <a:pPr indent="0" marL="0">
              <a:buNone/>
            </a:pPr>
            <a:r>
              <a:rPr lang="en-US" sz="950" b="1" dirty="0">
                <a:solidFill>
                  <a:srgbClr val="1C1F24"/>
                </a:solidFill>
                <a:latin typeface="Calibri" pitchFamily="34" charset="0"/>
                <a:ea typeface="Calibri" pitchFamily="34" charset="-122"/>
                <a:cs typeface="Calibri" pitchFamily="34" charset="-120"/>
              </a:rPr>
              <a:t>Periods with negative GP margin</a:t>
            </a:r>
            <a:endParaRPr lang="en-US" sz="950" dirty="0"/>
          </a:p>
        </p:txBody>
      </p:sp>
      <p:sp>
        <p:nvSpPr>
          <p:cNvPr id="23" name="Text 21"/>
          <p:cNvSpPr/>
          <p:nvPr/>
        </p:nvSpPr>
        <p:spPr>
          <a:xfrm>
            <a:off x="9052560" y="3538728"/>
            <a:ext cx="237744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All 28 detected periods sold at a loss</a:t>
            </a:r>
            <a:endParaRPr lang="en-US" sz="850" dirty="0"/>
          </a:p>
        </p:txBody>
      </p:sp>
      <p:sp>
        <p:nvSpPr>
          <p:cNvPr id="24" name="Text 22"/>
          <p:cNvSpPr/>
          <p:nvPr/>
        </p:nvSpPr>
        <p:spPr>
          <a:xfrm>
            <a:off x="548640" y="4069080"/>
            <a:ext cx="9144000" cy="274320"/>
          </a:xfrm>
          <a:prstGeom prst="rect">
            <a:avLst/>
          </a:prstGeom>
          <a:noFill/>
          <a:ln/>
        </p:spPr>
        <p:txBody>
          <a:bodyPr wrap="square" rtlCol="0" anchor="ctr"/>
          <a:lstStyle/>
          <a:p>
            <a:pPr indent="0" marL="0">
              <a:buNone/>
            </a:pPr>
            <a:r>
              <a:rPr lang="en-US" sz="1100" b="1" dirty="0">
                <a:solidFill>
                  <a:srgbClr val="0A1A30"/>
                </a:solidFill>
                <a:latin typeface="Calibri" pitchFamily="34" charset="0"/>
                <a:ea typeface="Calibri" pitchFamily="34" charset="-122"/>
                <a:cs typeface="Calibri" pitchFamily="34" charset="-120"/>
              </a:rPr>
              <a:t>Three longest promotion periods (selected for detailed elasticity analysis)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11064240" cy="1234440"/>
        </p:xfrm>
        <a:graphic>
          <a:graphicData uri="http://schemas.openxmlformats.org/drawingml/2006/table">
            <a:tbl>
              <a:tblPr/>
              <a:tblGrid>
                <a:gridCol w="822960"/>
                <a:gridCol w="3291840"/>
                <a:gridCol w="1005840"/>
                <a:gridCol w="1645920"/>
                <a:gridCol w="1645920"/>
                <a:gridCol w="2651760"/>
              </a:tblGrid>
              <a:tr h="30861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Rank</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Dates</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Days</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Avg ASP</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Avg Qty</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Avg GP Margin</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r>
              <a:tr h="308610">
                <a:tc>
                  <a:txBody>
                    <a:bodyPr/>
                    <a:lstStyle/>
                    <a:p>
                      <a:pPr algn="ctr" indent="0" marL="0">
                        <a:buNone/>
                      </a:pPr>
                      <a:r>
                        <a:rPr lang="en-US" sz="1100" dirty="0">
                          <a:solidFill>
                            <a:srgbClr val="1C1F2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10 Aug 2016 – 22 Aug 2016</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R35</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4,677</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r>
              <a:tr h="308610">
                <a:tc>
                  <a:txBody>
                    <a:bodyPr/>
                    <a:lstStyle/>
                    <a:p>
                      <a:pPr algn="ctr" indent="0" marL="0">
                        <a:buNone/>
                      </a:pPr>
                      <a:r>
                        <a:rPr lang="en-US" sz="1100" dirty="0">
                          <a:solidFill>
                            <a:srgbClr val="1C1F24"/>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10 Feb 2015 – 21 Feb 2015</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R38</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5,860</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r>
              <a:tr h="308610">
                <a:tc>
                  <a:txBody>
                    <a:bodyPr/>
                    <a:lstStyle/>
                    <a:p>
                      <a:pPr algn="ctr" indent="0" marL="0">
                        <a:buNone/>
                      </a:pPr>
                      <a:r>
                        <a:rPr lang="en-US" sz="1100" dirty="0">
                          <a:solidFill>
                            <a:srgbClr val="1C1F24"/>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25 Aug 2015 – 05 Sep 2015</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R34</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9,283</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C1F24"/>
                          </a:solidFill>
                          <a:latin typeface="Calibri" pitchFamily="34" charset="0"/>
                          <a:ea typeface="Calibri" pitchFamily="34" charset="-122"/>
                          <a:cs typeface="Calibri" pitchFamily="34" charset="-120"/>
                        </a:rPr>
                        <a:t>-9.4%</a:t>
                      </a:r>
                      <a:endParaRPr lang="en-US" sz="11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r>
            </a:tbl>
          </a:graphicData>
        </a:graphic>
      </p:graphicFrame>
      <p:sp>
        <p:nvSpPr>
          <p:cNvPr id="26" name="Text 23"/>
          <p:cNvSpPr/>
          <p:nvPr/>
        </p:nvSpPr>
        <p:spPr>
          <a:xfrm>
            <a:off x="548640" y="5760720"/>
            <a:ext cx="11064240" cy="320040"/>
          </a:xfrm>
          <a:prstGeom prst="rect">
            <a:avLst/>
          </a:prstGeom>
          <a:noFill/>
          <a:ln/>
        </p:spPr>
        <p:txBody>
          <a:bodyPr wrap="square"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These are analytically detected indicators, not confirmed campaign records. Further analysis required to validate against FNB's actual promotion calendar.</a:t>
            </a:r>
            <a:endParaRPr lang="en-US" sz="950" dirty="0"/>
          </a:p>
        </p:txBody>
      </p:sp>
      <p:sp>
        <p:nvSpPr>
          <p:cNvPr id="27" name="Shape 24"/>
          <p:cNvSpPr/>
          <p:nvPr/>
        </p:nvSpPr>
        <p:spPr>
          <a:xfrm>
            <a:off x="457200" y="6419088"/>
            <a:ext cx="11274552" cy="0"/>
          </a:xfrm>
          <a:prstGeom prst="line">
            <a:avLst/>
          </a:prstGeom>
          <a:noFill/>
          <a:ln w="9525">
            <a:solidFill>
              <a:srgbClr val="E3E5E9"/>
            </a:solidFill>
            <a:prstDash val="solid"/>
          </a:ln>
        </p:spPr>
      </p:sp>
      <p:sp>
        <p:nvSpPr>
          <p:cNvPr id="28" name="Text 25"/>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29" name="Text 26"/>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10 / 16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PROMOTION EFFECTIVENESS</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Promotions Increased Volume but Reduced Profitability</a:t>
            </a:r>
            <a:endParaRPr lang="en-US" sz="2300" dirty="0"/>
          </a:p>
        </p:txBody>
      </p:sp>
      <p:sp>
        <p:nvSpPr>
          <p:cNvPr id="5" name="Shape 3"/>
          <p:cNvSpPr/>
          <p:nvPr/>
        </p:nvSpPr>
        <p:spPr>
          <a:xfrm>
            <a:off x="548640" y="1508760"/>
            <a:ext cx="11064240" cy="777240"/>
          </a:xfrm>
          <a:prstGeom prst="roundRect">
            <a:avLst>
              <a:gd name="adj" fmla="val 7059"/>
            </a:avLst>
          </a:prstGeom>
          <a:solidFill>
            <a:srgbClr val="0A1A30"/>
          </a:solidFill>
          <a:ln/>
        </p:spPr>
      </p:sp>
      <p:sp>
        <p:nvSpPr>
          <p:cNvPr id="6" name="Text 4"/>
          <p:cNvSpPr/>
          <p:nvPr/>
        </p:nvSpPr>
        <p:spPr>
          <a:xfrm>
            <a:off x="868680" y="1508760"/>
            <a:ext cx="10424160" cy="7772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CONCLUSION:  Promotions increased volume but reduced profitability</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7315200" cy="3108960"/>
        </p:xfrm>
        <a:graphic>
          <a:graphicData uri="http://schemas.openxmlformats.org/drawingml/2006/table">
            <a:tbl>
              <a:tblPr/>
              <a:tblGrid>
                <a:gridCol w="2194560"/>
                <a:gridCol w="1737360"/>
                <a:gridCol w="1737360"/>
                <a:gridCol w="1645920"/>
              </a:tblGrid>
              <a:tr h="444137">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1D3A5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Normal Trading Days</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1D3A5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Promotion Days</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1D3A5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Difference</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1D3A5F"/>
                    </a:solidFill>
                  </a:tcPr>
                </a:tc>
              </a:tr>
              <a:tr h="444137">
                <a:tc>
                  <a:txBody>
                    <a:bodyPr/>
                    <a:lstStyle/>
                    <a:p>
                      <a:pPr algn="l" indent="0" marL="0">
                        <a:buNone/>
                      </a:pPr>
                      <a:r>
                        <a:rPr lang="en-US" sz="1150" b="1" dirty="0">
                          <a:solidFill>
                            <a:srgbClr val="1C1F24"/>
                          </a:solidFill>
                          <a:latin typeface="Calibri" pitchFamily="34" charset="0"/>
                          <a:ea typeface="Calibri" pitchFamily="34" charset="-122"/>
                          <a:cs typeface="Calibri" pitchFamily="34" charset="-120"/>
                        </a:rPr>
                        <a:t>Days</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870</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183</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17.4% of days flagged</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r>
              <a:tr h="444137">
                <a:tc>
                  <a:txBody>
                    <a:bodyPr/>
                    <a:lstStyle/>
                    <a:p>
                      <a:pPr algn="l" indent="0" marL="0">
                        <a:buNone/>
                      </a:pPr>
                      <a:r>
                        <a:rPr lang="en-US" sz="1150" b="1" dirty="0">
                          <a:solidFill>
                            <a:srgbClr val="1C1F24"/>
                          </a:solidFill>
                          <a:latin typeface="Calibri" pitchFamily="34" charset="0"/>
                          <a:ea typeface="Calibri" pitchFamily="34" charset="-122"/>
                          <a:cs typeface="Calibri" pitchFamily="34" charset="-120"/>
                        </a:rPr>
                        <a:t>Average selling price</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R38</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R35</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r>
              <a:tr h="444137">
                <a:tc>
                  <a:txBody>
                    <a:bodyPr/>
                    <a:lstStyle/>
                    <a:p>
                      <a:pPr algn="l" indent="0" marL="0">
                        <a:buNone/>
                      </a:pPr>
                      <a:r>
                        <a:rPr lang="en-US" sz="1150" b="1" dirty="0">
                          <a:solidFill>
                            <a:srgbClr val="1C1F24"/>
                          </a:solidFill>
                          <a:latin typeface="Calibri" pitchFamily="34" charset="0"/>
                          <a:ea typeface="Calibri" pitchFamily="34" charset="-122"/>
                          <a:cs typeface="Calibri" pitchFamily="34" charset="-120"/>
                        </a:rPr>
                        <a:t>Average quantity sold</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4,292</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8,447</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9E75"/>
                          </a:solidFill>
                          <a:latin typeface="Calibri" pitchFamily="34" charset="0"/>
                          <a:ea typeface="Calibri" pitchFamily="34" charset="-122"/>
                          <a:cs typeface="Calibri" pitchFamily="34" charset="-120"/>
                        </a:rPr>
                        <a:t>+96.8%</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r>
              <a:tr h="444137">
                <a:tc>
                  <a:txBody>
                    <a:bodyPr/>
                    <a:lstStyle/>
                    <a:p>
                      <a:pPr algn="l" indent="0" marL="0">
                        <a:buNone/>
                      </a:pPr>
                      <a:r>
                        <a:rPr lang="en-US" sz="1150" b="1" dirty="0">
                          <a:solidFill>
                            <a:srgbClr val="1C1F24"/>
                          </a:solidFill>
                          <a:latin typeface="Calibri" pitchFamily="34" charset="0"/>
                          <a:ea typeface="Calibri" pitchFamily="34" charset="-122"/>
                          <a:cs typeface="Calibri" pitchFamily="34" charset="-120"/>
                        </a:rPr>
                        <a:t>Average daily sales</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R154 197</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R288 299</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+87.0%</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r>
              <a:tr h="444137">
                <a:tc>
                  <a:txBody>
                    <a:bodyPr/>
                    <a:lstStyle/>
                    <a:p>
                      <a:pPr algn="l" indent="0" marL="0">
                        <a:buNone/>
                      </a:pPr>
                      <a:r>
                        <a:rPr lang="en-US" sz="1150" b="1" dirty="0">
                          <a:solidFill>
                            <a:srgbClr val="1C1F24"/>
                          </a:solidFill>
                          <a:latin typeface="Calibri" pitchFamily="34" charset="0"/>
                          <a:ea typeface="Calibri" pitchFamily="34" charset="-122"/>
                          <a:cs typeface="Calibri" pitchFamily="34" charset="-120"/>
                        </a:rPr>
                        <a:t>Average gross profit</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R-3 557</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R-21 977</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9C3B2E"/>
                          </a:solidFill>
                          <a:latin typeface="Calibri" pitchFamily="34" charset="0"/>
                          <a:ea typeface="Calibri" pitchFamily="34" charset="-122"/>
                          <a:cs typeface="Calibri" pitchFamily="34" charset="-120"/>
                        </a:rPr>
                        <a:t>Loss ~6.2x deeper</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r>
              <a:tr h="444137">
                <a:tc>
                  <a:txBody>
                    <a:bodyPr/>
                    <a:lstStyle/>
                    <a:p>
                      <a:pPr algn="l" indent="0" marL="0">
                        <a:buNone/>
                      </a:pPr>
                      <a:r>
                        <a:rPr lang="en-US" sz="1150" b="1" dirty="0">
                          <a:solidFill>
                            <a:srgbClr val="1C1F24"/>
                          </a:solidFill>
                          <a:latin typeface="Calibri" pitchFamily="34" charset="0"/>
                          <a:ea typeface="Calibri" pitchFamily="34" charset="-122"/>
                          <a:cs typeface="Calibri" pitchFamily="34" charset="-120"/>
                        </a:rPr>
                        <a:t>Average GP margin</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1C1F24"/>
                          </a:solidFill>
                          <a:latin typeface="Calibri" pitchFamily="34" charset="0"/>
                          <a:ea typeface="Calibri" pitchFamily="34" charset="-122"/>
                          <a:cs typeface="Calibri" pitchFamily="34" charset="-120"/>
                        </a:rPr>
                        <a:t>-7.3%</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ctr" indent="0" marL="0">
                        <a:buNone/>
                      </a:pPr>
                      <a:r>
                        <a:rPr lang="en-US" sz="1150" dirty="0">
                          <a:solidFill>
                            <a:srgbClr val="9C3B2E"/>
                          </a:solidFill>
                          <a:latin typeface="Calibri" pitchFamily="34" charset="0"/>
                          <a:ea typeface="Calibri" pitchFamily="34" charset="-122"/>
                          <a:cs typeface="Calibri" pitchFamily="34" charset="-120"/>
                        </a:rPr>
                        <a:t>-7.8 pts</a:t>
                      </a:r>
                      <a:endParaRPr lang="en-US" sz="115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r>
            </a:tbl>
          </a:graphicData>
        </a:graphic>
      </p:graphicFrame>
      <p:sp>
        <p:nvSpPr>
          <p:cNvPr id="8" name="Shape 5"/>
          <p:cNvSpPr/>
          <p:nvPr/>
        </p:nvSpPr>
        <p:spPr>
          <a:xfrm>
            <a:off x="8092440" y="2514600"/>
            <a:ext cx="3520440" cy="3108960"/>
          </a:xfrm>
          <a:prstGeom prst="roundRect">
            <a:avLst>
              <a:gd name="adj" fmla="val 2059"/>
            </a:avLst>
          </a:prstGeom>
          <a:solidFill>
            <a:srgbClr val="F5F6F8"/>
          </a:solidFill>
          <a:ln/>
        </p:spPr>
      </p:sp>
      <p:sp>
        <p:nvSpPr>
          <p:cNvPr id="9" name="Text 6"/>
          <p:cNvSpPr/>
          <p:nvPr/>
        </p:nvSpPr>
        <p:spPr>
          <a:xfrm>
            <a:off x="8321040" y="2697480"/>
            <a:ext cx="3108960" cy="320040"/>
          </a:xfrm>
          <a:prstGeom prst="rect">
            <a:avLst/>
          </a:prstGeom>
          <a:noFill/>
          <a:ln/>
        </p:spPr>
        <p:txBody>
          <a:bodyPr wrap="square" rtlCol="0" anchor="ctr"/>
          <a:lstStyle/>
          <a:p>
            <a:pPr indent="0" marL="0">
              <a:buNone/>
            </a:pPr>
            <a:r>
              <a:rPr lang="en-US" sz="1250" b="1" dirty="0">
                <a:solidFill>
                  <a:srgbClr val="0A1A30"/>
                </a:solidFill>
                <a:latin typeface="Calibri" pitchFamily="34" charset="0"/>
                <a:ea typeface="Calibri" pitchFamily="34" charset="-122"/>
                <a:cs typeface="Calibri" pitchFamily="34" charset="-120"/>
              </a:rPr>
              <a:t>Reading this result</a:t>
            </a:r>
            <a:endParaRPr lang="en-US" sz="1250" dirty="0"/>
          </a:p>
        </p:txBody>
      </p:sp>
      <p:sp>
        <p:nvSpPr>
          <p:cNvPr id="10" name="Text 7"/>
          <p:cNvSpPr/>
          <p:nvPr/>
        </p:nvSpPr>
        <p:spPr>
          <a:xfrm>
            <a:off x="8321040" y="3063240"/>
            <a:ext cx="3108960" cy="2377440"/>
          </a:xfrm>
          <a:prstGeom prst="rect">
            <a:avLst/>
          </a:prstGeom>
          <a:noFill/>
          <a:ln/>
        </p:spPr>
        <p:txBody>
          <a:bodyPr wrap="square" rtlCol="0" anchor="ctr"/>
          <a:lstStyle/>
          <a:p>
            <a:pPr indent="0" marL="0">
              <a:lnSpc>
                <a:spcPct val="130000"/>
              </a:lnSpc>
              <a:buNone/>
            </a:pPr>
            <a:r>
              <a:rPr lang="en-US" sz="1050" dirty="0">
                <a:solidFill>
                  <a:srgbClr val="1C1F24"/>
                </a:solidFill>
                <a:latin typeface="Calibri" pitchFamily="34" charset="0"/>
                <a:ea typeface="Calibri" pitchFamily="34" charset="-122"/>
                <a:cs typeface="Calibri" pitchFamily="34" charset="-120"/>
              </a:rPr>
              <a:t>Promotion days nearly double average quantity sold and lift average daily sales by 87% — a genuine commercial response consistent with price-sensitive demand. But average gross profit on those days is a substantially deeper loss, and margin falls by 7.8 percentage points. Volume growth on promotion has not been profitable growth.</a:t>
            </a:r>
            <a:endParaRPr lang="en-US" sz="1050" dirty="0"/>
          </a:p>
        </p:txBody>
      </p:sp>
      <p:sp>
        <p:nvSpPr>
          <p:cNvPr id="11" name="Shape 8"/>
          <p:cNvSpPr/>
          <p:nvPr/>
        </p:nvSpPr>
        <p:spPr>
          <a:xfrm>
            <a:off x="457200" y="6419088"/>
            <a:ext cx="11274552" cy="0"/>
          </a:xfrm>
          <a:prstGeom prst="line">
            <a:avLst/>
          </a:prstGeom>
          <a:noFill/>
          <a:ln w="9525">
            <a:solidFill>
              <a:srgbClr val="E3E5E9"/>
            </a:solidFill>
            <a:prstDash val="solid"/>
          </a:ln>
        </p:spPr>
      </p:sp>
      <p:sp>
        <p:nvSpPr>
          <p:cNvPr id="12" name="Text 9"/>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13" name="Text 10"/>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11 / 16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PRICE ELASTICITY OF DEMAND</a:t>
            </a:r>
            <a:endParaRPr lang="en-US" sz="1100" dirty="0"/>
          </a:p>
        </p:txBody>
      </p:sp>
      <p:sp>
        <p:nvSpPr>
          <p:cNvPr id="4" name="Text 2"/>
          <p:cNvSpPr/>
          <p:nvPr/>
        </p:nvSpPr>
        <p:spPr>
          <a:xfrm>
            <a:off x="548640" y="548640"/>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Demand Is Highly Elastic — but Elasticity Alone Has Not Restored Margin</a:t>
            </a:r>
            <a:endParaRPr lang="en-US" sz="2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1600200"/>
        </p:xfrm>
        <a:graphic>
          <a:graphicData uri="http://schemas.openxmlformats.org/drawingml/2006/table">
            <a:tbl>
              <a:tblPr/>
              <a:tblGrid>
                <a:gridCol w="640080"/>
                <a:gridCol w="2286000"/>
                <a:gridCol w="822960"/>
                <a:gridCol w="1097280"/>
                <a:gridCol w="1097280"/>
                <a:gridCol w="1280160"/>
                <a:gridCol w="1371600"/>
                <a:gridCol w="1280160"/>
                <a:gridCol w="1188720"/>
              </a:tblGrid>
              <a:tr h="40005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Period</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Dates</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Days</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Price Δ</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Qty Δ</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Elasticity</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Baseline GP%</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Promo GP%</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Δ GP margin</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0A1A30"/>
                    </a:solidFill>
                  </a:tcPr>
                </a:tc>
              </a:tr>
              <a:tr h="400050">
                <a:tc>
                  <a:txBody>
                    <a:bodyPr/>
                    <a:lstStyle/>
                    <a:p>
                      <a:pPr algn="ctr" indent="0" marL="0">
                        <a:buNone/>
                      </a:pPr>
                      <a:r>
                        <a:rPr lang="en-US" sz="1000" dirty="0">
                          <a:solidFill>
                            <a:srgbClr val="1C1F24"/>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10 Aug 2016 – 22 Aug 2016</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-17.7%</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+227%</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-12.79</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9C3B2E"/>
                          </a:solidFill>
                          <a:latin typeface="Calibri" pitchFamily="34" charset="0"/>
                          <a:ea typeface="Calibri" pitchFamily="34" charset="-122"/>
                          <a:cs typeface="Calibri" pitchFamily="34" charset="-120"/>
                        </a:rPr>
                        <a:t>-18.9 pts</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r>
              <a:tr h="400050">
                <a:tc>
                  <a:txBody>
                    <a:bodyPr/>
                    <a:lstStyle/>
                    <a:p>
                      <a:pPr algn="ctr" indent="0" marL="0">
                        <a:buNone/>
                      </a:pPr>
                      <a:r>
                        <a:rPr lang="en-US" sz="1000" dirty="0">
                          <a:solidFill>
                            <a:srgbClr val="1C1F24"/>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10 Feb 2015 – 21 Feb 2015</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+133.7%</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-15.92</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c>
                  <a:txBody>
                    <a:bodyPr/>
                    <a:lstStyle/>
                    <a:p>
                      <a:pPr algn="l" indent="0" marL="0">
                        <a:buNone/>
                      </a:pPr>
                      <a:r>
                        <a:rPr lang="en-US" sz="1000" dirty="0">
                          <a:solidFill>
                            <a:srgbClr val="9C3B2E"/>
                          </a:solidFill>
                          <a:latin typeface="Calibri" pitchFamily="34" charset="0"/>
                          <a:ea typeface="Calibri" pitchFamily="34" charset="-122"/>
                          <a:cs typeface="Calibri" pitchFamily="34" charset="-120"/>
                        </a:rPr>
                        <a:t>-5.3 pts</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5F6F8"/>
                    </a:solidFill>
                  </a:tcPr>
                </a:tc>
              </a:tr>
              <a:tr h="400050">
                <a:tc>
                  <a:txBody>
                    <a:bodyPr/>
                    <a:lstStyle/>
                    <a:p>
                      <a:pPr algn="ctr" indent="0" marL="0">
                        <a:buNone/>
                      </a:pPr>
                      <a:r>
                        <a:rPr lang="en-US" sz="1000" dirty="0">
                          <a:solidFill>
                            <a:srgbClr val="1C1F24"/>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25 Aug 2015 – 05 Sep 2015</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-10.7%</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+477.9%</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-44.62</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C1F24"/>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9C3B2E"/>
                          </a:solidFill>
                          <a:latin typeface="Calibri" pitchFamily="34" charset="0"/>
                          <a:ea typeface="Calibri" pitchFamily="34" charset="-122"/>
                          <a:cs typeface="Calibri" pitchFamily="34" charset="-120"/>
                        </a:rPr>
                        <a:t>-5.8 pts</a:t>
                      </a:r>
                      <a:endParaRPr lang="en-US" sz="1000" dirty="0">
                        <a:latin typeface="Calibri" charset="0"/>
                        <a:ea typeface="Calibri" charset="0"/>
                        <a:cs typeface="Calibri" charset="0"/>
                      </a:endParaRPr>
                    </a:p>
                  </a:txBody>
                  <a:tcPr marL="91440" marR="91440" marT="45720" marB="45720" anchor="ctr">
                    <a:lnL w="9525" cap="flat" cmpd="sng" algn="ctr">
                      <a:solidFill>
                        <a:srgbClr val="E3E5E9"/>
                      </a:solidFill>
                      <a:prstDash val="solid"/>
                      <a:round/>
                      <a:headEnd type="none" w="med" len="med"/>
                      <a:tailEnd type="none" w="med" len="med"/>
                    </a:lnL>
                    <a:lnR w="9525" cap="flat" cmpd="sng" algn="ctr">
                      <a:solidFill>
                        <a:srgbClr val="E3E5E9"/>
                      </a:solidFill>
                      <a:prstDash val="solid"/>
                      <a:round/>
                      <a:headEnd type="none" w="med" len="med"/>
                      <a:tailEnd type="none" w="med" len="med"/>
                    </a:lnR>
                    <a:lnT w="9525" cap="flat" cmpd="sng" algn="ctr">
                      <a:solidFill>
                        <a:srgbClr val="E3E5E9"/>
                      </a:solidFill>
                      <a:prstDash val="solid"/>
                      <a:round/>
                      <a:headEnd type="none" w="med" len="med"/>
                      <a:tailEnd type="none" w="med" len="med"/>
                    </a:lnT>
                    <a:lnB w="9525" cap="flat" cmpd="sng" algn="ctr">
                      <a:solidFill>
                        <a:srgbClr val="E3E5E9"/>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246120"/>
            <a:ext cx="5394960" cy="2606040"/>
          </a:xfrm>
          <a:prstGeom prst="roundRect">
            <a:avLst>
              <a:gd name="adj" fmla="val 2456"/>
            </a:avLst>
          </a:prstGeom>
          <a:solidFill>
            <a:srgbClr val="E6F6F0"/>
          </a:solidFill>
          <a:ln/>
        </p:spPr>
      </p:sp>
      <p:sp>
        <p:nvSpPr>
          <p:cNvPr id="7" name="Text 4"/>
          <p:cNvSpPr/>
          <p:nvPr/>
        </p:nvSpPr>
        <p:spPr>
          <a:xfrm>
            <a:off x="777240" y="3401568"/>
            <a:ext cx="4937760" cy="320040"/>
          </a:xfrm>
          <a:prstGeom prst="rect">
            <a:avLst/>
          </a:prstGeom>
          <a:noFill/>
          <a:ln/>
        </p:spPr>
        <p:txBody>
          <a:bodyPr wrap="square" rtlCol="0" anchor="ctr"/>
          <a:lstStyle/>
          <a:p>
            <a:pPr indent="0" marL="0">
              <a:buNone/>
            </a:pPr>
            <a:r>
              <a:rPr lang="en-US" sz="1200" b="1" dirty="0">
                <a:solidFill>
                  <a:srgbClr val="0D5C43"/>
                </a:solidFill>
                <a:latin typeface="Calibri" pitchFamily="34" charset="0"/>
                <a:ea typeface="Calibri" pitchFamily="34" charset="-122"/>
                <a:cs typeface="Calibri" pitchFamily="34" charset="-120"/>
              </a:rPr>
              <a:t>How to read elasticity</a:t>
            </a:r>
            <a:endParaRPr lang="en-US" sz="1200" dirty="0"/>
          </a:p>
        </p:txBody>
      </p:sp>
      <p:sp>
        <p:nvSpPr>
          <p:cNvPr id="8" name="Text 5"/>
          <p:cNvSpPr/>
          <p:nvPr/>
        </p:nvSpPr>
        <p:spPr>
          <a:xfrm>
            <a:off x="777240" y="3749040"/>
            <a:ext cx="4937760" cy="2011680"/>
          </a:xfrm>
          <a:prstGeom prst="rect">
            <a:avLst/>
          </a:prstGeom>
          <a:noFill/>
          <a:ln/>
        </p:spPr>
        <p:txBody>
          <a:bodyPr wrap="square" rtlCol="0" anchor="ctr"/>
          <a:lstStyle/>
          <a:p>
            <a:pPr indent="0" marL="0">
              <a:lnSpc>
                <a:spcPct val="130000"/>
              </a:lnSpc>
              <a:buNone/>
            </a:pPr>
            <a:r>
              <a:rPr lang="en-US" sz="1050" b="1" dirty="0">
                <a:solidFill>
                  <a:srgbClr val="0D5C43"/>
                </a:solidFill>
                <a:latin typeface="Calibri" pitchFamily="34" charset="0"/>
                <a:ea typeface="Calibri" pitchFamily="34" charset="-122"/>
                <a:cs typeface="Calibri" pitchFamily="34" charset="-120"/>
              </a:rPr>
              <a:t>Elastic demand  </a:t>
            </a:r>
            <a:pPr indent="0" marL="0">
              <a:lnSpc>
                <a:spcPct val="130000"/>
              </a:lnSpc>
              <a:buNone/>
            </a:pPr>
            <a:r>
              <a:rPr lang="en-US" sz="1050" dirty="0">
                <a:solidFill>
                  <a:srgbClr val="0D5C43"/>
                </a:solidFill>
                <a:latin typeface="Calibri" pitchFamily="34" charset="0"/>
                <a:ea typeface="Calibri" pitchFamily="34" charset="-122"/>
                <a:cs typeface="Calibri" pitchFamily="34" charset="-120"/>
              </a:rPr>
              <a:t>— quantity changes proportionally more than price. |Elasticity| &gt; 1.
</a:t>
            </a:r>
            <a:pPr indent="0" marL="0">
              <a:lnSpc>
                <a:spcPct val="130000"/>
              </a:lnSpc>
              <a:buNone/>
            </a:pPr>
            <a:r>
              <a:rPr lang="en-US" sz="1050" b="1" dirty="0">
                <a:solidFill>
                  <a:srgbClr val="0D5C43"/>
                </a:solidFill>
                <a:latin typeface="Calibri" pitchFamily="34" charset="0"/>
                <a:ea typeface="Calibri" pitchFamily="34" charset="-122"/>
                <a:cs typeface="Calibri" pitchFamily="34" charset="-120"/>
              </a:rPr>
              <a:t>Inelastic demand  </a:t>
            </a:r>
            <a:pPr indent="0" marL="0">
              <a:lnSpc>
                <a:spcPct val="130000"/>
              </a:lnSpc>
              <a:buNone/>
            </a:pPr>
            <a:r>
              <a:rPr lang="en-US" sz="1050" dirty="0">
                <a:solidFill>
                  <a:srgbClr val="0D5C43"/>
                </a:solidFill>
                <a:latin typeface="Calibri" pitchFamily="34" charset="0"/>
                <a:ea typeface="Calibri" pitchFamily="34" charset="-122"/>
                <a:cs typeface="Calibri" pitchFamily="34" charset="-120"/>
              </a:rPr>
              <a:t>— quantity changes proportionally less than price. |Elasticity| &lt; 1.
</a:t>
            </a:r>
            <a:pPr indent="0" marL="0">
              <a:lnSpc>
                <a:spcPct val="130000"/>
              </a:lnSpc>
              <a:buNone/>
            </a:pPr>
            <a:r>
              <a:rPr lang="en-US" sz="1050" b="1" dirty="0">
                <a:solidFill>
                  <a:srgbClr val="0D5C43"/>
                </a:solidFill>
                <a:latin typeface="Calibri" pitchFamily="34" charset="0"/>
                <a:ea typeface="Calibri" pitchFamily="34" charset="-122"/>
                <a:cs typeface="Calibri" pitchFamily="34" charset="-120"/>
              </a:rPr>
              <a:t>Negative sign  </a:t>
            </a:r>
            <a:pPr indent="0" marL="0">
              <a:lnSpc>
                <a:spcPct val="130000"/>
              </a:lnSpc>
              <a:buNone/>
            </a:pPr>
            <a:r>
              <a:rPr lang="en-US" sz="1050" dirty="0">
                <a:solidFill>
                  <a:srgbClr val="0D5C43"/>
                </a:solidFill>
                <a:latin typeface="Calibri" pitchFamily="34" charset="0"/>
                <a:ea typeface="Calibri" pitchFamily="34" charset="-122"/>
                <a:cs typeface="Calibri" pitchFamily="34" charset="-120"/>
              </a:rPr>
              <a:t>is expected — price and quantity move in opposite directions.</a:t>
            </a:r>
            <a:endParaRPr lang="en-US" sz="1050" dirty="0"/>
          </a:p>
        </p:txBody>
      </p:sp>
      <p:sp>
        <p:nvSpPr>
          <p:cNvPr id="9" name="Shape 6"/>
          <p:cNvSpPr/>
          <p:nvPr/>
        </p:nvSpPr>
        <p:spPr>
          <a:xfrm>
            <a:off x="6126480" y="3246120"/>
            <a:ext cx="5486400" cy="2606040"/>
          </a:xfrm>
          <a:prstGeom prst="roundRect">
            <a:avLst>
              <a:gd name="adj" fmla="val 2456"/>
            </a:avLst>
          </a:prstGeom>
          <a:solidFill>
            <a:srgbClr val="F5F6F8"/>
          </a:solidFill>
          <a:ln/>
        </p:spPr>
      </p:sp>
      <p:sp>
        <p:nvSpPr>
          <p:cNvPr id="10" name="Text 7"/>
          <p:cNvSpPr/>
          <p:nvPr/>
        </p:nvSpPr>
        <p:spPr>
          <a:xfrm>
            <a:off x="6355080" y="3401568"/>
            <a:ext cx="5029200" cy="320040"/>
          </a:xfrm>
          <a:prstGeom prst="rect">
            <a:avLst/>
          </a:prstGeom>
          <a:noFill/>
          <a:ln/>
        </p:spPr>
        <p:txBody>
          <a:bodyPr wrap="square" rtlCol="0" anchor="ctr"/>
          <a:lstStyle/>
          <a:p>
            <a:pPr indent="0" marL="0">
              <a:buNone/>
            </a:pPr>
            <a:r>
              <a:rPr lang="en-US" sz="1200" b="1" dirty="0">
                <a:solidFill>
                  <a:srgbClr val="0A1A30"/>
                </a:solidFill>
                <a:latin typeface="Calibri" pitchFamily="34" charset="0"/>
                <a:ea typeface="Calibri" pitchFamily="34" charset="-122"/>
                <a:cs typeface="Calibri" pitchFamily="34" charset="-120"/>
              </a:rPr>
              <a:t>Commercial interpretation</a:t>
            </a:r>
            <a:endParaRPr lang="en-US" sz="1200" dirty="0"/>
          </a:p>
        </p:txBody>
      </p:sp>
      <p:sp>
        <p:nvSpPr>
          <p:cNvPr id="11" name="Text 8"/>
          <p:cNvSpPr/>
          <p:nvPr/>
        </p:nvSpPr>
        <p:spPr>
          <a:xfrm>
            <a:off x="6355080" y="3730752"/>
            <a:ext cx="5029200" cy="2057400"/>
          </a:xfrm>
          <a:prstGeom prst="rect">
            <a:avLst/>
          </a:prstGeom>
          <a:noFill/>
          <a:ln/>
        </p:spPr>
        <p:txBody>
          <a:bodyPr wrap="square" rtlCol="0" anchor="ctr"/>
          <a:lstStyle/>
          <a:p>
            <a:pPr indent="0" marL="0">
              <a:lnSpc>
                <a:spcPct val="128000"/>
              </a:lnSpc>
              <a:buNone/>
            </a:pPr>
            <a:r>
              <a:rPr lang="en-US" sz="1050" dirty="0">
                <a:solidFill>
                  <a:srgbClr val="1C1F24"/>
                </a:solidFill>
                <a:latin typeface="Calibri" pitchFamily="34" charset="0"/>
                <a:ea typeface="Calibri" pitchFamily="34" charset="-122"/>
                <a:cs typeface="Calibri" pitchFamily="34" charset="-120"/>
              </a:rPr>
              <a:t>All three periods show elasticity well beyond -1 (from -12.8 to -44.6) — highly elastic demand that, in isolation, may support targeted promotions. But gross profit margin worsened in every period regardless of elasticity strength, because baseline margins were already thin or negative before the discount was applied. Highly elastic demand did not, on its own, produce profitable growth here.</a:t>
            </a:r>
            <a:endParaRPr lang="en-US" sz="1050" dirty="0"/>
          </a:p>
        </p:txBody>
      </p:sp>
      <p:sp>
        <p:nvSpPr>
          <p:cNvPr id="12" name="Shape 9"/>
          <p:cNvSpPr/>
          <p:nvPr/>
        </p:nvSpPr>
        <p:spPr>
          <a:xfrm>
            <a:off x="457200" y="6419088"/>
            <a:ext cx="11274552" cy="0"/>
          </a:xfrm>
          <a:prstGeom prst="line">
            <a:avLst/>
          </a:prstGeom>
          <a:noFill/>
          <a:ln w="9525">
            <a:solidFill>
              <a:srgbClr val="E3E5E9"/>
            </a:solidFill>
            <a:prstDash val="solid"/>
          </a:ln>
        </p:spPr>
      </p:sp>
      <p:sp>
        <p:nvSpPr>
          <p:cNvPr id="13" name="Text 10"/>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14" name="Text 11"/>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12 / 16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KEY BUSINESS RISKS AND OPPORTUNITIES</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Managing Price Discipline Is Both the Main Risk and the Main Opportunity</a:t>
            </a:r>
            <a:endParaRPr lang="en-US" sz="2300" dirty="0"/>
          </a:p>
        </p:txBody>
      </p:sp>
      <p:sp>
        <p:nvSpPr>
          <p:cNvPr id="5" name="Shape 3"/>
          <p:cNvSpPr/>
          <p:nvPr/>
        </p:nvSpPr>
        <p:spPr>
          <a:xfrm>
            <a:off x="548640" y="1554480"/>
            <a:ext cx="5440680" cy="457200"/>
          </a:xfrm>
          <a:prstGeom prst="rect">
            <a:avLst/>
          </a:prstGeom>
          <a:solidFill>
            <a:srgbClr val="1D9E75"/>
          </a:solidFill>
          <a:ln/>
        </p:spPr>
      </p:sp>
      <p:sp>
        <p:nvSpPr>
          <p:cNvPr id="6" name="Text 4"/>
          <p:cNvSpPr/>
          <p:nvPr/>
        </p:nvSpPr>
        <p:spPr>
          <a:xfrm>
            <a:off x="548640" y="1554480"/>
            <a:ext cx="5440680" cy="45720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OPPORTUNITIES</a:t>
            </a:r>
            <a:endParaRPr lang="en-US" sz="1300" dirty="0"/>
          </a:p>
        </p:txBody>
      </p:sp>
      <p:sp>
        <p:nvSpPr>
          <p:cNvPr id="7" name="Shape 5"/>
          <p:cNvSpPr/>
          <p:nvPr/>
        </p:nvSpPr>
        <p:spPr>
          <a:xfrm>
            <a:off x="548640" y="2148840"/>
            <a:ext cx="5440680" cy="841248"/>
          </a:xfrm>
          <a:prstGeom prst="roundRect">
            <a:avLst>
              <a:gd name="adj" fmla="val 5435"/>
            </a:avLst>
          </a:prstGeom>
          <a:solidFill>
            <a:srgbClr val="E6F6F0"/>
          </a:solidFill>
          <a:ln/>
        </p:spPr>
      </p:sp>
      <p:sp>
        <p:nvSpPr>
          <p:cNvPr id="8" name="Text 6"/>
          <p:cNvSpPr/>
          <p:nvPr/>
        </p:nvSpPr>
        <p:spPr>
          <a:xfrm>
            <a:off x="731520" y="2221992"/>
            <a:ext cx="5074920" cy="694944"/>
          </a:xfrm>
          <a:prstGeom prst="rect">
            <a:avLst/>
          </a:prstGeom>
          <a:noFill/>
          <a:ln/>
        </p:spPr>
        <p:txBody>
          <a:bodyPr wrap="square" rtlCol="0" anchor="ctr"/>
          <a:lstStyle/>
          <a:p>
            <a:pPr indent="0" marL="0">
              <a:lnSpc>
                <a:spcPct val="120000"/>
              </a:lnSpc>
              <a:buNone/>
            </a:pPr>
            <a:r>
              <a:rPr lang="en-US" sz="1050" dirty="0">
                <a:solidFill>
                  <a:srgbClr val="0D5C43"/>
                </a:solidFill>
                <a:latin typeface="Calibri" pitchFamily="34" charset="0"/>
                <a:ea typeface="Calibri" pitchFamily="34" charset="-122"/>
                <a:cs typeface="Calibri" pitchFamily="34" charset="-120"/>
              </a:rPr>
              <a:t>Target promotions to the specific periods and conditions where past demand response was strongest</a:t>
            </a:r>
            <a:endParaRPr lang="en-US" sz="1050" dirty="0"/>
          </a:p>
        </p:txBody>
      </p:sp>
      <p:sp>
        <p:nvSpPr>
          <p:cNvPr id="9" name="Shape 7"/>
          <p:cNvSpPr/>
          <p:nvPr/>
        </p:nvSpPr>
        <p:spPr>
          <a:xfrm>
            <a:off x="548640" y="3108960"/>
            <a:ext cx="5440680" cy="841248"/>
          </a:xfrm>
          <a:prstGeom prst="roundRect">
            <a:avLst>
              <a:gd name="adj" fmla="val 5435"/>
            </a:avLst>
          </a:prstGeom>
          <a:solidFill>
            <a:srgbClr val="E6F6F0"/>
          </a:solidFill>
          <a:ln/>
        </p:spPr>
      </p:sp>
      <p:sp>
        <p:nvSpPr>
          <p:cNvPr id="10" name="Text 8"/>
          <p:cNvSpPr/>
          <p:nvPr/>
        </p:nvSpPr>
        <p:spPr>
          <a:xfrm>
            <a:off x="731520" y="3182112"/>
            <a:ext cx="5074920" cy="694944"/>
          </a:xfrm>
          <a:prstGeom prst="rect">
            <a:avLst/>
          </a:prstGeom>
          <a:noFill/>
          <a:ln/>
        </p:spPr>
        <p:txBody>
          <a:bodyPr wrap="square" rtlCol="0" anchor="ctr"/>
          <a:lstStyle/>
          <a:p>
            <a:pPr indent="0" marL="0">
              <a:lnSpc>
                <a:spcPct val="120000"/>
              </a:lnSpc>
              <a:buNone/>
            </a:pPr>
            <a:r>
              <a:rPr lang="en-US" sz="1050" dirty="0">
                <a:solidFill>
                  <a:srgbClr val="0D5C43"/>
                </a:solidFill>
                <a:latin typeface="Calibri" pitchFamily="34" charset="0"/>
                <a:ea typeface="Calibri" pitchFamily="34" charset="-122"/>
                <a:cs typeface="Calibri" pitchFamily="34" charset="-120"/>
              </a:rPr>
              <a:t>Use the price–margin relationship (r = +0.64) to inform pricing floors rather than blanket discounts</a:t>
            </a:r>
            <a:endParaRPr lang="en-US" sz="1050" dirty="0"/>
          </a:p>
        </p:txBody>
      </p:sp>
      <p:sp>
        <p:nvSpPr>
          <p:cNvPr id="11" name="Shape 9"/>
          <p:cNvSpPr/>
          <p:nvPr/>
        </p:nvSpPr>
        <p:spPr>
          <a:xfrm>
            <a:off x="548640" y="4069080"/>
            <a:ext cx="5440680" cy="841248"/>
          </a:xfrm>
          <a:prstGeom prst="roundRect">
            <a:avLst>
              <a:gd name="adj" fmla="val 5435"/>
            </a:avLst>
          </a:prstGeom>
          <a:solidFill>
            <a:srgbClr val="E6F6F0"/>
          </a:solidFill>
          <a:ln/>
        </p:spPr>
      </p:sp>
      <p:sp>
        <p:nvSpPr>
          <p:cNvPr id="12" name="Text 10"/>
          <p:cNvSpPr/>
          <p:nvPr/>
        </p:nvSpPr>
        <p:spPr>
          <a:xfrm>
            <a:off x="731520" y="4142232"/>
            <a:ext cx="5074920" cy="694944"/>
          </a:xfrm>
          <a:prstGeom prst="rect">
            <a:avLst/>
          </a:prstGeom>
          <a:noFill/>
          <a:ln/>
        </p:spPr>
        <p:txBody>
          <a:bodyPr wrap="square" rtlCol="0" anchor="ctr"/>
          <a:lstStyle/>
          <a:p>
            <a:pPr indent="0" marL="0">
              <a:lnSpc>
                <a:spcPct val="120000"/>
              </a:lnSpc>
              <a:buNone/>
            </a:pPr>
            <a:r>
              <a:rPr lang="en-US" sz="1050" dirty="0">
                <a:solidFill>
                  <a:srgbClr val="0D5C43"/>
                </a:solidFill>
                <a:latin typeface="Calibri" pitchFamily="34" charset="0"/>
                <a:ea typeface="Calibri" pitchFamily="34" charset="-122"/>
                <a:cs typeface="Calibri" pitchFamily="34" charset="-120"/>
              </a:rPr>
              <a:t>Investigate what drove the Q2 revenue peak and the Jun–Nov 2016 margin recovery, to replicate the latter</a:t>
            </a:r>
            <a:endParaRPr lang="en-US" sz="1050" dirty="0"/>
          </a:p>
        </p:txBody>
      </p:sp>
      <p:sp>
        <p:nvSpPr>
          <p:cNvPr id="13" name="Shape 11"/>
          <p:cNvSpPr/>
          <p:nvPr/>
        </p:nvSpPr>
        <p:spPr>
          <a:xfrm>
            <a:off x="548640" y="5029200"/>
            <a:ext cx="5440680" cy="841248"/>
          </a:xfrm>
          <a:prstGeom prst="roundRect">
            <a:avLst>
              <a:gd name="adj" fmla="val 5435"/>
            </a:avLst>
          </a:prstGeom>
          <a:solidFill>
            <a:srgbClr val="E6F6F0"/>
          </a:solidFill>
          <a:ln/>
        </p:spPr>
      </p:sp>
      <p:sp>
        <p:nvSpPr>
          <p:cNvPr id="14" name="Text 12"/>
          <p:cNvSpPr/>
          <p:nvPr/>
        </p:nvSpPr>
        <p:spPr>
          <a:xfrm>
            <a:off x="731520" y="5102352"/>
            <a:ext cx="5074920" cy="694944"/>
          </a:xfrm>
          <a:prstGeom prst="rect">
            <a:avLst/>
          </a:prstGeom>
          <a:noFill/>
          <a:ln/>
        </p:spPr>
        <p:txBody>
          <a:bodyPr wrap="square" rtlCol="0" anchor="ctr"/>
          <a:lstStyle/>
          <a:p>
            <a:pPr indent="0" marL="0">
              <a:lnSpc>
                <a:spcPct val="120000"/>
              </a:lnSpc>
              <a:buNone/>
            </a:pPr>
            <a:r>
              <a:rPr lang="en-US" sz="1050" dirty="0">
                <a:solidFill>
                  <a:srgbClr val="0D5C43"/>
                </a:solidFill>
                <a:latin typeface="Calibri" pitchFamily="34" charset="0"/>
                <a:ea typeface="Calibri" pitchFamily="34" charset="-122"/>
                <a:cs typeface="Calibri" pitchFamily="34" charset="-120"/>
              </a:rPr>
              <a:t>Build automated monitoring so price, volume, and margin are reviewed together, not in isolation</a:t>
            </a:r>
            <a:endParaRPr lang="en-US" sz="1050" dirty="0"/>
          </a:p>
        </p:txBody>
      </p:sp>
      <p:sp>
        <p:nvSpPr>
          <p:cNvPr id="15" name="Shape 13"/>
          <p:cNvSpPr/>
          <p:nvPr/>
        </p:nvSpPr>
        <p:spPr>
          <a:xfrm>
            <a:off x="6172200" y="1554480"/>
            <a:ext cx="5440680" cy="457200"/>
          </a:xfrm>
          <a:prstGeom prst="rect">
            <a:avLst/>
          </a:prstGeom>
          <a:solidFill>
            <a:srgbClr val="9C3B2E"/>
          </a:solidFill>
          <a:ln/>
        </p:spPr>
      </p:sp>
      <p:sp>
        <p:nvSpPr>
          <p:cNvPr id="16" name="Text 14"/>
          <p:cNvSpPr/>
          <p:nvPr/>
        </p:nvSpPr>
        <p:spPr>
          <a:xfrm>
            <a:off x="6172200" y="1554480"/>
            <a:ext cx="5440680" cy="457200"/>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RISKS</a:t>
            </a:r>
            <a:endParaRPr lang="en-US" sz="1300" dirty="0"/>
          </a:p>
        </p:txBody>
      </p:sp>
      <p:sp>
        <p:nvSpPr>
          <p:cNvPr id="17" name="Shape 15"/>
          <p:cNvSpPr/>
          <p:nvPr/>
        </p:nvSpPr>
        <p:spPr>
          <a:xfrm>
            <a:off x="6172200" y="2148840"/>
            <a:ext cx="5440680" cy="841248"/>
          </a:xfrm>
          <a:prstGeom prst="roundRect">
            <a:avLst>
              <a:gd name="adj" fmla="val 5435"/>
            </a:avLst>
          </a:prstGeom>
          <a:solidFill>
            <a:srgbClr val="F6E9E6"/>
          </a:solidFill>
          <a:ln/>
        </p:spPr>
      </p:sp>
      <p:sp>
        <p:nvSpPr>
          <p:cNvPr id="18" name="Text 16"/>
          <p:cNvSpPr/>
          <p:nvPr/>
        </p:nvSpPr>
        <p:spPr>
          <a:xfrm>
            <a:off x="6355080" y="2221992"/>
            <a:ext cx="5074920" cy="694944"/>
          </a:xfrm>
          <a:prstGeom prst="rect">
            <a:avLst/>
          </a:prstGeom>
          <a:noFill/>
          <a:ln/>
        </p:spPr>
        <p:txBody>
          <a:bodyPr wrap="square" rtlCol="0" anchor="ctr"/>
          <a:lstStyle/>
          <a:p>
            <a:pPr indent="0" marL="0">
              <a:lnSpc>
                <a:spcPct val="120000"/>
              </a:lnSpc>
              <a:buNone/>
            </a:pPr>
            <a:r>
              <a:rPr lang="en-US" sz="1050" dirty="0">
                <a:solidFill>
                  <a:srgbClr val="6B2A1F"/>
                </a:solidFill>
                <a:latin typeface="Calibri" pitchFamily="34" charset="0"/>
                <a:ea typeface="Calibri" pitchFamily="34" charset="-122"/>
                <a:cs typeface="Calibri" pitchFamily="34" charset="-120"/>
              </a:rPr>
              <a:t>Margin erosion from continued discounting — every detected promotion period sold at a loss</a:t>
            </a:r>
            <a:endParaRPr lang="en-US" sz="1050" dirty="0"/>
          </a:p>
        </p:txBody>
      </p:sp>
      <p:sp>
        <p:nvSpPr>
          <p:cNvPr id="19" name="Shape 17"/>
          <p:cNvSpPr/>
          <p:nvPr/>
        </p:nvSpPr>
        <p:spPr>
          <a:xfrm>
            <a:off x="6172200" y="3108960"/>
            <a:ext cx="5440680" cy="841248"/>
          </a:xfrm>
          <a:prstGeom prst="roundRect">
            <a:avLst>
              <a:gd name="adj" fmla="val 5435"/>
            </a:avLst>
          </a:prstGeom>
          <a:solidFill>
            <a:srgbClr val="F6E9E6"/>
          </a:solidFill>
          <a:ln/>
        </p:spPr>
      </p:sp>
      <p:sp>
        <p:nvSpPr>
          <p:cNvPr id="20" name="Text 18"/>
          <p:cNvSpPr/>
          <p:nvPr/>
        </p:nvSpPr>
        <p:spPr>
          <a:xfrm>
            <a:off x="6355080" y="3182112"/>
            <a:ext cx="5074920" cy="694944"/>
          </a:xfrm>
          <a:prstGeom prst="rect">
            <a:avLst/>
          </a:prstGeom>
          <a:noFill/>
          <a:ln/>
        </p:spPr>
        <p:txBody>
          <a:bodyPr wrap="square" rtlCol="0" anchor="ctr"/>
          <a:lstStyle/>
          <a:p>
            <a:pPr indent="0" marL="0">
              <a:lnSpc>
                <a:spcPct val="120000"/>
              </a:lnSpc>
              <a:buNone/>
            </a:pPr>
            <a:r>
              <a:rPr lang="en-US" sz="1050" dirty="0">
                <a:solidFill>
                  <a:srgbClr val="6B2A1F"/>
                </a:solidFill>
                <a:latin typeface="Calibri" pitchFamily="34" charset="0"/>
                <a:ea typeface="Calibri" pitchFamily="34" charset="-122"/>
                <a:cs typeface="Calibri" pitchFamily="34" charset="-120"/>
              </a:rPr>
              <a:t>Revenue growth without profitable growth, if 2016's pricing gains are not sustained into 2017</a:t>
            </a:r>
            <a:endParaRPr lang="en-US" sz="1050" dirty="0"/>
          </a:p>
        </p:txBody>
      </p:sp>
      <p:sp>
        <p:nvSpPr>
          <p:cNvPr id="21" name="Shape 19"/>
          <p:cNvSpPr/>
          <p:nvPr/>
        </p:nvSpPr>
        <p:spPr>
          <a:xfrm>
            <a:off x="6172200" y="4069080"/>
            <a:ext cx="5440680" cy="841248"/>
          </a:xfrm>
          <a:prstGeom prst="roundRect">
            <a:avLst>
              <a:gd name="adj" fmla="val 5435"/>
            </a:avLst>
          </a:prstGeom>
          <a:solidFill>
            <a:srgbClr val="F6E9E6"/>
          </a:solidFill>
          <a:ln/>
        </p:spPr>
      </p:sp>
      <p:sp>
        <p:nvSpPr>
          <p:cNvPr id="22" name="Text 20"/>
          <p:cNvSpPr/>
          <p:nvPr/>
        </p:nvSpPr>
        <p:spPr>
          <a:xfrm>
            <a:off x="6355080" y="4142232"/>
            <a:ext cx="5074920" cy="694944"/>
          </a:xfrm>
          <a:prstGeom prst="rect">
            <a:avLst/>
          </a:prstGeom>
          <a:noFill/>
          <a:ln/>
        </p:spPr>
        <p:txBody>
          <a:bodyPr wrap="square" rtlCol="0" anchor="ctr"/>
          <a:lstStyle/>
          <a:p>
            <a:pPr indent="0" marL="0">
              <a:lnSpc>
                <a:spcPct val="120000"/>
              </a:lnSpc>
              <a:buNone/>
            </a:pPr>
            <a:r>
              <a:rPr lang="en-US" sz="1050" dirty="0">
                <a:solidFill>
                  <a:srgbClr val="6B2A1F"/>
                </a:solidFill>
                <a:latin typeface="Calibri" pitchFamily="34" charset="0"/>
                <a:ea typeface="Calibri" pitchFamily="34" charset="-122"/>
                <a:cs typeface="Calibri" pitchFamily="34" charset="-120"/>
              </a:rPr>
              <a:t>Over-reliance on broad, unconditional promotions rather than targeted, margin-aware ones</a:t>
            </a:r>
            <a:endParaRPr lang="en-US" sz="1050" dirty="0"/>
          </a:p>
        </p:txBody>
      </p:sp>
      <p:sp>
        <p:nvSpPr>
          <p:cNvPr id="23" name="Shape 21"/>
          <p:cNvSpPr/>
          <p:nvPr/>
        </p:nvSpPr>
        <p:spPr>
          <a:xfrm>
            <a:off x="6172200" y="5029200"/>
            <a:ext cx="5440680" cy="841248"/>
          </a:xfrm>
          <a:prstGeom prst="roundRect">
            <a:avLst>
              <a:gd name="adj" fmla="val 5435"/>
            </a:avLst>
          </a:prstGeom>
          <a:solidFill>
            <a:srgbClr val="F6E9E6"/>
          </a:solidFill>
          <a:ln/>
        </p:spPr>
      </p:sp>
      <p:sp>
        <p:nvSpPr>
          <p:cNvPr id="24" name="Text 22"/>
          <p:cNvSpPr/>
          <p:nvPr/>
        </p:nvSpPr>
        <p:spPr>
          <a:xfrm>
            <a:off x="6355080" y="5102352"/>
            <a:ext cx="5074920" cy="694944"/>
          </a:xfrm>
          <a:prstGeom prst="rect">
            <a:avLst/>
          </a:prstGeom>
          <a:noFill/>
          <a:ln/>
        </p:spPr>
        <p:txBody>
          <a:bodyPr wrap="square" rtlCol="0" anchor="ctr"/>
          <a:lstStyle/>
          <a:p>
            <a:pPr indent="0" marL="0">
              <a:lnSpc>
                <a:spcPct val="120000"/>
              </a:lnSpc>
              <a:buNone/>
            </a:pPr>
            <a:r>
              <a:rPr lang="en-US" sz="1050" dirty="0">
                <a:solidFill>
                  <a:srgbClr val="6B2A1F"/>
                </a:solidFill>
                <a:latin typeface="Calibri" pitchFamily="34" charset="0"/>
                <a:ea typeface="Calibri" pitchFamily="34" charset="-122"/>
                <a:cs typeface="Calibri" pitchFamily="34" charset="-120"/>
              </a:rPr>
              <a:t>Correlation between price and demand should not be read as proof of what will happen next — further testing is required before major pricing decisions</a:t>
            </a:r>
            <a:endParaRPr lang="en-US" sz="1050" dirty="0"/>
          </a:p>
        </p:txBody>
      </p:sp>
      <p:sp>
        <p:nvSpPr>
          <p:cNvPr id="25" name="Shape 23"/>
          <p:cNvSpPr/>
          <p:nvPr/>
        </p:nvSpPr>
        <p:spPr>
          <a:xfrm>
            <a:off x="457200" y="6419088"/>
            <a:ext cx="11274552" cy="0"/>
          </a:xfrm>
          <a:prstGeom prst="line">
            <a:avLst/>
          </a:prstGeom>
          <a:noFill/>
          <a:ln w="9525">
            <a:solidFill>
              <a:srgbClr val="E3E5E9"/>
            </a:solidFill>
            <a:prstDash val="solid"/>
          </a:ln>
        </p:spPr>
      </p:sp>
      <p:sp>
        <p:nvSpPr>
          <p:cNvPr id="26" name="Text 24"/>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27" name="Text 25"/>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13 / 16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A30"/>
        </a:solidFill>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STRATEGIC RECOMMENDATIONS</a:t>
            </a:r>
            <a:endParaRPr lang="en-US" sz="1100" dirty="0"/>
          </a:p>
        </p:txBody>
      </p:sp>
      <p:sp>
        <p:nvSpPr>
          <p:cNvPr id="3" name="Text 1"/>
          <p:cNvSpPr/>
          <p:nvPr/>
        </p:nvSpPr>
        <p:spPr>
          <a:xfrm>
            <a:off x="548640" y="685800"/>
            <a:ext cx="10972800" cy="54864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Five Actions to Convert This Analysis Into Profitable Growth</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846320"/>
        </p:xfrm>
        <a:graphic>
          <a:graphicData uri="http://schemas.openxmlformats.org/drawingml/2006/table">
            <a:tbl>
              <a:tblPr/>
              <a:tblGrid>
                <a:gridCol w="1965960"/>
                <a:gridCol w="2788920"/>
                <a:gridCol w="2514600"/>
                <a:gridCol w="868680"/>
                <a:gridCol w="2926080"/>
              </a:tblGrid>
              <a:tr h="758952">
                <a:tc>
                  <a:txBody>
                    <a:bodyPr/>
                    <a:lstStyle/>
                    <a:p>
                      <a:pPr indent="0" marL="0">
                        <a:buNone/>
                      </a:pPr>
                      <a:r>
                        <a:rPr lang="en-US" sz="950" b="1" dirty="0">
                          <a:solidFill>
                            <a:srgbClr val="FFFFFF"/>
                          </a:solidFill>
                        </a:rPr>
                        <a:t>Recommendation</a:t>
                      </a:r>
                      <a:endParaRPr lang="en-US" sz="950" dirty="0"/>
                    </a:p>
                  </a:txBody>
                  <a:tcPr marL="91440" marR="91440" marT="45720" marB="45720">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D3A5F"/>
                    </a:solidFill>
                  </a:tcPr>
                </a:tc>
                <a:tc>
                  <a:txBody>
                    <a:bodyPr/>
                    <a:lstStyle/>
                    <a:p>
                      <a:pPr indent="0" marL="0">
                        <a:buNone/>
                      </a:pPr>
                      <a:r>
                        <a:rPr lang="en-US" sz="950" b="1" dirty="0">
                          <a:solidFill>
                            <a:srgbClr val="FFFFFF"/>
                          </a:solidFill>
                        </a:rPr>
                        <a:t>Business Rationale</a:t>
                      </a:r>
                      <a:endParaRPr lang="en-US" sz="950" dirty="0"/>
                    </a:p>
                  </a:txBody>
                  <a:tcPr marL="91440" marR="91440" marT="45720" marB="45720">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D3A5F"/>
                    </a:solidFill>
                  </a:tcPr>
                </a:tc>
                <a:tc>
                  <a:txBody>
                    <a:bodyPr/>
                    <a:lstStyle/>
                    <a:p>
                      <a:pPr indent="0" marL="0">
                        <a:buNone/>
                      </a:pPr>
                      <a:r>
                        <a:rPr lang="en-US" sz="950" b="1" dirty="0">
                          <a:solidFill>
                            <a:srgbClr val="FFFFFF"/>
                          </a:solidFill>
                        </a:rPr>
                        <a:t>Expected Impact</a:t>
                      </a:r>
                      <a:endParaRPr lang="en-US" sz="950" dirty="0"/>
                    </a:p>
                  </a:txBody>
                  <a:tcPr marL="91440" marR="91440" marT="45720" marB="45720">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D3A5F"/>
                    </a:solidFill>
                  </a:tcPr>
                </a:tc>
                <a:tc>
                  <a:txBody>
                    <a:bodyPr/>
                    <a:lstStyle/>
                    <a:p>
                      <a:pPr indent="0" marL="0">
                        <a:buNone/>
                      </a:pPr>
                      <a:r>
                        <a:rPr lang="en-US" sz="950" b="1" dirty="0">
                          <a:solidFill>
                            <a:srgbClr val="FFFFFF"/>
                          </a:solidFill>
                        </a:rPr>
                        <a:t>Priority</a:t>
                      </a:r>
                      <a:endParaRPr lang="en-US" sz="950" dirty="0"/>
                    </a:p>
                  </a:txBody>
                  <a:tcPr marL="91440" marR="91440" marT="45720" marB="45720">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D3A5F"/>
                    </a:solidFill>
                  </a:tcPr>
                </a:tc>
                <a:tc>
                  <a:txBody>
                    <a:bodyPr/>
                    <a:lstStyle/>
                    <a:p>
                      <a:pPr indent="0" marL="0">
                        <a:buNone/>
                      </a:pPr>
                      <a:r>
                        <a:rPr lang="en-US" sz="950" b="1" dirty="0">
                          <a:solidFill>
                            <a:srgbClr val="FFFFFF"/>
                          </a:solidFill>
                        </a:rPr>
                        <a:t>Next Step</a:t>
                      </a:r>
                      <a:endParaRPr lang="en-US" sz="950" dirty="0"/>
                    </a:p>
                  </a:txBody>
                  <a:tcPr marL="91440" marR="91440" marT="45720" marB="45720">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D3A5F"/>
                    </a:solidFill>
                  </a:tcPr>
                </a:tc>
              </a:tr>
              <a:tr h="758952">
                <a:tc>
                  <a:txBody>
                    <a:bodyPr/>
                    <a:lstStyle/>
                    <a:p>
                      <a:pPr indent="0" marL="0">
                        <a:buNone/>
                      </a:pPr>
                      <a:r>
                        <a:rPr lang="en-US" sz="950" b="1" dirty="0">
                          <a:solidFill>
                            <a:srgbClr val="FFFFFF"/>
                          </a:solidFill>
                        </a:rPr>
                        <a:t>Implement margin-aware promotion rules</a:t>
                      </a:r>
                      <a:endParaRPr lang="en-US" sz="9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Every detected promotion sold at a loss; volume-only triggers are not working</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Prevents further margin erosion on future promotions</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algn="ctr" indent="0" marL="0">
                        <a:buNone/>
                      </a:pPr>
                      <a:r>
                        <a:rPr lang="en-US" sz="900" b="1" dirty="0">
                          <a:solidFill>
                            <a:srgbClr val="B8933E"/>
                          </a:solidFill>
                        </a:rPr>
                        <a:t>High</a:t>
                      </a:r>
                      <a:endParaRPr lang="en-US" sz="90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Define a minimum margin floor before any discount is applied</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r>
              <a:tr h="758952">
                <a:tc>
                  <a:txBody>
                    <a:bodyPr/>
                    <a:lstStyle/>
                    <a:p>
                      <a:pPr indent="0" marL="0">
                        <a:buNone/>
                      </a:pPr>
                      <a:r>
                        <a:rPr lang="en-US" sz="950" b="1" dirty="0">
                          <a:solidFill>
                            <a:srgbClr val="FFFFFF"/>
                          </a:solidFill>
                        </a:rPr>
                        <a:t>Target promotions to higher-response periods</a:t>
                      </a:r>
                      <a:endParaRPr lang="en-US" sz="9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indent="0" marL="0">
                        <a:buNone/>
                      </a:pPr>
                      <a:r>
                        <a:rPr lang="en-US" sz="850" dirty="0">
                          <a:solidFill>
                            <a:srgbClr val="C9D2E0"/>
                          </a:solidFill>
                        </a:rPr>
                        <a:t>Elasticity varied 3.5x across the three periods studied (-12.8 to -44.6)</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indent="0" marL="0">
                        <a:buNone/>
                      </a:pPr>
                      <a:r>
                        <a:rPr lang="en-US" sz="850" dirty="0">
                          <a:solidFill>
                            <a:srgbClr val="C9D2E0"/>
                          </a:solidFill>
                        </a:rPr>
                        <a:t>Improves ROI per Rand of discount given</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algn="ctr" indent="0" marL="0">
                        <a:buNone/>
                      </a:pPr>
                      <a:r>
                        <a:rPr lang="en-US" sz="900" b="1" dirty="0">
                          <a:solidFill>
                            <a:srgbClr val="B8933E"/>
                          </a:solidFill>
                        </a:rPr>
                        <a:t>High</a:t>
                      </a:r>
                      <a:endParaRPr lang="en-US" sz="90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indent="0" marL="0">
                        <a:buNone/>
                      </a:pPr>
                      <a:r>
                        <a:rPr lang="en-US" sz="850" dirty="0">
                          <a:solidFill>
                            <a:srgbClr val="C9D2E0"/>
                          </a:solidFill>
                        </a:rPr>
                        <a:t>Rank historical periods by elasticity and cross-check with stock and seasonality data</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r>
              <a:tr h="758952">
                <a:tc>
                  <a:txBody>
                    <a:bodyPr/>
                    <a:lstStyle/>
                    <a:p>
                      <a:pPr indent="0" marL="0">
                        <a:buNone/>
                      </a:pPr>
                      <a:r>
                        <a:rPr lang="en-US" sz="950" b="1" dirty="0">
                          <a:solidFill>
                            <a:srgbClr val="FFFFFF"/>
                          </a:solidFill>
                        </a:rPr>
                        <a:t>Monitor price, quantity, and margin together</a:t>
                      </a:r>
                      <a:endParaRPr lang="en-US" sz="9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Revenue and margin have moved in opposite directions for most of the period</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Prevents revenue-only reporting from masking profit erosion</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algn="ctr" indent="0" marL="0">
                        <a:buNone/>
                      </a:pPr>
                      <a:r>
                        <a:rPr lang="en-US" sz="900" b="1" dirty="0">
                          <a:solidFill>
                            <a:srgbClr val="B8933E"/>
                          </a:solidFill>
                        </a:rPr>
                        <a:t>High</a:t>
                      </a:r>
                      <a:endParaRPr lang="en-US" sz="90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Add margin and elasticity fields to existing sales reporting</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r>
              <a:tr h="758952">
                <a:tc>
                  <a:txBody>
                    <a:bodyPr/>
                    <a:lstStyle/>
                    <a:p>
                      <a:pPr indent="0" marL="0">
                        <a:buNone/>
                      </a:pPr>
                      <a:r>
                        <a:rPr lang="en-US" sz="950" b="1" dirty="0">
                          <a:solidFill>
                            <a:srgbClr val="FFFFFF"/>
                          </a:solidFill>
                        </a:rPr>
                        <a:t>Introduce promotion performance thresholds</a:t>
                      </a:r>
                      <a:endParaRPr lang="en-US" sz="9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indent="0" marL="0">
                        <a:buNone/>
                      </a:pPr>
                      <a:r>
                        <a:rPr lang="en-US" sz="850" dirty="0">
                          <a:solidFill>
                            <a:srgbClr val="C9D2E0"/>
                          </a:solidFill>
                        </a:rPr>
                        <a:t>183 promotion days (17.4%) ran with no consistent profitability check</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indent="0" marL="0">
                        <a:buNone/>
                      </a:pPr>
                      <a:r>
                        <a:rPr lang="en-US" sz="850" dirty="0">
                          <a:solidFill>
                            <a:srgbClr val="C9D2E0"/>
                          </a:solidFill>
                        </a:rPr>
                        <a:t>Creates an early stop/adjust mechanism during live promotions</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algn="ctr" indent="0" marL="0">
                        <a:buNone/>
                      </a:pPr>
                      <a:r>
                        <a:rPr lang="en-US" sz="900" b="1" dirty="0">
                          <a:solidFill>
                            <a:srgbClr val="9AA5B8"/>
                          </a:solidFill>
                        </a:rPr>
                        <a:t>Medium</a:t>
                      </a:r>
                      <a:endParaRPr lang="en-US" sz="90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c>
                  <a:txBody>
                    <a:bodyPr/>
                    <a:lstStyle/>
                    <a:p>
                      <a:pPr indent="0" marL="0">
                        <a:buNone/>
                      </a:pPr>
                      <a:r>
                        <a:rPr lang="en-US" sz="850" dirty="0">
                          <a:solidFill>
                            <a:srgbClr val="C9D2E0"/>
                          </a:solidFill>
                        </a:rPr>
                        <a:t>Set a maximum acceptable margin decline before a promotion is paused</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0F2038"/>
                    </a:solidFill>
                  </a:tcPr>
                </a:tc>
              </a:tr>
              <a:tr h="758952">
                <a:tc>
                  <a:txBody>
                    <a:bodyPr/>
                    <a:lstStyle/>
                    <a:p>
                      <a:pPr indent="0" marL="0">
                        <a:buNone/>
                      </a:pPr>
                      <a:r>
                        <a:rPr lang="en-US" sz="950" b="1" dirty="0">
                          <a:solidFill>
                            <a:srgbClr val="FFFFFF"/>
                          </a:solidFill>
                        </a:rPr>
                        <a:t>Develop an automated executive pricing dashboard</a:t>
                      </a:r>
                      <a:endParaRPr lang="en-US" sz="9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This analysis was manual and point-in-time; the underlying pattern is ongoing</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Gives leadership continuous visibility instead of periodic snapshots</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algn="ctr" indent="0" marL="0">
                        <a:buNone/>
                      </a:pPr>
                      <a:r>
                        <a:rPr lang="en-US" sz="900" b="1" dirty="0">
                          <a:solidFill>
                            <a:srgbClr val="9AA5B8"/>
                          </a:solidFill>
                        </a:rPr>
                        <a:t>Medium</a:t>
                      </a:r>
                      <a:endParaRPr lang="en-US" sz="90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c>
                  <a:txBody>
                    <a:bodyPr/>
                    <a:lstStyle/>
                    <a:p>
                      <a:pPr indent="0" marL="0">
                        <a:buNone/>
                      </a:pPr>
                      <a:r>
                        <a:rPr lang="en-US" sz="850" dirty="0">
                          <a:solidFill>
                            <a:srgbClr val="C9D2E0"/>
                          </a:solidFill>
                        </a:rPr>
                        <a:t>Sterling Data Group to scope and build in Phase 2 of the roadmap</a:t>
                      </a:r>
                      <a:endParaRPr lang="en-US" sz="850" dirty="0"/>
                    </a:p>
                  </a:txBody>
                  <a:tcPr marL="91440" marR="91440" marT="45720" marB="45720" anchor="ctr">
                    <a:lnL w="6350" cap="flat" cmpd="sng" algn="ctr">
                      <a:solidFill>
                        <a:srgbClr val="1D3A5F"/>
                      </a:solidFill>
                      <a:prstDash val="solid"/>
                      <a:round/>
                      <a:headEnd type="none" w="med" len="med"/>
                      <a:tailEnd type="none" w="med" len="med"/>
                    </a:lnL>
                    <a:lnR w="6350" cap="flat" cmpd="sng" algn="ctr">
                      <a:solidFill>
                        <a:srgbClr val="1D3A5F"/>
                      </a:solidFill>
                      <a:prstDash val="solid"/>
                      <a:round/>
                      <a:headEnd type="none" w="med" len="med"/>
                      <a:tailEnd type="none" w="med" len="med"/>
                    </a:lnR>
                    <a:lnT w="6350" cap="flat" cmpd="sng" algn="ctr">
                      <a:solidFill>
                        <a:srgbClr val="1D3A5F"/>
                      </a:solidFill>
                      <a:prstDash val="solid"/>
                      <a:round/>
                      <a:headEnd type="none" w="med" len="med"/>
                      <a:tailEnd type="none" w="med" len="med"/>
                    </a:lnT>
                    <a:lnB w="6350" cap="flat" cmpd="sng" algn="ctr">
                      <a:solidFill>
                        <a:srgbClr val="1D3A5F"/>
                      </a:solidFill>
                      <a:prstDash val="solid"/>
                      <a:round/>
                      <a:headEnd type="none" w="med" len="med"/>
                      <a:tailEnd type="none" w="med" len="med"/>
                    </a:lnB>
                    <a:solidFill>
                      <a:srgbClr val="132844"/>
                    </a:solidFill>
                  </a:tcPr>
                </a:tc>
              </a:tr>
            </a:tbl>
          </a:graphicData>
        </a:graphic>
      </p:graphicFrame>
      <p:sp>
        <p:nvSpPr>
          <p:cNvPr id="5" name="Shape 2"/>
          <p:cNvSpPr/>
          <p:nvPr/>
        </p:nvSpPr>
        <p:spPr>
          <a:xfrm>
            <a:off x="457200" y="6419088"/>
            <a:ext cx="11274552" cy="0"/>
          </a:xfrm>
          <a:prstGeom prst="line">
            <a:avLst/>
          </a:prstGeom>
          <a:noFill/>
          <a:ln w="9525">
            <a:solidFill>
              <a:srgbClr val="E3E5E9"/>
            </a:solidFill>
            <a:prstDash val="solid"/>
          </a:ln>
        </p:spPr>
      </p:sp>
      <p:sp>
        <p:nvSpPr>
          <p:cNvPr id="6" name="Text 3"/>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7" name="Text 4"/>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14 / 16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256032" cy="73152"/>
          </a:xfrm>
          <a:prstGeom prst="rect">
            <a:avLst/>
          </a:prstGeom>
          <a:solidFill>
            <a:srgbClr val="B8933E"/>
          </a:solidFill>
          <a:ln/>
        </p:spPr>
      </p:sp>
      <p:sp>
        <p:nvSpPr>
          <p:cNvPr id="3" name="Text 1"/>
          <p:cNvSpPr/>
          <p:nvPr/>
        </p:nvSpPr>
        <p:spPr>
          <a:xfrm>
            <a:off x="896112" y="329184"/>
            <a:ext cx="8229600" cy="274320"/>
          </a:xfrm>
          <a:prstGeom prst="rect">
            <a:avLst/>
          </a:prstGeom>
          <a:noFill/>
          <a:ln/>
        </p:spPr>
        <p:txBody>
          <a:bodyPr wrap="square" rtlCol="0" anchor="ctr"/>
          <a:lstStyle/>
          <a:p>
            <a:pPr indent="0" marL="0">
              <a:buNone/>
            </a:pPr>
            <a:r>
              <a:rPr lang="en-US" sz="1100" b="1" spc="150" kern="0" dirty="0">
                <a:solidFill>
                  <a:srgbClr val="B8933E"/>
                </a:solidFill>
                <a:latin typeface="Calibri" pitchFamily="34" charset="0"/>
                <a:ea typeface="Calibri" pitchFamily="34" charset="-122"/>
                <a:cs typeface="Calibri" pitchFamily="34" charset="-120"/>
              </a:rPr>
              <a:t>IMPLEMENTATION ROADMAP</a:t>
            </a:r>
            <a:endParaRPr lang="en-US" sz="1100" dirty="0"/>
          </a:p>
        </p:txBody>
      </p:sp>
      <p:sp>
        <p:nvSpPr>
          <p:cNvPr id="4" name="Text 2"/>
          <p:cNvSpPr/>
          <p:nvPr/>
        </p:nvSpPr>
        <p:spPr>
          <a:xfrm>
            <a:off x="548640" y="603504"/>
            <a:ext cx="11064240" cy="777240"/>
          </a:xfrm>
          <a:prstGeom prst="rect">
            <a:avLst/>
          </a:prstGeom>
          <a:noFill/>
          <a:ln/>
        </p:spPr>
        <p:txBody>
          <a:bodyPr wrap="square" rtlCol="0" anchor="ctr"/>
          <a:lstStyle/>
          <a:p>
            <a:pPr indent="0" marL="0">
              <a:lnSpc>
                <a:spcPct val="105000"/>
              </a:lnSpc>
              <a:buNone/>
            </a:pPr>
            <a:r>
              <a:rPr lang="en-US" sz="2300" b="1" dirty="0">
                <a:solidFill>
                  <a:srgbClr val="0A1A30"/>
                </a:solidFill>
                <a:latin typeface="Georgia" pitchFamily="34" charset="0"/>
                <a:ea typeface="Georgia" pitchFamily="34" charset="-122"/>
                <a:cs typeface="Georgia" pitchFamily="34" charset="-120"/>
              </a:rPr>
              <a:t>A Phased Path From Validation to an Agentic Analytics Capability</a:t>
            </a:r>
            <a:endParaRPr lang="en-US" sz="2300" dirty="0"/>
          </a:p>
        </p:txBody>
      </p:sp>
      <p:sp>
        <p:nvSpPr>
          <p:cNvPr id="5" name="Shape 3"/>
          <p:cNvSpPr/>
          <p:nvPr/>
        </p:nvSpPr>
        <p:spPr>
          <a:xfrm>
            <a:off x="548640" y="1600200"/>
            <a:ext cx="2651760" cy="4297680"/>
          </a:xfrm>
          <a:prstGeom prst="roundRect">
            <a:avLst>
              <a:gd name="adj" fmla="val 2414"/>
            </a:avLst>
          </a:prstGeom>
          <a:solidFill>
            <a:srgbClr val="F5F6F8"/>
          </a:solidFill>
          <a:ln/>
        </p:spPr>
      </p:sp>
      <p:sp>
        <p:nvSpPr>
          <p:cNvPr id="6" name="Shape 4"/>
          <p:cNvSpPr/>
          <p:nvPr/>
        </p:nvSpPr>
        <p:spPr>
          <a:xfrm>
            <a:off x="548640" y="1600200"/>
            <a:ext cx="2651760" cy="777240"/>
          </a:xfrm>
          <a:prstGeom prst="rect">
            <a:avLst/>
          </a:prstGeom>
          <a:solidFill>
            <a:srgbClr val="0A1A30"/>
          </a:solidFill>
          <a:ln/>
        </p:spPr>
      </p:sp>
      <p:sp>
        <p:nvSpPr>
          <p:cNvPr id="7" name="Text 5"/>
          <p:cNvSpPr/>
          <p:nvPr/>
        </p:nvSpPr>
        <p:spPr>
          <a:xfrm>
            <a:off x="685800" y="1664208"/>
            <a:ext cx="2377440" cy="274320"/>
          </a:xfrm>
          <a:prstGeom prst="rect">
            <a:avLst/>
          </a:prstGeom>
          <a:noFill/>
          <a:ln/>
        </p:spPr>
        <p:txBody>
          <a:bodyPr wrap="square" rtlCol="0" anchor="ctr"/>
          <a:lstStyle/>
          <a:p>
            <a:pPr indent="0" marL="0">
              <a:buNone/>
            </a:pPr>
            <a:r>
              <a:rPr lang="en-US" sz="1000" b="1" spc="50" kern="0" dirty="0">
                <a:solidFill>
                  <a:srgbClr val="FFFFFF"/>
                </a:solidFill>
                <a:latin typeface="Calibri" pitchFamily="34" charset="0"/>
                <a:ea typeface="Calibri" pitchFamily="34" charset="-122"/>
                <a:cs typeface="Calibri" pitchFamily="34" charset="-120"/>
              </a:rPr>
              <a:t>Phase 1</a:t>
            </a:r>
            <a:endParaRPr lang="en-US" sz="1000" dirty="0"/>
          </a:p>
        </p:txBody>
      </p:sp>
      <p:sp>
        <p:nvSpPr>
          <p:cNvPr id="8" name="Text 6"/>
          <p:cNvSpPr/>
          <p:nvPr/>
        </p:nvSpPr>
        <p:spPr>
          <a:xfrm>
            <a:off x="685800" y="1901952"/>
            <a:ext cx="2377440" cy="292608"/>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Immediate</a:t>
            </a:r>
            <a:endParaRPr lang="en-US" sz="1500" dirty="0"/>
          </a:p>
        </p:txBody>
      </p:sp>
      <p:sp>
        <p:nvSpPr>
          <p:cNvPr id="9" name="Text 7"/>
          <p:cNvSpPr/>
          <p:nvPr/>
        </p:nvSpPr>
        <p:spPr>
          <a:xfrm>
            <a:off x="685800" y="2514600"/>
            <a:ext cx="2377440" cy="274320"/>
          </a:xfrm>
          <a:prstGeom prst="rect">
            <a:avLst/>
          </a:prstGeom>
          <a:noFill/>
          <a:ln/>
        </p:spPr>
        <p:txBody>
          <a:bodyPr wrap="square" rtlCol="0" anchor="ctr"/>
          <a:lstStyle/>
          <a:p>
            <a:pPr indent="0" marL="0">
              <a:buNone/>
            </a:pPr>
            <a:r>
              <a:rPr lang="en-US" sz="1000" b="1" dirty="0">
                <a:solidFill>
                  <a:srgbClr val="0A1A30"/>
                </a:solidFill>
                <a:latin typeface="Calibri" pitchFamily="34" charset="0"/>
                <a:ea typeface="Calibri" pitchFamily="34" charset="-122"/>
                <a:cs typeface="Calibri" pitchFamily="34" charset="-120"/>
              </a:rPr>
              <a:t>0–30 days</a:t>
            </a:r>
            <a:endParaRPr lang="en-US" sz="1000" dirty="0"/>
          </a:p>
        </p:txBody>
      </p:sp>
      <p:sp>
        <p:nvSpPr>
          <p:cNvPr id="10" name="Shape 8"/>
          <p:cNvSpPr/>
          <p:nvPr/>
        </p:nvSpPr>
        <p:spPr>
          <a:xfrm>
            <a:off x="713232" y="2935224"/>
            <a:ext cx="73152" cy="73152"/>
          </a:xfrm>
          <a:prstGeom prst="ellipse">
            <a:avLst/>
          </a:prstGeom>
          <a:solidFill>
            <a:srgbClr val="0A1A30"/>
          </a:solidFill>
          <a:ln/>
        </p:spPr>
      </p:sp>
      <p:sp>
        <p:nvSpPr>
          <p:cNvPr id="11" name="Text 9"/>
          <p:cNvSpPr/>
          <p:nvPr/>
        </p:nvSpPr>
        <p:spPr>
          <a:xfrm>
            <a:off x="868680" y="283464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Validate promotion periods against actual campaign records</a:t>
            </a:r>
            <a:endParaRPr lang="en-US" sz="900" dirty="0"/>
          </a:p>
        </p:txBody>
      </p:sp>
      <p:sp>
        <p:nvSpPr>
          <p:cNvPr id="12" name="Shape 10"/>
          <p:cNvSpPr/>
          <p:nvPr/>
        </p:nvSpPr>
        <p:spPr>
          <a:xfrm>
            <a:off x="713232" y="3712464"/>
            <a:ext cx="73152" cy="73152"/>
          </a:xfrm>
          <a:prstGeom prst="ellipse">
            <a:avLst/>
          </a:prstGeom>
          <a:solidFill>
            <a:srgbClr val="0A1A30"/>
          </a:solidFill>
          <a:ln/>
        </p:spPr>
      </p:sp>
      <p:sp>
        <p:nvSpPr>
          <p:cNvPr id="13" name="Text 11"/>
          <p:cNvSpPr/>
          <p:nvPr/>
        </p:nvSpPr>
        <p:spPr>
          <a:xfrm>
            <a:off x="868680" y="361188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Confirm business rules with commercial and finance teams</a:t>
            </a:r>
            <a:endParaRPr lang="en-US" sz="900" dirty="0"/>
          </a:p>
        </p:txBody>
      </p:sp>
      <p:sp>
        <p:nvSpPr>
          <p:cNvPr id="14" name="Shape 12"/>
          <p:cNvSpPr/>
          <p:nvPr/>
        </p:nvSpPr>
        <p:spPr>
          <a:xfrm>
            <a:off x="713232" y="4489704"/>
            <a:ext cx="73152" cy="73152"/>
          </a:xfrm>
          <a:prstGeom prst="ellipse">
            <a:avLst/>
          </a:prstGeom>
          <a:solidFill>
            <a:srgbClr val="0A1A30"/>
          </a:solidFill>
          <a:ln/>
        </p:spPr>
      </p:sp>
      <p:sp>
        <p:nvSpPr>
          <p:cNvPr id="15" name="Text 13"/>
          <p:cNvSpPr/>
          <p:nvPr/>
        </p:nvSpPr>
        <p:spPr>
          <a:xfrm>
            <a:off x="868680" y="438912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Establish executive performance metrics</a:t>
            </a:r>
            <a:endParaRPr lang="en-US" sz="900" dirty="0"/>
          </a:p>
        </p:txBody>
      </p:sp>
      <p:sp>
        <p:nvSpPr>
          <p:cNvPr id="16" name="Shape 14"/>
          <p:cNvSpPr/>
          <p:nvPr/>
        </p:nvSpPr>
        <p:spPr>
          <a:xfrm>
            <a:off x="3337560" y="1600200"/>
            <a:ext cx="2651760" cy="4297680"/>
          </a:xfrm>
          <a:prstGeom prst="roundRect">
            <a:avLst>
              <a:gd name="adj" fmla="val 2414"/>
            </a:avLst>
          </a:prstGeom>
          <a:solidFill>
            <a:srgbClr val="F5F6F8"/>
          </a:solidFill>
          <a:ln/>
        </p:spPr>
      </p:sp>
      <p:sp>
        <p:nvSpPr>
          <p:cNvPr id="17" name="Shape 15"/>
          <p:cNvSpPr/>
          <p:nvPr/>
        </p:nvSpPr>
        <p:spPr>
          <a:xfrm>
            <a:off x="3337560" y="1600200"/>
            <a:ext cx="2651760" cy="777240"/>
          </a:xfrm>
          <a:prstGeom prst="rect">
            <a:avLst/>
          </a:prstGeom>
          <a:solidFill>
            <a:srgbClr val="1D3A5F"/>
          </a:solidFill>
          <a:ln/>
        </p:spPr>
      </p:sp>
      <p:sp>
        <p:nvSpPr>
          <p:cNvPr id="18" name="Text 16"/>
          <p:cNvSpPr/>
          <p:nvPr/>
        </p:nvSpPr>
        <p:spPr>
          <a:xfrm>
            <a:off x="3474720" y="1664208"/>
            <a:ext cx="2377440" cy="274320"/>
          </a:xfrm>
          <a:prstGeom prst="rect">
            <a:avLst/>
          </a:prstGeom>
          <a:noFill/>
          <a:ln/>
        </p:spPr>
        <p:txBody>
          <a:bodyPr wrap="square" rtlCol="0" anchor="ctr"/>
          <a:lstStyle/>
          <a:p>
            <a:pPr indent="0" marL="0">
              <a:buNone/>
            </a:pPr>
            <a:r>
              <a:rPr lang="en-US" sz="1000" b="1" spc="50" kern="0" dirty="0">
                <a:solidFill>
                  <a:srgbClr val="FFFFFF"/>
                </a:solidFill>
                <a:latin typeface="Calibri" pitchFamily="34" charset="0"/>
                <a:ea typeface="Calibri" pitchFamily="34" charset="-122"/>
                <a:cs typeface="Calibri" pitchFamily="34" charset="-120"/>
              </a:rPr>
              <a:t>Phase 2</a:t>
            </a:r>
            <a:endParaRPr lang="en-US" sz="1000" dirty="0"/>
          </a:p>
        </p:txBody>
      </p:sp>
      <p:sp>
        <p:nvSpPr>
          <p:cNvPr id="19" name="Text 17"/>
          <p:cNvSpPr/>
          <p:nvPr/>
        </p:nvSpPr>
        <p:spPr>
          <a:xfrm>
            <a:off x="3474720" y="1901952"/>
            <a:ext cx="2377440" cy="292608"/>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Short Term</a:t>
            </a:r>
            <a:endParaRPr lang="en-US" sz="1500" dirty="0"/>
          </a:p>
        </p:txBody>
      </p:sp>
      <p:sp>
        <p:nvSpPr>
          <p:cNvPr id="20" name="Text 18"/>
          <p:cNvSpPr/>
          <p:nvPr/>
        </p:nvSpPr>
        <p:spPr>
          <a:xfrm>
            <a:off x="3474720" y="2514600"/>
            <a:ext cx="2377440" cy="274320"/>
          </a:xfrm>
          <a:prstGeom prst="rect">
            <a:avLst/>
          </a:prstGeom>
          <a:noFill/>
          <a:ln/>
        </p:spPr>
        <p:txBody>
          <a:bodyPr wrap="square" rtlCol="0" anchor="ctr"/>
          <a:lstStyle/>
          <a:p>
            <a:pPr indent="0" marL="0">
              <a:buNone/>
            </a:pPr>
            <a:r>
              <a:rPr lang="en-US" sz="1000" b="1" dirty="0">
                <a:solidFill>
                  <a:srgbClr val="1D3A5F"/>
                </a:solidFill>
                <a:latin typeface="Calibri" pitchFamily="34" charset="0"/>
                <a:ea typeface="Calibri" pitchFamily="34" charset="-122"/>
                <a:cs typeface="Calibri" pitchFamily="34" charset="-120"/>
              </a:rPr>
              <a:t>1–3 months</a:t>
            </a:r>
            <a:endParaRPr lang="en-US" sz="1000" dirty="0"/>
          </a:p>
        </p:txBody>
      </p:sp>
      <p:sp>
        <p:nvSpPr>
          <p:cNvPr id="21" name="Shape 19"/>
          <p:cNvSpPr/>
          <p:nvPr/>
        </p:nvSpPr>
        <p:spPr>
          <a:xfrm>
            <a:off x="3502152" y="2935224"/>
            <a:ext cx="73152" cy="73152"/>
          </a:xfrm>
          <a:prstGeom prst="ellipse">
            <a:avLst/>
          </a:prstGeom>
          <a:solidFill>
            <a:srgbClr val="1D3A5F"/>
          </a:solidFill>
          <a:ln/>
        </p:spPr>
      </p:sp>
      <p:sp>
        <p:nvSpPr>
          <p:cNvPr id="22" name="Text 20"/>
          <p:cNvSpPr/>
          <p:nvPr/>
        </p:nvSpPr>
        <p:spPr>
          <a:xfrm>
            <a:off x="3657600" y="283464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Build automated pricing and profitability dashboards</a:t>
            </a:r>
            <a:endParaRPr lang="en-US" sz="900" dirty="0"/>
          </a:p>
        </p:txBody>
      </p:sp>
      <p:sp>
        <p:nvSpPr>
          <p:cNvPr id="23" name="Shape 21"/>
          <p:cNvSpPr/>
          <p:nvPr/>
        </p:nvSpPr>
        <p:spPr>
          <a:xfrm>
            <a:off x="3502152" y="3712464"/>
            <a:ext cx="73152" cy="73152"/>
          </a:xfrm>
          <a:prstGeom prst="ellipse">
            <a:avLst/>
          </a:prstGeom>
          <a:solidFill>
            <a:srgbClr val="1D3A5F"/>
          </a:solidFill>
          <a:ln/>
        </p:spPr>
      </p:sp>
      <p:sp>
        <p:nvSpPr>
          <p:cNvPr id="24" name="Text 22"/>
          <p:cNvSpPr/>
          <p:nvPr/>
        </p:nvSpPr>
        <p:spPr>
          <a:xfrm>
            <a:off x="3657600" y="361188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Introduce live promotion monitoring</a:t>
            </a:r>
            <a:endParaRPr lang="en-US" sz="900" dirty="0"/>
          </a:p>
        </p:txBody>
      </p:sp>
      <p:sp>
        <p:nvSpPr>
          <p:cNvPr id="25" name="Shape 23"/>
          <p:cNvSpPr/>
          <p:nvPr/>
        </p:nvSpPr>
        <p:spPr>
          <a:xfrm>
            <a:off x="3502152" y="4489704"/>
            <a:ext cx="73152" cy="73152"/>
          </a:xfrm>
          <a:prstGeom prst="ellipse">
            <a:avLst/>
          </a:prstGeom>
          <a:solidFill>
            <a:srgbClr val="1D3A5F"/>
          </a:solidFill>
          <a:ln/>
        </p:spPr>
      </p:sp>
      <p:sp>
        <p:nvSpPr>
          <p:cNvPr id="26" name="Text 24"/>
          <p:cNvSpPr/>
          <p:nvPr/>
        </p:nvSpPr>
        <p:spPr>
          <a:xfrm>
            <a:off x="3657600" y="438912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Define margin thresholds for future promotions</a:t>
            </a:r>
            <a:endParaRPr lang="en-US" sz="900" dirty="0"/>
          </a:p>
        </p:txBody>
      </p:sp>
      <p:sp>
        <p:nvSpPr>
          <p:cNvPr id="27" name="Shape 25"/>
          <p:cNvSpPr/>
          <p:nvPr/>
        </p:nvSpPr>
        <p:spPr>
          <a:xfrm>
            <a:off x="6126480" y="1600200"/>
            <a:ext cx="2651760" cy="4297680"/>
          </a:xfrm>
          <a:prstGeom prst="roundRect">
            <a:avLst>
              <a:gd name="adj" fmla="val 2414"/>
            </a:avLst>
          </a:prstGeom>
          <a:solidFill>
            <a:srgbClr val="F5F6F8"/>
          </a:solidFill>
          <a:ln/>
        </p:spPr>
      </p:sp>
      <p:sp>
        <p:nvSpPr>
          <p:cNvPr id="28" name="Shape 26"/>
          <p:cNvSpPr/>
          <p:nvPr/>
        </p:nvSpPr>
        <p:spPr>
          <a:xfrm>
            <a:off x="6126480" y="1600200"/>
            <a:ext cx="2651760" cy="777240"/>
          </a:xfrm>
          <a:prstGeom prst="rect">
            <a:avLst/>
          </a:prstGeom>
          <a:solidFill>
            <a:srgbClr val="1D9E75"/>
          </a:solidFill>
          <a:ln/>
        </p:spPr>
      </p:sp>
      <p:sp>
        <p:nvSpPr>
          <p:cNvPr id="29" name="Text 27"/>
          <p:cNvSpPr/>
          <p:nvPr/>
        </p:nvSpPr>
        <p:spPr>
          <a:xfrm>
            <a:off x="6263640" y="1664208"/>
            <a:ext cx="2377440" cy="274320"/>
          </a:xfrm>
          <a:prstGeom prst="rect">
            <a:avLst/>
          </a:prstGeom>
          <a:noFill/>
          <a:ln/>
        </p:spPr>
        <p:txBody>
          <a:bodyPr wrap="square" rtlCol="0" anchor="ctr"/>
          <a:lstStyle/>
          <a:p>
            <a:pPr indent="0" marL="0">
              <a:buNone/>
            </a:pPr>
            <a:r>
              <a:rPr lang="en-US" sz="1000" b="1" spc="50" kern="0" dirty="0">
                <a:solidFill>
                  <a:srgbClr val="FFFFFF"/>
                </a:solidFill>
                <a:latin typeface="Calibri" pitchFamily="34" charset="0"/>
                <a:ea typeface="Calibri" pitchFamily="34" charset="-122"/>
                <a:cs typeface="Calibri" pitchFamily="34" charset="-120"/>
              </a:rPr>
              <a:t>Phase 3</a:t>
            </a:r>
            <a:endParaRPr lang="en-US" sz="1000" dirty="0"/>
          </a:p>
        </p:txBody>
      </p:sp>
      <p:sp>
        <p:nvSpPr>
          <p:cNvPr id="30" name="Text 28"/>
          <p:cNvSpPr/>
          <p:nvPr/>
        </p:nvSpPr>
        <p:spPr>
          <a:xfrm>
            <a:off x="6263640" y="1901952"/>
            <a:ext cx="2377440" cy="292608"/>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Medium Term</a:t>
            </a:r>
            <a:endParaRPr lang="en-US" sz="1500" dirty="0"/>
          </a:p>
        </p:txBody>
      </p:sp>
      <p:sp>
        <p:nvSpPr>
          <p:cNvPr id="31" name="Text 29"/>
          <p:cNvSpPr/>
          <p:nvPr/>
        </p:nvSpPr>
        <p:spPr>
          <a:xfrm>
            <a:off x="6263640" y="2514600"/>
            <a:ext cx="2377440" cy="274320"/>
          </a:xfrm>
          <a:prstGeom prst="rect">
            <a:avLst/>
          </a:prstGeom>
          <a:noFill/>
          <a:ln/>
        </p:spPr>
        <p:txBody>
          <a:bodyPr wrap="square" rtlCol="0" anchor="ctr"/>
          <a:lstStyle/>
          <a:p>
            <a:pPr indent="0" marL="0">
              <a:buNone/>
            </a:pPr>
            <a:r>
              <a:rPr lang="en-US" sz="1000" b="1" dirty="0">
                <a:solidFill>
                  <a:srgbClr val="1D9E75"/>
                </a:solidFill>
                <a:latin typeface="Calibri" pitchFamily="34" charset="0"/>
                <a:ea typeface="Calibri" pitchFamily="34" charset="-122"/>
                <a:cs typeface="Calibri" pitchFamily="34" charset="-120"/>
              </a:rPr>
              <a:t>3–6 months</a:t>
            </a:r>
            <a:endParaRPr lang="en-US" sz="1000" dirty="0"/>
          </a:p>
        </p:txBody>
      </p:sp>
      <p:sp>
        <p:nvSpPr>
          <p:cNvPr id="32" name="Shape 30"/>
          <p:cNvSpPr/>
          <p:nvPr/>
        </p:nvSpPr>
        <p:spPr>
          <a:xfrm>
            <a:off x="6291072" y="2935224"/>
            <a:ext cx="73152" cy="73152"/>
          </a:xfrm>
          <a:prstGeom prst="ellipse">
            <a:avLst/>
          </a:prstGeom>
          <a:solidFill>
            <a:srgbClr val="1D9E75"/>
          </a:solidFill>
          <a:ln/>
        </p:spPr>
      </p:sp>
      <p:sp>
        <p:nvSpPr>
          <p:cNvPr id="33" name="Text 31"/>
          <p:cNvSpPr/>
          <p:nvPr/>
        </p:nvSpPr>
        <p:spPr>
          <a:xfrm>
            <a:off x="6446520" y="283464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Develop demand forecasting capability</a:t>
            </a:r>
            <a:endParaRPr lang="en-US" sz="900" dirty="0"/>
          </a:p>
        </p:txBody>
      </p:sp>
      <p:sp>
        <p:nvSpPr>
          <p:cNvPr id="34" name="Shape 32"/>
          <p:cNvSpPr/>
          <p:nvPr/>
        </p:nvSpPr>
        <p:spPr>
          <a:xfrm>
            <a:off x="6291072" y="3712464"/>
            <a:ext cx="73152" cy="73152"/>
          </a:xfrm>
          <a:prstGeom prst="ellipse">
            <a:avLst/>
          </a:prstGeom>
          <a:solidFill>
            <a:srgbClr val="1D9E75"/>
          </a:solidFill>
          <a:ln/>
        </p:spPr>
      </p:sp>
      <p:sp>
        <p:nvSpPr>
          <p:cNvPr id="35" name="Text 33"/>
          <p:cNvSpPr/>
          <p:nvPr/>
        </p:nvSpPr>
        <p:spPr>
          <a:xfrm>
            <a:off x="6446520" y="361188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Improve price elasticity modelling with richer data</a:t>
            </a:r>
            <a:endParaRPr lang="en-US" sz="900" dirty="0"/>
          </a:p>
        </p:txBody>
      </p:sp>
      <p:sp>
        <p:nvSpPr>
          <p:cNvPr id="36" name="Shape 34"/>
          <p:cNvSpPr/>
          <p:nvPr/>
        </p:nvSpPr>
        <p:spPr>
          <a:xfrm>
            <a:off x="6291072" y="4489704"/>
            <a:ext cx="73152" cy="73152"/>
          </a:xfrm>
          <a:prstGeom prst="ellipse">
            <a:avLst/>
          </a:prstGeom>
          <a:solidFill>
            <a:srgbClr val="1D9E75"/>
          </a:solidFill>
          <a:ln/>
        </p:spPr>
      </p:sp>
      <p:sp>
        <p:nvSpPr>
          <p:cNvPr id="37" name="Text 35"/>
          <p:cNvSpPr/>
          <p:nvPr/>
        </p:nvSpPr>
        <p:spPr>
          <a:xfrm>
            <a:off x="6446520" y="438912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Introduce promotion optimisation</a:t>
            </a:r>
            <a:endParaRPr lang="en-US" sz="900" dirty="0"/>
          </a:p>
        </p:txBody>
      </p:sp>
      <p:sp>
        <p:nvSpPr>
          <p:cNvPr id="38" name="Shape 36"/>
          <p:cNvSpPr/>
          <p:nvPr/>
        </p:nvSpPr>
        <p:spPr>
          <a:xfrm>
            <a:off x="8915400" y="1600200"/>
            <a:ext cx="2651760" cy="4297680"/>
          </a:xfrm>
          <a:prstGeom prst="roundRect">
            <a:avLst>
              <a:gd name="adj" fmla="val 2414"/>
            </a:avLst>
          </a:prstGeom>
          <a:solidFill>
            <a:srgbClr val="F5F6F8"/>
          </a:solidFill>
          <a:ln/>
        </p:spPr>
      </p:sp>
      <p:sp>
        <p:nvSpPr>
          <p:cNvPr id="39" name="Shape 37"/>
          <p:cNvSpPr/>
          <p:nvPr/>
        </p:nvSpPr>
        <p:spPr>
          <a:xfrm>
            <a:off x="8915400" y="1600200"/>
            <a:ext cx="2651760" cy="777240"/>
          </a:xfrm>
          <a:prstGeom prst="rect">
            <a:avLst/>
          </a:prstGeom>
          <a:solidFill>
            <a:srgbClr val="B8933E"/>
          </a:solidFill>
          <a:ln/>
        </p:spPr>
      </p:sp>
      <p:sp>
        <p:nvSpPr>
          <p:cNvPr id="40" name="Text 38"/>
          <p:cNvSpPr/>
          <p:nvPr/>
        </p:nvSpPr>
        <p:spPr>
          <a:xfrm>
            <a:off x="9052560" y="1664208"/>
            <a:ext cx="2377440" cy="274320"/>
          </a:xfrm>
          <a:prstGeom prst="rect">
            <a:avLst/>
          </a:prstGeom>
          <a:noFill/>
          <a:ln/>
        </p:spPr>
        <p:txBody>
          <a:bodyPr wrap="square" rtlCol="0" anchor="ctr"/>
          <a:lstStyle/>
          <a:p>
            <a:pPr indent="0" marL="0">
              <a:buNone/>
            </a:pPr>
            <a:r>
              <a:rPr lang="en-US" sz="1000" b="1" spc="50" kern="0" dirty="0">
                <a:solidFill>
                  <a:srgbClr val="0A1A30"/>
                </a:solidFill>
                <a:latin typeface="Calibri" pitchFamily="34" charset="0"/>
                <a:ea typeface="Calibri" pitchFamily="34" charset="-122"/>
                <a:cs typeface="Calibri" pitchFamily="34" charset="-120"/>
              </a:rPr>
              <a:t>Phase 4</a:t>
            </a:r>
            <a:endParaRPr lang="en-US" sz="1000" dirty="0"/>
          </a:p>
        </p:txBody>
      </p:sp>
      <p:sp>
        <p:nvSpPr>
          <p:cNvPr id="41" name="Text 39"/>
          <p:cNvSpPr/>
          <p:nvPr/>
        </p:nvSpPr>
        <p:spPr>
          <a:xfrm>
            <a:off x="9052560" y="1901952"/>
            <a:ext cx="2377440" cy="292608"/>
          </a:xfrm>
          <a:prstGeom prst="rect">
            <a:avLst/>
          </a:prstGeom>
          <a:noFill/>
          <a:ln/>
        </p:spPr>
        <p:txBody>
          <a:bodyPr wrap="square" rtlCol="0" anchor="ctr"/>
          <a:lstStyle/>
          <a:p>
            <a:pPr indent="0" marL="0">
              <a:buNone/>
            </a:pPr>
            <a:r>
              <a:rPr lang="en-US" sz="1500" b="1" dirty="0">
                <a:solidFill>
                  <a:srgbClr val="0A1A30"/>
                </a:solidFill>
                <a:latin typeface="Georgia" pitchFamily="34" charset="0"/>
                <a:ea typeface="Georgia" pitchFamily="34" charset="-122"/>
                <a:cs typeface="Georgia" pitchFamily="34" charset="-120"/>
              </a:rPr>
              <a:t>Strategic</a:t>
            </a:r>
            <a:endParaRPr lang="en-US" sz="1500" dirty="0"/>
          </a:p>
        </p:txBody>
      </p:sp>
      <p:sp>
        <p:nvSpPr>
          <p:cNvPr id="42" name="Text 40"/>
          <p:cNvSpPr/>
          <p:nvPr/>
        </p:nvSpPr>
        <p:spPr>
          <a:xfrm>
            <a:off x="9052560" y="2514600"/>
            <a:ext cx="2377440" cy="274320"/>
          </a:xfrm>
          <a:prstGeom prst="rect">
            <a:avLst/>
          </a:prstGeom>
          <a:noFill/>
          <a:ln/>
        </p:spPr>
        <p:txBody>
          <a:bodyPr wrap="square" rtlCol="0" anchor="ctr"/>
          <a:lstStyle/>
          <a:p>
            <a:pPr indent="0" marL="0">
              <a:buNone/>
            </a:pPr>
            <a:r>
              <a:rPr lang="en-US" sz="1000" b="1" dirty="0">
                <a:solidFill>
                  <a:srgbClr val="B8933E"/>
                </a:solidFill>
                <a:latin typeface="Calibri" pitchFamily="34" charset="0"/>
                <a:ea typeface="Calibri" pitchFamily="34" charset="-122"/>
                <a:cs typeface="Calibri" pitchFamily="34" charset="-120"/>
              </a:rPr>
              <a:t>6–12 months</a:t>
            </a:r>
            <a:endParaRPr lang="en-US" sz="1000" dirty="0"/>
          </a:p>
        </p:txBody>
      </p:sp>
      <p:sp>
        <p:nvSpPr>
          <p:cNvPr id="43" name="Shape 41"/>
          <p:cNvSpPr/>
          <p:nvPr/>
        </p:nvSpPr>
        <p:spPr>
          <a:xfrm>
            <a:off x="9079992" y="2935224"/>
            <a:ext cx="73152" cy="73152"/>
          </a:xfrm>
          <a:prstGeom prst="ellipse">
            <a:avLst/>
          </a:prstGeom>
          <a:solidFill>
            <a:srgbClr val="B8933E"/>
          </a:solidFill>
          <a:ln/>
        </p:spPr>
      </p:sp>
      <p:sp>
        <p:nvSpPr>
          <p:cNvPr id="44" name="Text 42"/>
          <p:cNvSpPr/>
          <p:nvPr/>
        </p:nvSpPr>
        <p:spPr>
          <a:xfrm>
            <a:off x="9235440" y="283464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Develop an agentic business intelligence capability</a:t>
            </a:r>
            <a:endParaRPr lang="en-US" sz="900" dirty="0"/>
          </a:p>
        </p:txBody>
      </p:sp>
      <p:sp>
        <p:nvSpPr>
          <p:cNvPr id="45" name="Shape 43"/>
          <p:cNvSpPr/>
          <p:nvPr/>
        </p:nvSpPr>
        <p:spPr>
          <a:xfrm>
            <a:off x="9079992" y="3712464"/>
            <a:ext cx="73152" cy="73152"/>
          </a:xfrm>
          <a:prstGeom prst="ellipse">
            <a:avLst/>
          </a:prstGeom>
          <a:solidFill>
            <a:srgbClr val="B8933E"/>
          </a:solidFill>
          <a:ln/>
        </p:spPr>
      </p:sp>
      <p:sp>
        <p:nvSpPr>
          <p:cNvPr id="46" name="Text 44"/>
          <p:cNvSpPr/>
          <p:nvPr/>
        </p:nvSpPr>
        <p:spPr>
          <a:xfrm>
            <a:off x="9235440" y="361188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Enable automated performance alerts</a:t>
            </a:r>
            <a:endParaRPr lang="en-US" sz="900" dirty="0"/>
          </a:p>
        </p:txBody>
      </p:sp>
      <p:sp>
        <p:nvSpPr>
          <p:cNvPr id="47" name="Shape 45"/>
          <p:cNvSpPr/>
          <p:nvPr/>
        </p:nvSpPr>
        <p:spPr>
          <a:xfrm>
            <a:off x="9079992" y="4489704"/>
            <a:ext cx="73152" cy="73152"/>
          </a:xfrm>
          <a:prstGeom prst="ellipse">
            <a:avLst/>
          </a:prstGeom>
          <a:solidFill>
            <a:srgbClr val="B8933E"/>
          </a:solidFill>
          <a:ln/>
        </p:spPr>
      </p:sp>
      <p:sp>
        <p:nvSpPr>
          <p:cNvPr id="48" name="Text 46"/>
          <p:cNvSpPr/>
          <p:nvPr/>
        </p:nvSpPr>
        <p:spPr>
          <a:xfrm>
            <a:off x="9235440" y="4389120"/>
            <a:ext cx="2194560" cy="685800"/>
          </a:xfrm>
          <a:prstGeom prst="rect">
            <a:avLst/>
          </a:prstGeom>
          <a:noFill/>
          <a:ln/>
        </p:spPr>
        <p:txBody>
          <a:bodyPr wrap="square" rtlCol="0" anchor="ctr"/>
          <a:lstStyle/>
          <a:p>
            <a:pPr indent="0" marL="0">
              <a:lnSpc>
                <a:spcPct val="118000"/>
              </a:lnSpc>
              <a:buNone/>
            </a:pPr>
            <a:r>
              <a:rPr lang="en-US" sz="900" dirty="0">
                <a:solidFill>
                  <a:srgbClr val="1C1F24"/>
                </a:solidFill>
                <a:latin typeface="Calibri" pitchFamily="34" charset="0"/>
                <a:ea typeface="Calibri" pitchFamily="34" charset="-122"/>
                <a:cs typeface="Calibri" pitchFamily="34" charset="-120"/>
              </a:rPr>
              <a:t>Support recommended commercial actions in real time</a:t>
            </a:r>
            <a:endParaRPr lang="en-US" sz="900" dirty="0"/>
          </a:p>
        </p:txBody>
      </p:sp>
      <p:sp>
        <p:nvSpPr>
          <p:cNvPr id="49" name="Shape 47"/>
          <p:cNvSpPr/>
          <p:nvPr/>
        </p:nvSpPr>
        <p:spPr>
          <a:xfrm>
            <a:off x="457200" y="6419088"/>
            <a:ext cx="11274552" cy="0"/>
          </a:xfrm>
          <a:prstGeom prst="line">
            <a:avLst/>
          </a:prstGeom>
          <a:noFill/>
          <a:ln w="9525">
            <a:solidFill>
              <a:srgbClr val="E3E5E9"/>
            </a:solidFill>
            <a:prstDash val="solid"/>
          </a:ln>
        </p:spPr>
      </p:sp>
      <p:sp>
        <p:nvSpPr>
          <p:cNvPr id="50" name="Text 48"/>
          <p:cNvSpPr/>
          <p:nvPr/>
        </p:nvSpPr>
        <p:spPr>
          <a:xfrm>
            <a:off x="457200" y="6473952"/>
            <a:ext cx="8229600" cy="274320"/>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Sterling Data Group  |  Prepared for First National Bank  |  Confidential</a:t>
            </a:r>
            <a:endParaRPr lang="en-US" sz="850" dirty="0"/>
          </a:p>
        </p:txBody>
      </p:sp>
      <p:sp>
        <p:nvSpPr>
          <p:cNvPr id="51" name="Text 49"/>
          <p:cNvSpPr/>
          <p:nvPr/>
        </p:nvSpPr>
        <p:spPr>
          <a:xfrm>
            <a:off x="11247120" y="6473952"/>
            <a:ext cx="457200" cy="27432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15 / 16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A30"/>
        </a:solidFill>
      </p:bgPr>
    </p:bg>
    <p:spTree>
      <p:nvGrpSpPr>
        <p:cNvPr id="1" name=""/>
        <p:cNvGrpSpPr/>
        <p:nvPr/>
      </p:nvGrpSpPr>
      <p:grpSpPr>
        <a:xfrm>
          <a:off x="0" y="0"/>
          <a:ext cx="0" cy="0"/>
          <a:chOff x="0" y="0"/>
          <a:chExt cx="0" cy="0"/>
        </a:xfrm>
      </p:grpSpPr>
      <p:sp>
        <p:nvSpPr>
          <p:cNvPr id="2" name="Shape 0"/>
          <p:cNvSpPr/>
          <p:nvPr/>
        </p:nvSpPr>
        <p:spPr>
          <a:xfrm>
            <a:off x="640080" y="1234440"/>
            <a:ext cx="1005840" cy="0"/>
          </a:xfrm>
          <a:prstGeom prst="line">
            <a:avLst/>
          </a:prstGeom>
          <a:noFill/>
          <a:ln w="25400">
            <a:solidFill>
              <a:srgbClr val="B8933E"/>
            </a:solidFill>
            <a:prstDash val="solid"/>
          </a:ln>
        </p:spPr>
      </p:sp>
      <p:sp>
        <p:nvSpPr>
          <p:cNvPr id="3" name="Text 1"/>
          <p:cNvSpPr/>
          <p:nvPr/>
        </p:nvSpPr>
        <p:spPr>
          <a:xfrm>
            <a:off x="640080" y="548640"/>
            <a:ext cx="5486400" cy="320040"/>
          </a:xfrm>
          <a:prstGeom prst="rect">
            <a:avLst/>
          </a:prstGeom>
          <a:noFill/>
          <a:ln/>
        </p:spPr>
        <p:txBody>
          <a:bodyPr wrap="square" rtlCol="0" anchor="ctr"/>
          <a:lstStyle/>
          <a:p>
            <a:pPr indent="0" marL="0">
              <a:buNone/>
            </a:pPr>
            <a:r>
              <a:rPr lang="en-US" sz="1200" b="1" spc="150" kern="0" dirty="0">
                <a:solidFill>
                  <a:srgbClr val="1D9E75"/>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640080" y="1417320"/>
            <a:ext cx="9144000" cy="1280160"/>
          </a:xfrm>
          <a:prstGeom prst="rect">
            <a:avLst/>
          </a:prstGeom>
          <a:noFill/>
          <a:ln/>
        </p:spPr>
        <p:txBody>
          <a:bodyPr wrap="square" rtlCol="0" anchor="ctr"/>
          <a:lstStyle/>
          <a:p>
            <a:pPr indent="0" marL="0">
              <a:lnSpc>
                <a:spcPct val="110000"/>
              </a:lnSpc>
              <a:buNone/>
            </a:pPr>
            <a:r>
              <a:rPr lang="en-US" sz="2800" b="1" dirty="0">
                <a:solidFill>
                  <a:srgbClr val="FFFFFF"/>
                </a:solidFill>
                <a:latin typeface="Georgia" pitchFamily="34" charset="0"/>
                <a:ea typeface="Georgia" pitchFamily="34" charset="-122"/>
                <a:cs typeface="Georgia" pitchFamily="34" charset="-120"/>
              </a:rPr>
              <a:t>From Historical Analysis to</a:t>
            </a:r>
            <a:endParaRPr lang="en-US" sz="2800" dirty="0"/>
          </a:p>
          <a:p>
            <a:pPr indent="0" marL="0">
              <a:lnSpc>
                <a:spcPct val="110000"/>
              </a:lnSpc>
              <a:buNone/>
            </a:pPr>
            <a:r>
              <a:rPr lang="en-US" sz="2800" b="1" dirty="0">
                <a:solidFill>
                  <a:srgbClr val="FFFFFF"/>
                </a:solidFill>
                <a:latin typeface="Georgia" pitchFamily="34" charset="0"/>
                <a:ea typeface="Georgia" pitchFamily="34" charset="-122"/>
                <a:cs typeface="Georgia" pitchFamily="34" charset="-120"/>
              </a:rPr>
              <a:t>Profitable, Data-Driven Growth</a:t>
            </a:r>
            <a:endParaRPr lang="en-US" sz="2800" dirty="0"/>
          </a:p>
        </p:txBody>
      </p:sp>
      <p:sp>
        <p:nvSpPr>
          <p:cNvPr id="5" name="Text 3"/>
          <p:cNvSpPr/>
          <p:nvPr/>
        </p:nvSpPr>
        <p:spPr>
          <a:xfrm>
            <a:off x="640080" y="2880360"/>
            <a:ext cx="3291840" cy="640080"/>
          </a:xfrm>
          <a:prstGeom prst="rect">
            <a:avLst/>
          </a:prstGeom>
          <a:noFill/>
          <a:ln/>
        </p:spPr>
        <p:txBody>
          <a:bodyPr wrap="square" rtlCol="0" anchor="t"/>
          <a:lstStyle/>
          <a:p>
            <a:pPr indent="0" marL="0">
              <a:buNone/>
            </a:pPr>
            <a:r>
              <a:rPr lang="en-US" sz="1150" b="1" dirty="0">
                <a:solidFill>
                  <a:srgbClr val="B8933E"/>
                </a:solidFill>
                <a:latin typeface="Calibri" pitchFamily="34" charset="0"/>
                <a:ea typeface="Calibri" pitchFamily="34" charset="-122"/>
                <a:cs typeface="Calibri" pitchFamily="34" charset="-120"/>
              </a:rPr>
              <a:t>What the analysis revealed</a:t>
            </a:r>
            <a:endParaRPr lang="en-US" sz="1150" dirty="0"/>
          </a:p>
        </p:txBody>
      </p:sp>
      <p:sp>
        <p:nvSpPr>
          <p:cNvPr id="6" name="Text 4"/>
          <p:cNvSpPr/>
          <p:nvPr/>
        </p:nvSpPr>
        <p:spPr>
          <a:xfrm>
            <a:off x="4023360" y="2880360"/>
            <a:ext cx="7498080" cy="685800"/>
          </a:xfrm>
          <a:prstGeom prst="rect">
            <a:avLst/>
          </a:prstGeom>
          <a:noFill/>
          <a:ln/>
        </p:spPr>
        <p:txBody>
          <a:bodyPr wrap="square" rtlCol="0" anchor="t"/>
          <a:lstStyle/>
          <a:p>
            <a:pPr indent="0" marL="0">
              <a:lnSpc>
                <a:spcPct val="120000"/>
              </a:lnSpc>
              <a:buNone/>
            </a:pPr>
            <a:r>
              <a:rPr lang="en-US" sz="1100" dirty="0">
                <a:solidFill>
                  <a:srgbClr val="D6DCE6"/>
                </a:solidFill>
                <a:latin typeface="Calibri" pitchFamily="34" charset="0"/>
                <a:ea typeface="Calibri" pitchFamily="34" charset="-122"/>
                <a:cs typeface="Calibri" pitchFamily="34" charset="-120"/>
              </a:rPr>
              <a:t>Three years of daily data show revenue and gross profit margin repeatedly moving in opposite directions — at the yearly, quarterly, monthly, and promotional level.</a:t>
            </a:r>
            <a:endParaRPr lang="en-US" sz="1100" dirty="0"/>
          </a:p>
        </p:txBody>
      </p:sp>
      <p:sp>
        <p:nvSpPr>
          <p:cNvPr id="7" name="Text 5"/>
          <p:cNvSpPr/>
          <p:nvPr/>
        </p:nvSpPr>
        <p:spPr>
          <a:xfrm>
            <a:off x="640080" y="3657600"/>
            <a:ext cx="3291840" cy="640080"/>
          </a:xfrm>
          <a:prstGeom prst="rect">
            <a:avLst/>
          </a:prstGeom>
          <a:noFill/>
          <a:ln/>
        </p:spPr>
        <p:txBody>
          <a:bodyPr wrap="square" rtlCol="0" anchor="t"/>
          <a:lstStyle/>
          <a:p>
            <a:pPr indent="0" marL="0">
              <a:buNone/>
            </a:pPr>
            <a:r>
              <a:rPr lang="en-US" sz="1150" b="1" dirty="0">
                <a:solidFill>
                  <a:srgbClr val="B8933E"/>
                </a:solidFill>
                <a:latin typeface="Calibri" pitchFamily="34" charset="0"/>
                <a:ea typeface="Calibri" pitchFamily="34" charset="-122"/>
                <a:cs typeface="Calibri" pitchFamily="34" charset="-120"/>
              </a:rPr>
              <a:t>The most important insight</a:t>
            </a:r>
            <a:endParaRPr lang="en-US" sz="1150" dirty="0"/>
          </a:p>
        </p:txBody>
      </p:sp>
      <p:sp>
        <p:nvSpPr>
          <p:cNvPr id="8" name="Text 6"/>
          <p:cNvSpPr/>
          <p:nvPr/>
        </p:nvSpPr>
        <p:spPr>
          <a:xfrm>
            <a:off x="4023360" y="3657600"/>
            <a:ext cx="7498080" cy="685800"/>
          </a:xfrm>
          <a:prstGeom prst="rect">
            <a:avLst/>
          </a:prstGeom>
          <a:noFill/>
          <a:ln/>
        </p:spPr>
        <p:txBody>
          <a:bodyPr wrap="square" rtlCol="0" anchor="t"/>
          <a:lstStyle/>
          <a:p>
            <a:pPr indent="0" marL="0">
              <a:lnSpc>
                <a:spcPct val="120000"/>
              </a:lnSpc>
              <a:buNone/>
            </a:pPr>
            <a:r>
              <a:rPr lang="en-US" sz="1100" dirty="0">
                <a:solidFill>
                  <a:srgbClr val="D6DCE6"/>
                </a:solidFill>
                <a:latin typeface="Calibri" pitchFamily="34" charset="0"/>
                <a:ea typeface="Calibri" pitchFamily="34" charset="-122"/>
                <a:cs typeface="Calibri" pitchFamily="34" charset="-120"/>
              </a:rPr>
              <a:t>Demand is genuinely price-sensitive (r = -0.63), and every detected promotion sold at a loss regardless of how strongly volume responded — elasticity alone has not meant profitability.</a:t>
            </a:r>
            <a:endParaRPr lang="en-US" sz="1100" dirty="0"/>
          </a:p>
        </p:txBody>
      </p:sp>
      <p:sp>
        <p:nvSpPr>
          <p:cNvPr id="9" name="Text 7"/>
          <p:cNvSpPr/>
          <p:nvPr/>
        </p:nvSpPr>
        <p:spPr>
          <a:xfrm>
            <a:off x="640080" y="4434840"/>
            <a:ext cx="3291840" cy="640080"/>
          </a:xfrm>
          <a:prstGeom prst="rect">
            <a:avLst/>
          </a:prstGeom>
          <a:noFill/>
          <a:ln/>
        </p:spPr>
        <p:txBody>
          <a:bodyPr wrap="square" rtlCol="0" anchor="t"/>
          <a:lstStyle/>
          <a:p>
            <a:pPr indent="0" marL="0">
              <a:buNone/>
            </a:pPr>
            <a:r>
              <a:rPr lang="en-US" sz="1150" b="1" dirty="0">
                <a:solidFill>
                  <a:srgbClr val="B8933E"/>
                </a:solidFill>
                <a:latin typeface="Calibri" pitchFamily="34" charset="0"/>
                <a:ea typeface="Calibri" pitchFamily="34" charset="-122"/>
                <a:cs typeface="Calibri" pitchFamily="34" charset="-120"/>
              </a:rPr>
              <a:t>The highest-priority action</a:t>
            </a:r>
            <a:endParaRPr lang="en-US" sz="1150" dirty="0"/>
          </a:p>
        </p:txBody>
      </p:sp>
      <p:sp>
        <p:nvSpPr>
          <p:cNvPr id="10" name="Text 8"/>
          <p:cNvSpPr/>
          <p:nvPr/>
        </p:nvSpPr>
        <p:spPr>
          <a:xfrm>
            <a:off x="4023360" y="4434840"/>
            <a:ext cx="7498080" cy="685800"/>
          </a:xfrm>
          <a:prstGeom prst="rect">
            <a:avLst/>
          </a:prstGeom>
          <a:noFill/>
          <a:ln/>
        </p:spPr>
        <p:txBody>
          <a:bodyPr wrap="square" rtlCol="0" anchor="t"/>
          <a:lstStyle/>
          <a:p>
            <a:pPr indent="0" marL="0">
              <a:lnSpc>
                <a:spcPct val="120000"/>
              </a:lnSpc>
              <a:buNone/>
            </a:pPr>
            <a:r>
              <a:rPr lang="en-US" sz="1100" dirty="0">
                <a:solidFill>
                  <a:srgbClr val="D6DCE6"/>
                </a:solidFill>
                <a:latin typeface="Calibri" pitchFamily="34" charset="0"/>
                <a:ea typeface="Calibri" pitchFamily="34" charset="-122"/>
                <a:cs typeface="Calibri" pitchFamily="34" charset="-120"/>
              </a:rPr>
              <a:t>Protect the pricing gains of mid-to-late 2016 and re-scope promotions around margin thresholds rather than volume alone.</a:t>
            </a:r>
            <a:endParaRPr lang="en-US" sz="1100" dirty="0"/>
          </a:p>
        </p:txBody>
      </p:sp>
      <p:sp>
        <p:nvSpPr>
          <p:cNvPr id="11" name="Text 9"/>
          <p:cNvSpPr/>
          <p:nvPr/>
        </p:nvSpPr>
        <p:spPr>
          <a:xfrm>
            <a:off x="640080" y="5212080"/>
            <a:ext cx="3291840" cy="640080"/>
          </a:xfrm>
          <a:prstGeom prst="rect">
            <a:avLst/>
          </a:prstGeom>
          <a:noFill/>
          <a:ln/>
        </p:spPr>
        <p:txBody>
          <a:bodyPr wrap="square" rtlCol="0" anchor="t"/>
          <a:lstStyle/>
          <a:p>
            <a:pPr indent="0" marL="0">
              <a:buNone/>
            </a:pPr>
            <a:r>
              <a:rPr lang="en-US" sz="1150" b="1" dirty="0">
                <a:solidFill>
                  <a:srgbClr val="B8933E"/>
                </a:solidFill>
                <a:latin typeface="Calibri" pitchFamily="34" charset="0"/>
                <a:ea typeface="Calibri" pitchFamily="34" charset="-122"/>
                <a:cs typeface="Calibri" pitchFamily="34" charset="-120"/>
              </a:rPr>
              <a:t>How Sterling Data Group can help</a:t>
            </a:r>
            <a:endParaRPr lang="en-US" sz="1150" dirty="0"/>
          </a:p>
        </p:txBody>
      </p:sp>
      <p:sp>
        <p:nvSpPr>
          <p:cNvPr id="12" name="Text 10"/>
          <p:cNvSpPr/>
          <p:nvPr/>
        </p:nvSpPr>
        <p:spPr>
          <a:xfrm>
            <a:off x="4023360" y="5212080"/>
            <a:ext cx="7498080" cy="685800"/>
          </a:xfrm>
          <a:prstGeom prst="rect">
            <a:avLst/>
          </a:prstGeom>
          <a:noFill/>
          <a:ln/>
        </p:spPr>
        <p:txBody>
          <a:bodyPr wrap="square" rtlCol="0" anchor="t"/>
          <a:lstStyle/>
          <a:p>
            <a:pPr indent="0" marL="0">
              <a:lnSpc>
                <a:spcPct val="120000"/>
              </a:lnSpc>
              <a:buNone/>
            </a:pPr>
            <a:r>
              <a:rPr lang="en-US" sz="1100" dirty="0">
                <a:solidFill>
                  <a:srgbClr val="D6DCE6"/>
                </a:solidFill>
                <a:latin typeface="Calibri" pitchFamily="34" charset="0"/>
                <a:ea typeface="Calibri" pitchFamily="34" charset="-122"/>
                <a:cs typeface="Calibri" pitchFamily="34" charset="-120"/>
              </a:rPr>
              <a:t>From validating these findings against FNB's campaign records, through to building the automated pricing and profitability dashboard proposed in the roadmap.</a:t>
            </a:r>
            <a:endParaRPr lang="en-US" sz="1100" dirty="0"/>
          </a:p>
        </p:txBody>
      </p:sp>
      <p:sp>
        <p:nvSpPr>
          <p:cNvPr id="13" name="Shape 11"/>
          <p:cNvSpPr/>
          <p:nvPr/>
        </p:nvSpPr>
        <p:spPr>
          <a:xfrm>
            <a:off x="640080" y="6172200"/>
            <a:ext cx="10881360" cy="0"/>
          </a:xfrm>
          <a:prstGeom prst="line">
            <a:avLst/>
          </a:prstGeom>
          <a:noFill/>
          <a:ln w="12700">
            <a:solidFill>
              <a:srgbClr val="1D3A5F"/>
            </a:solidFill>
            <a:prstDash val="solid"/>
          </a:ln>
        </p:spPr>
      </p:sp>
      <p:sp>
        <p:nvSpPr>
          <p:cNvPr id="14" name="Text 12"/>
          <p:cNvSpPr/>
          <p:nvPr/>
        </p:nvSpPr>
        <p:spPr>
          <a:xfrm>
            <a:off x="640080" y="6263640"/>
            <a:ext cx="5486400" cy="3200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Sterling Data Group</a:t>
            </a:r>
            <a:endParaRPr lang="en-US" sz="1500" dirty="0"/>
          </a:p>
        </p:txBody>
      </p:sp>
      <p:sp>
        <p:nvSpPr>
          <p:cNvPr id="15" name="Text 13"/>
          <p:cNvSpPr/>
          <p:nvPr/>
        </p:nvSpPr>
        <p:spPr>
          <a:xfrm>
            <a:off x="640080" y="6537960"/>
            <a:ext cx="7315200" cy="274320"/>
          </a:xfrm>
          <a:prstGeom prst="rect">
            <a:avLst/>
          </a:prstGeom>
          <a:noFill/>
          <a:ln/>
        </p:spPr>
        <p:txBody>
          <a:bodyPr wrap="square" rtlCol="0" anchor="ctr"/>
          <a:lstStyle/>
          <a:p>
            <a:pPr indent="0" marL="0">
              <a:buNone/>
            </a:pPr>
            <a:r>
              <a:rPr lang="en-US" sz="1050" i="1" dirty="0">
                <a:solidFill>
                  <a:srgbClr val="B8933E"/>
                </a:solidFill>
                <a:latin typeface="Calibri" pitchFamily="34" charset="0"/>
                <a:ea typeface="Calibri" pitchFamily="34" charset="-122"/>
                <a:cs typeface="Calibri" pitchFamily="34" charset="-120"/>
              </a:rPr>
              <a:t>Turning Data into Measurable Business Value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2026-07-30T20:21:20Z</dcterms:created>
  <dcterms:modified xsi:type="dcterms:W3CDTF">2026-07-30T20:21:20Z</dcterms:modified>
</cp:coreProperties>
</file>